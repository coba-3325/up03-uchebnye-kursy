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94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BE7325-DDAB-DE65-874B-03EF5DC46C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147867F-3AA7-1589-26C4-246B79F72A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01ECDA0-09C1-C317-89CB-081EA3E8E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47AD5-A860-4F74-86B1-0034733D12B0}" type="datetimeFigureOut">
              <a:rPr lang="ru-RU" smtClean="0"/>
              <a:t>21.10.2026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60B8203-7EFE-8215-5141-12B284AC9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557A8E2-E821-B079-EDD6-3BBBD6189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9743-DED8-4E9C-BD89-EA992B2992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56829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F3B003-38AB-616E-C820-F363AA65A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4771D02-9A8F-44F5-F514-2294B4AB11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E5EB716-DA22-AC92-EAB2-CC29FF560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47AD5-A860-4F74-86B1-0034733D12B0}" type="datetimeFigureOut">
              <a:rPr lang="ru-RU" smtClean="0"/>
              <a:t>21.10.2026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8BEA53A-90AE-828C-2816-D5CE50460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71D400F-1E5E-CABA-093C-0A6003087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9743-DED8-4E9C-BD89-EA992B2992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3893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2AAE64-2264-0F5D-6EA9-F36EE75B2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B8EEE28-936F-B786-0B92-F723AE3BCA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649DAAA-A33F-B997-AAA0-47FC9F25B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47AD5-A860-4F74-86B1-0034733D12B0}" type="datetimeFigureOut">
              <a:rPr lang="ru-RU" smtClean="0"/>
              <a:t>21.10.2026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41408AC-C8FC-3670-8DF7-0E0F6F2A7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B580292-2524-299E-917A-4FF3CDED4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9743-DED8-4E9C-BD89-EA992B2992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7679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4CF0A3-035A-0F2F-8D4A-3548247A3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F7EA41E-1E7F-C0C3-9626-1F0188605B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350FA24-2401-95E9-C225-F7104507C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91B50D3-E316-CB2F-128F-14E54911C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47AD5-A860-4F74-86B1-0034733D12B0}" type="datetimeFigureOut">
              <a:rPr lang="ru-RU" smtClean="0"/>
              <a:t>21.10.2026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9B9D1A6-28B0-EE14-5730-FF1494C25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82BDE28-6DB7-1B04-AD0E-29FB0C302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9743-DED8-4E9C-BD89-EA992B2992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7191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B60EBB-EBC7-0D0B-98FA-A50881360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50CE4E-E80C-71E4-E18F-FE1DDD4E6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0989572-F283-EAA2-C5E9-DC23AAF84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8EE7B4B-EDAB-BD04-B5B0-E294629F27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C97E1A5-5414-8A66-FE02-12339B1B74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F2985F4B-6FFE-CC1B-8541-0A26F85A5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47AD5-A860-4F74-86B1-0034733D12B0}" type="datetimeFigureOut">
              <a:rPr lang="ru-RU" smtClean="0"/>
              <a:t>21.10.2026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F36477C-910E-1D9A-440E-05D93536D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328669F-AF11-088B-D1A9-F3AD66BAD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9743-DED8-4E9C-BD89-EA992B2992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86339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17C945-920D-813A-8135-3139D6221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D4FF71F-9A2A-98B1-89CE-64875BF8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47AD5-A860-4F74-86B1-0034733D12B0}" type="datetimeFigureOut">
              <a:rPr lang="ru-RU" smtClean="0"/>
              <a:t>21.10.2026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DFCCB03-9850-901A-AB15-73EC217A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31AC97D-FAD1-611D-7D9E-F35E002C5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9743-DED8-4E9C-BD89-EA992B2992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8829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D36D7B2-63B0-6E3B-49DD-A3D78850E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47AD5-A860-4F74-86B1-0034733D12B0}" type="datetimeFigureOut">
              <a:rPr lang="ru-RU" smtClean="0"/>
              <a:t>21.10.2026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CE10BBD-FFE7-3614-E133-C5261CBE6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4F81673-5ABC-2321-FC57-73EABB79E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9743-DED8-4E9C-BD89-EA992B2992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8436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13B0BF-A7FC-A544-74B7-E9648E58C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1FCABD1-745F-FBF1-AFD1-685BE03FF9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DFB6E9E-589B-6746-BD55-21782DD24F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77664C4-103C-3691-98C8-2C6CADCD1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47AD5-A860-4F74-86B1-0034733D12B0}" type="datetimeFigureOut">
              <a:rPr lang="ru-RU" smtClean="0"/>
              <a:t>21.10.2026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3109FB1-12DE-BD7E-E382-17C4654BE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2239CA3-159B-9E36-B5D1-071E81155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9743-DED8-4E9C-BD89-EA992B2992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32663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B783A7-E1EF-D25A-F748-4A2DF166A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B75E683-3761-6D1D-0727-EC3D1E512B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D7A4650-A5BA-C70E-02E6-1040318FC0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634C4A0-264A-6ADB-CB0B-86079E9EC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47AD5-A860-4F74-86B1-0034733D12B0}" type="datetimeFigureOut">
              <a:rPr lang="ru-RU" smtClean="0"/>
              <a:t>21.10.2026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0AF0235-26BF-52FC-C5D0-9653D0982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29166BC-0A4A-F0EC-F5E3-B3002D413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9743-DED8-4E9C-BD89-EA992B2992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449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800919-BEDF-80C1-ABBD-49049895A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00219FD-FEF2-C24F-0D25-4A7A0519C9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4D6CA79-6D3A-1FE2-30A0-EEC3236C1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47AD5-A860-4F74-86B1-0034733D12B0}" type="datetimeFigureOut">
              <a:rPr lang="ru-RU" smtClean="0"/>
              <a:t>21.10.2026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8D9B5D-3577-C09D-C606-C4EEEE446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E230C2-A15D-AAD6-1C2D-39E12F013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9743-DED8-4E9C-BD89-EA992B2992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17095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A477D64-7C5F-C557-DB67-932354D342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9D9405D-00E7-195C-6B2A-9C16B93624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4CCD867-E66C-8A06-BB9A-5A0EB0458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47AD5-A860-4F74-86B1-0034733D12B0}" type="datetimeFigureOut">
              <a:rPr lang="ru-RU" smtClean="0"/>
              <a:t>21.10.2026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0032D20-E4A5-0C3C-B1BA-345B5B219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0D54CD9-9C20-E737-AA83-0C1E9912F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9743-DED8-4E9C-BD89-EA992B2992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3163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C8AD4CD-731D-CBB1-E9C2-F59C87734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32B7CE7-9EBF-5396-B9AA-DA2BF95068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A03B0F9-F340-5E36-3F35-E0FDDA5198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447AD5-A860-4F74-86B1-0034733D12B0}" type="datetimeFigureOut">
              <a:rPr lang="ru-RU" smtClean="0"/>
              <a:t>21.10.2026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526F631-F5AE-B6E7-EEE8-3D26D48004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E98507B-0F96-CC7B-82C7-9947F9C936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9F9743-DED8-4E9C-BD89-EA992B2992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5137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DC73865-515B-15F7-63B2-10458427DF6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EF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95C27E7-CD7F-4CC9-852A-A7A0D114A471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ECE2BB2-5953-72D0-FAE9-DA94999E760E}"/>
              </a:ext>
            </a:extLst>
          </p:cNvPr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BD3D4E-7D4F-3DB6-428D-057627FCB9D4}"/>
              </a:ext>
            </a:extLst>
          </p:cNvPr>
          <p:cNvSpPr txBox="1"/>
          <p:nvPr/>
        </p:nvSpPr>
        <p:spPr>
          <a:xfrm>
            <a:off x="762000" y="5842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6B6472"/>
                </a:solidFill>
                <a:latin typeface="Times New Roman" panose="02020603050405020304" pitchFamily="18" charset="0"/>
              </a:rPr>
              <a:t>Государственное профессиональное образовательное учреждение Ярославской области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CF301B-5E4A-D2C3-6B4A-5E89C8321FD9}"/>
              </a:ext>
            </a:extLst>
          </p:cNvPr>
          <p:cNvSpPr txBox="1"/>
          <p:nvPr/>
        </p:nvSpPr>
        <p:spPr>
          <a:xfrm>
            <a:off x="762000" y="889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b="1">
                <a:solidFill>
                  <a:srgbClr val="2B2233"/>
                </a:solidFill>
                <a:latin typeface="Times New Roman" panose="02020603050405020304" pitchFamily="18" charset="0"/>
              </a:rPr>
              <a:t>«Ярославский градостроительный колледж»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2E4724-D950-BFE8-BFBB-0B1F9DBC4825}"/>
              </a:ext>
            </a:extLst>
          </p:cNvPr>
          <p:cNvSpPr txBox="1"/>
          <p:nvPr/>
        </p:nvSpPr>
        <p:spPr>
          <a:xfrm>
            <a:off x="762000" y="13208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6B6472"/>
                </a:solidFill>
                <a:latin typeface="Times New Roman" panose="02020603050405020304" pitchFamily="18" charset="0"/>
              </a:rPr>
              <a:t>МДК 06.03 «Устройство и функционирование информационной системы»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E9F525-5F5B-5313-6BB6-229243849DE5}"/>
              </a:ext>
            </a:extLst>
          </p:cNvPr>
          <p:cNvSpPr txBox="1"/>
          <p:nvPr/>
        </p:nvSpPr>
        <p:spPr>
          <a:xfrm>
            <a:off x="762000" y="1930400"/>
            <a:ext cx="10668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b="1">
                <a:solidFill>
                  <a:srgbClr val="5B4B6E"/>
                </a:solidFill>
                <a:latin typeface="Times New Roman" panose="02020603050405020304" pitchFamily="18" charset="0"/>
              </a:rPr>
              <a:t>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8D095D-E794-2911-CF25-758967BCDF73}"/>
              </a:ext>
            </a:extLst>
          </p:cNvPr>
          <p:cNvSpPr txBox="1"/>
          <p:nvPr/>
        </p:nvSpPr>
        <p:spPr>
          <a:xfrm>
            <a:off x="762000" y="23622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700" b="1">
                <a:solidFill>
                  <a:srgbClr val="2B2233"/>
                </a:solidFill>
                <a:latin typeface="Times New Roman" panose="02020603050405020304" pitchFamily="18" charset="0"/>
              </a:rPr>
              <a:t>Разработка информационной системы «Учебные курсы»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05444F-4E5A-A8F1-F3FB-8A1E55EAA587}"/>
              </a:ext>
            </a:extLst>
          </p:cNvPr>
          <p:cNvSpPr txBox="1"/>
          <p:nvPr/>
        </p:nvSpPr>
        <p:spPr>
          <a:xfrm>
            <a:off x="762000" y="2794000"/>
            <a:ext cx="10668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200">
                <a:solidFill>
                  <a:srgbClr val="2B2233"/>
                </a:solidFill>
                <a:latin typeface="Times New Roman" panose="02020603050405020304" pitchFamily="18" charset="0"/>
              </a:rPr>
              <a:t>для удалённого обучения школьников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39CF863-1029-D93A-AAE2-C58AA46FBC7C}"/>
              </a:ext>
            </a:extLst>
          </p:cNvPr>
          <p:cNvSpPr/>
          <p:nvPr/>
        </p:nvSpPr>
        <p:spPr>
          <a:xfrm>
            <a:off x="762000" y="3581400"/>
            <a:ext cx="10668000" cy="381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A82BD7-16DD-1AC6-3B1F-033FD8CB6B56}"/>
              </a:ext>
            </a:extLst>
          </p:cNvPr>
          <p:cNvSpPr txBox="1"/>
          <p:nvPr/>
        </p:nvSpPr>
        <p:spPr>
          <a:xfrm>
            <a:off x="762000" y="3937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6B6472"/>
                </a:solidFill>
                <a:latin typeface="Times New Roman" panose="02020603050405020304" pitchFamily="18" charset="0"/>
              </a:rPr>
              <a:t>Выполнил студент группы ИС1-45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86943B-6A56-B27F-0A3B-F541DC06AC14}"/>
              </a:ext>
            </a:extLst>
          </p:cNvPr>
          <p:cNvSpPr txBox="1"/>
          <p:nvPr/>
        </p:nvSpPr>
        <p:spPr>
          <a:xfrm>
            <a:off x="762000" y="4216400"/>
            <a:ext cx="508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200" b="1">
                <a:solidFill>
                  <a:srgbClr val="2B2233"/>
                </a:solidFill>
                <a:latin typeface="Times New Roman" panose="02020603050405020304" pitchFamily="18" charset="0"/>
              </a:rPr>
              <a:t>Матулов А. А.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D005CF-A89C-C514-1448-1832EC1B7613}"/>
              </a:ext>
            </a:extLst>
          </p:cNvPr>
          <p:cNvSpPr txBox="1"/>
          <p:nvPr/>
        </p:nvSpPr>
        <p:spPr>
          <a:xfrm>
            <a:off x="6604000" y="3937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6B6472"/>
                </a:solidFill>
                <a:latin typeface="Times New Roman" panose="02020603050405020304" pitchFamily="18" charset="0"/>
              </a:rPr>
              <a:t>Руководитель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9F1D55-245A-294E-4D15-6A4C640F20D3}"/>
              </a:ext>
            </a:extLst>
          </p:cNvPr>
          <p:cNvSpPr txBox="1"/>
          <p:nvPr/>
        </p:nvSpPr>
        <p:spPr>
          <a:xfrm>
            <a:off x="6604000" y="4216400"/>
            <a:ext cx="508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200" b="1">
                <a:solidFill>
                  <a:srgbClr val="2B2233"/>
                </a:solidFill>
                <a:latin typeface="Times New Roman" panose="02020603050405020304" pitchFamily="18" charset="0"/>
              </a:rPr>
              <a:t>Васильченко М. О.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ECDC36-11B3-EB45-6B99-1869676A3140}"/>
              </a:ext>
            </a:extLst>
          </p:cNvPr>
          <p:cNvSpPr txBox="1"/>
          <p:nvPr/>
        </p:nvSpPr>
        <p:spPr>
          <a:xfrm>
            <a:off x="762000" y="60452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600">
                <a:solidFill>
                  <a:srgbClr val="6B6472"/>
                </a:solidFill>
                <a:latin typeface="Times New Roman" panose="02020603050405020304" pitchFamily="18" charset="0"/>
              </a:rPr>
              <a:t>Ярославль, 2026</a:t>
            </a:r>
          </a:p>
        </p:txBody>
      </p:sp>
    </p:spTree>
    <p:extLst>
      <p:ext uri="{BB962C8B-B14F-4D97-AF65-F5344CB8AC3E}">
        <p14:creationId xmlns:p14="http://schemas.microsoft.com/office/powerpoint/2010/main" val="8637284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E995751-E0C8-2B08-11C9-AA5E26966C5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193CCEC-E598-48DC-0448-72B7D887AF78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2C78ED-4148-124D-1826-F0288AE1C036}"/>
              </a:ext>
            </a:extLst>
          </p:cNvPr>
          <p:cNvSpPr txBox="1"/>
          <p:nvPr/>
        </p:nvSpPr>
        <p:spPr>
          <a:xfrm>
            <a:off x="558800" y="2286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800" b="1">
                <a:solidFill>
                  <a:srgbClr val="FFFFFF"/>
                </a:solidFill>
                <a:latin typeface="Times New Roman" panose="02020603050405020304" pitchFamily="18" charset="0"/>
              </a:rPr>
              <a:t>Цель дипломного проекта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CB5A10-5D53-43A7-7127-F2DB34F38A9F}"/>
              </a:ext>
            </a:extLst>
          </p:cNvPr>
          <p:cNvSpPr txBox="1"/>
          <p:nvPr/>
        </p:nvSpPr>
        <p:spPr>
          <a:xfrm>
            <a:off x="10617200" y="3048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500">
                <a:solidFill>
                  <a:srgbClr val="C9BBDA"/>
                </a:solidFill>
                <a:latin typeface="Times New Roman" panose="02020603050405020304" pitchFamily="18" charset="0"/>
              </a:rPr>
              <a:t>2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A414FCCA-5ABD-E207-720D-7136CB384C65}"/>
              </a:ext>
            </a:extLst>
          </p:cNvPr>
          <p:cNvSpPr/>
          <p:nvPr/>
        </p:nvSpPr>
        <p:spPr>
          <a:xfrm>
            <a:off x="0" y="965200"/>
            <a:ext cx="121920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17E6E92-1E74-2B42-41DC-B54AE4F26FB1}"/>
              </a:ext>
            </a:extLst>
          </p:cNvPr>
          <p:cNvSpPr/>
          <p:nvPr/>
        </p:nvSpPr>
        <p:spPr>
          <a:xfrm>
            <a:off x="558800" y="1346200"/>
            <a:ext cx="11074400" cy="16256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83C0B5-147A-8BDF-7CF6-44022A5B5ED8}"/>
              </a:ext>
            </a:extLst>
          </p:cNvPr>
          <p:cNvSpPr txBox="1"/>
          <p:nvPr/>
        </p:nvSpPr>
        <p:spPr>
          <a:xfrm>
            <a:off x="863600" y="1600200"/>
            <a:ext cx="10464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100" b="1">
                <a:solidFill>
                  <a:srgbClr val="2B2233"/>
                </a:solidFill>
                <a:latin typeface="Times New Roman" panose="02020603050405020304" pitchFamily="18" charset="0"/>
              </a:rPr>
              <a:t>Разработка информационной системы, обеспечивающей автоматизацию создания, сопровождения и прохождения учебных курсов для удалённого обучения школьников, а также ведение учёта учащихся, учебных групп, преподавателей, дисциплин и успеваемости.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B6389F-11DE-F123-D39F-C1C0108B11C6}"/>
              </a:ext>
            </a:extLst>
          </p:cNvPr>
          <p:cNvSpPr txBox="1"/>
          <p:nvPr/>
        </p:nvSpPr>
        <p:spPr>
          <a:xfrm>
            <a:off x="812800" y="3327400"/>
            <a:ext cx="10668000" cy="369332"/>
          </a:xfrm>
          <a:prstGeom prst="rect">
            <a:avLst/>
          </a:prstGeom>
          <a:noFill/>
        </p:spPr>
        <p:txBody>
          <a:bodyPr vert="horz" wrap="square" lIns="0" rIns="0" rtlCol="0">
            <a:noAutofit/>
          </a:bodyPr>
          <a:lstStyle/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900">
                <a:solidFill>
                  <a:srgbClr val="2B2233"/>
                </a:solidFill>
                <a:latin typeface="Times New Roman" panose="02020603050405020304" pitchFamily="18" charset="0"/>
              </a:rPr>
              <a:t>Снижение трудоёмкости подготовки учебных курсов и заданий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900">
                <a:solidFill>
                  <a:srgbClr val="2B2233"/>
                </a:solidFill>
                <a:latin typeface="Times New Roman" panose="02020603050405020304" pitchFamily="18" charset="0"/>
              </a:rPr>
              <a:t>Прозрачный контроль сроков выполнения работ и формирование ведомости успеваемости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900">
                <a:solidFill>
                  <a:srgbClr val="2B2233"/>
                </a:solidFill>
                <a:latin typeface="Times New Roman" panose="02020603050405020304" pitchFamily="18" charset="0"/>
              </a:rPr>
              <a:t>Разграничение прав доступа между администратором, учителем и учеником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900">
                <a:solidFill>
                  <a:srgbClr val="2B2233"/>
                </a:solidFill>
                <a:latin typeface="Times New Roman" panose="02020603050405020304" pitchFamily="18" charset="0"/>
              </a:rPr>
              <a:t>Безопасное хранение учётных данных пользователей</a:t>
            </a:r>
          </a:p>
          <a:p>
            <a:pPr marL="457200" indent="-457200">
              <a:spcAft>
                <a:spcPts val="1000"/>
              </a:spcAft>
              <a:buSzPct val="90000"/>
              <a:buFont typeface="+mj-lt"/>
              <a:buChar char="•"/>
            </a:pPr>
            <a:endParaRPr lang="ru-RU" sz="1900">
              <a:solidFill>
                <a:srgbClr val="2B2233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393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3C72855-308E-D06D-4424-3966ECFF9CA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C8A891F-6734-EE68-D8B4-C6AC04D63B14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4BC5E3-F0A2-BAC7-B1B8-2B9EA93AFA99}"/>
              </a:ext>
            </a:extLst>
          </p:cNvPr>
          <p:cNvSpPr txBox="1"/>
          <p:nvPr/>
        </p:nvSpPr>
        <p:spPr>
          <a:xfrm>
            <a:off x="558800" y="2286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800" b="1">
                <a:solidFill>
                  <a:srgbClr val="FFFFFF"/>
                </a:solidFill>
                <a:latin typeface="Times New Roman" panose="02020603050405020304" pitchFamily="18" charset="0"/>
              </a:rPr>
              <a:t>Задачи дипломного проекта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B309E3-7E63-7C86-D138-40ED5937367A}"/>
              </a:ext>
            </a:extLst>
          </p:cNvPr>
          <p:cNvSpPr txBox="1"/>
          <p:nvPr/>
        </p:nvSpPr>
        <p:spPr>
          <a:xfrm>
            <a:off x="10617200" y="3048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500">
                <a:solidFill>
                  <a:srgbClr val="C9BBDA"/>
                </a:solidFill>
                <a:latin typeface="Times New Roman" panose="02020603050405020304" pitchFamily="18" charset="0"/>
              </a:rPr>
              <a:t>3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B009015-3481-72B7-C009-B95BD308F102}"/>
              </a:ext>
            </a:extLst>
          </p:cNvPr>
          <p:cNvSpPr/>
          <p:nvPr/>
        </p:nvSpPr>
        <p:spPr>
          <a:xfrm>
            <a:off x="0" y="965200"/>
            <a:ext cx="121920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F1299B-192B-A78F-6AD6-16A70A6FD712}"/>
              </a:ext>
            </a:extLst>
          </p:cNvPr>
          <p:cNvSpPr txBox="1"/>
          <p:nvPr/>
        </p:nvSpPr>
        <p:spPr>
          <a:xfrm>
            <a:off x="914400" y="14224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1. Анализ предметной области и существующих бизнес-процессов</a:t>
            </a:r>
          </a:p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3. Проектирование архитектуры, модели данных и интерфейса системы</a:t>
            </a:r>
          </a:p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5. Обеспечение безопасности информации и разграничения прав доступа</a:t>
            </a:r>
          </a:p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7. Описание аппаратных и программных средств функционирования системы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4E1538-DD77-A6C7-B665-EA7E5EE59F2B}"/>
              </a:ext>
            </a:extLst>
          </p:cNvPr>
          <p:cNvSpPr txBox="1"/>
          <p:nvPr/>
        </p:nvSpPr>
        <p:spPr>
          <a:xfrm>
            <a:off x="6451600" y="14224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2. Обзор и анализ существующих аналогов информационных систем</a:t>
            </a:r>
          </a:p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4. Разработка внутренней структуры и программирование приложения</a:t>
            </a:r>
          </a:p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6. Тестирование разработанного программного продукта</a:t>
            </a:r>
          </a:p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8. Составление инструкций для пользователей, преподавателей и администратора</a:t>
            </a:r>
          </a:p>
        </p:txBody>
      </p:sp>
    </p:spTree>
    <p:extLst>
      <p:ext uri="{BB962C8B-B14F-4D97-AF65-F5344CB8AC3E}">
        <p14:creationId xmlns:p14="http://schemas.microsoft.com/office/powerpoint/2010/main" val="100610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753138C-698E-9BFF-96E4-7980AFCE3DC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9C49059-D909-D7A2-60F6-3C354F1EACD2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0D6651-8826-1F6F-0563-728906236CF1}"/>
              </a:ext>
            </a:extLst>
          </p:cNvPr>
          <p:cNvSpPr txBox="1"/>
          <p:nvPr/>
        </p:nvSpPr>
        <p:spPr>
          <a:xfrm>
            <a:off x="558800" y="2286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800" b="1">
                <a:solidFill>
                  <a:srgbClr val="FFFFFF"/>
                </a:solidFill>
                <a:latin typeface="Times New Roman" panose="02020603050405020304" pitchFamily="18" charset="0"/>
              </a:rPr>
              <a:t>Аналоги информационных систем дистанционного обучения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A278C-2263-CA39-2975-EA0809274A72}"/>
              </a:ext>
            </a:extLst>
          </p:cNvPr>
          <p:cNvSpPr txBox="1"/>
          <p:nvPr/>
        </p:nvSpPr>
        <p:spPr>
          <a:xfrm>
            <a:off x="10617200" y="3048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500">
                <a:solidFill>
                  <a:srgbClr val="C9BBDA"/>
                </a:solidFill>
                <a:latin typeface="Times New Roman" panose="02020603050405020304" pitchFamily="18" charset="0"/>
              </a:rPr>
              <a:t>4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3942CF7-38AF-8D48-9B1C-DE497ED64E8B}"/>
              </a:ext>
            </a:extLst>
          </p:cNvPr>
          <p:cNvSpPr/>
          <p:nvPr/>
        </p:nvSpPr>
        <p:spPr>
          <a:xfrm>
            <a:off x="0" y="965200"/>
            <a:ext cx="121920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0FE4EE15-8005-A7ED-7F6F-D6E74134F8B7}"/>
              </a:ext>
            </a:extLst>
          </p:cNvPr>
          <p:cNvSpPr/>
          <p:nvPr/>
        </p:nvSpPr>
        <p:spPr>
          <a:xfrm>
            <a:off x="558800" y="1270000"/>
            <a:ext cx="2616200" cy="38100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78AABEC-BDDB-C8CF-A70B-6285362A7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346200"/>
            <a:ext cx="2463800" cy="2489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9C65D1E-D52F-EE34-B884-33BDEA9017E4}"/>
              </a:ext>
            </a:extLst>
          </p:cNvPr>
          <p:cNvSpPr txBox="1"/>
          <p:nvPr/>
        </p:nvSpPr>
        <p:spPr>
          <a:xfrm>
            <a:off x="660400" y="3911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5B4B6E"/>
                </a:solidFill>
                <a:latin typeface="Times New Roman" panose="02020603050405020304" pitchFamily="18" charset="0"/>
              </a:rPr>
              <a:t>Moodle</a:t>
            </a:r>
            <a:endParaRPr lang="ru-RU" sz="16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7BC766-877C-18D8-2CB7-030021396EF2}"/>
              </a:ext>
            </a:extLst>
          </p:cNvPr>
          <p:cNvSpPr txBox="1"/>
          <p:nvPr/>
        </p:nvSpPr>
        <p:spPr>
          <a:xfrm>
            <a:off x="660400" y="4241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B2233"/>
                </a:solidFill>
                <a:latin typeface="Times New Roman" panose="02020603050405020304" pitchFamily="18" charset="0"/>
              </a:rPr>
              <a:t>Открытый исходный код, большое сообщество, множество модулей. Сложная настройка.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BDF55F21-87E9-2A20-D355-9FC68C656ED4}"/>
              </a:ext>
            </a:extLst>
          </p:cNvPr>
          <p:cNvSpPr/>
          <p:nvPr/>
        </p:nvSpPr>
        <p:spPr>
          <a:xfrm>
            <a:off x="3378200" y="1270000"/>
            <a:ext cx="2616200" cy="38100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96F7755-16A8-7257-F748-650C157A40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0" y="1346200"/>
            <a:ext cx="2463800" cy="24892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3F29623-6D66-B084-1A8B-06841BF6DA7E}"/>
              </a:ext>
            </a:extLst>
          </p:cNvPr>
          <p:cNvSpPr txBox="1"/>
          <p:nvPr/>
        </p:nvSpPr>
        <p:spPr>
          <a:xfrm>
            <a:off x="3479800" y="3911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5B4B6E"/>
                </a:solidFill>
                <a:latin typeface="Times New Roman" panose="02020603050405020304" pitchFamily="18" charset="0"/>
              </a:rPr>
              <a:t>Google Classroom</a:t>
            </a:r>
            <a:endParaRPr lang="ru-RU" sz="16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D616B4-D562-04C7-7812-D8B395E0263A}"/>
              </a:ext>
            </a:extLst>
          </p:cNvPr>
          <p:cNvSpPr txBox="1"/>
          <p:nvPr/>
        </p:nvSpPr>
        <p:spPr>
          <a:xfrm>
            <a:off x="3479800" y="4241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B2233"/>
                </a:solidFill>
                <a:latin typeface="Times New Roman" panose="02020603050405020304" pitchFamily="18" charset="0"/>
              </a:rPr>
              <a:t>Простота освоения, интеграция с документами. Мало функций и детальных отчётов.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67B6A2D-4E6C-6DB6-E741-7D69BC0820D8}"/>
              </a:ext>
            </a:extLst>
          </p:cNvPr>
          <p:cNvSpPr/>
          <p:nvPr/>
        </p:nvSpPr>
        <p:spPr>
          <a:xfrm>
            <a:off x="6197600" y="1270000"/>
            <a:ext cx="2616200" cy="38100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132708FA-7870-707A-2C3A-976616198C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3800" y="1346200"/>
            <a:ext cx="2463800" cy="24892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1C17223-5F60-4AB8-37A2-290267141E66}"/>
              </a:ext>
            </a:extLst>
          </p:cNvPr>
          <p:cNvSpPr txBox="1"/>
          <p:nvPr/>
        </p:nvSpPr>
        <p:spPr>
          <a:xfrm>
            <a:off x="6299200" y="3911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5B4B6E"/>
                </a:solidFill>
                <a:latin typeface="Times New Roman" panose="02020603050405020304" pitchFamily="18" charset="0"/>
              </a:rPr>
              <a:t>iSpring Learn</a:t>
            </a:r>
            <a:endParaRPr lang="ru-RU" sz="16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BADAC95-9B50-DCAF-A06E-C8597B31B941}"/>
              </a:ext>
            </a:extLst>
          </p:cNvPr>
          <p:cNvSpPr txBox="1"/>
          <p:nvPr/>
        </p:nvSpPr>
        <p:spPr>
          <a:xfrm>
            <a:off x="6299200" y="4241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B2233"/>
                </a:solidFill>
                <a:latin typeface="Times New Roman" panose="02020603050405020304" pitchFamily="18" charset="0"/>
              </a:rPr>
              <a:t>Современный интерфейс, конструктор курсов, аналитика. Платная, только облако.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B623851-DE49-D702-408E-1612DA3E5D08}"/>
              </a:ext>
            </a:extLst>
          </p:cNvPr>
          <p:cNvSpPr/>
          <p:nvPr/>
        </p:nvSpPr>
        <p:spPr>
          <a:xfrm>
            <a:off x="9017000" y="1270000"/>
            <a:ext cx="2616200" cy="38100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F8B76B9C-66C6-4DBF-AF44-95130DF572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3200" y="1346200"/>
            <a:ext cx="2463800" cy="24892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900C2E7F-9AF7-92EB-7671-EEA2AEB86A5B}"/>
              </a:ext>
            </a:extLst>
          </p:cNvPr>
          <p:cNvSpPr txBox="1"/>
          <p:nvPr/>
        </p:nvSpPr>
        <p:spPr>
          <a:xfrm>
            <a:off x="9118600" y="3911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5B4B6E"/>
                </a:solidFill>
                <a:latin typeface="Times New Roman" panose="02020603050405020304" pitchFamily="18" charset="0"/>
              </a:rPr>
              <a:t>LMS «</a:t>
            </a:r>
            <a:r>
              <a:rPr lang="ru-RU" sz="1600" b="1">
                <a:solidFill>
                  <a:srgbClr val="5B4B6E"/>
                </a:solidFill>
                <a:latin typeface="Times New Roman" panose="02020603050405020304" pitchFamily="18" charset="0"/>
              </a:rPr>
              <a:t>АнтиТренинги»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85A0B60-BC31-FA69-E649-89F8B8B2CC05}"/>
              </a:ext>
            </a:extLst>
          </p:cNvPr>
          <p:cNvSpPr txBox="1"/>
          <p:nvPr/>
        </p:nvSpPr>
        <p:spPr>
          <a:xfrm>
            <a:off x="9118600" y="4241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B2233"/>
                </a:solidFill>
                <a:latin typeface="Times New Roman" panose="02020603050405020304" pitchFamily="18" charset="0"/>
              </a:rPr>
              <a:t>Адаптация к российским стандартам, локальное развёртывание. Дорогая лицензия.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86A962-5F8B-46DD-129C-91CE6BDACE22}"/>
              </a:ext>
            </a:extLst>
          </p:cNvPr>
          <p:cNvSpPr txBox="1"/>
          <p:nvPr/>
        </p:nvSpPr>
        <p:spPr>
          <a:xfrm>
            <a:off x="558800" y="5384800"/>
            <a:ext cx="1107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6B6472"/>
                </a:solidFill>
                <a:latin typeface="Times New Roman" panose="02020603050405020304" pitchFamily="18" charset="0"/>
              </a:rPr>
              <a:t>Вывод: универсального решения, одновременно простого, функционального и недорогого, на рынке нет — разработана собственная система с загрузкой данных через XML, разделением прав доступа и формированием ведомости успеваемости.</a:t>
            </a:r>
          </a:p>
        </p:txBody>
      </p:sp>
    </p:spTree>
    <p:extLst>
      <p:ext uri="{BB962C8B-B14F-4D97-AF65-F5344CB8AC3E}">
        <p14:creationId xmlns:p14="http://schemas.microsoft.com/office/powerpoint/2010/main" val="1187088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7D31D25-5C6B-C055-9151-C4DD20D8C19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916D216-D78A-B526-90EB-3A7B1D0894B6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22945F-CF6D-31AB-0174-EF1200F62905}"/>
              </a:ext>
            </a:extLst>
          </p:cNvPr>
          <p:cNvSpPr txBox="1"/>
          <p:nvPr/>
        </p:nvSpPr>
        <p:spPr>
          <a:xfrm>
            <a:off x="558800" y="2286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800" b="1">
                <a:solidFill>
                  <a:srgbClr val="FFFFFF"/>
                </a:solidFill>
                <a:latin typeface="Times New Roman" panose="02020603050405020304" pitchFamily="18" charset="0"/>
              </a:rPr>
              <a:t>Схема данных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A56B81-5F57-C1A3-E116-FEC00044B112}"/>
              </a:ext>
            </a:extLst>
          </p:cNvPr>
          <p:cNvSpPr txBox="1"/>
          <p:nvPr/>
        </p:nvSpPr>
        <p:spPr>
          <a:xfrm>
            <a:off x="10617200" y="3048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500">
                <a:solidFill>
                  <a:srgbClr val="C9BBDA"/>
                </a:solidFill>
                <a:latin typeface="Times New Roman" panose="02020603050405020304" pitchFamily="18" charset="0"/>
              </a:rPr>
              <a:t>5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81B62E3-F090-2355-65A4-13C697582E7A}"/>
              </a:ext>
            </a:extLst>
          </p:cNvPr>
          <p:cNvSpPr/>
          <p:nvPr/>
        </p:nvSpPr>
        <p:spPr>
          <a:xfrm>
            <a:off x="0" y="965200"/>
            <a:ext cx="121920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D0FB8F3-A7FD-2685-3613-B3E81EA5FA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800" y="1219200"/>
            <a:ext cx="7795260" cy="50292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7C1047E-F1E1-A6DF-EE79-E7FE892F3310}"/>
              </a:ext>
            </a:extLst>
          </p:cNvPr>
          <p:cNvSpPr txBox="1"/>
          <p:nvPr/>
        </p:nvSpPr>
        <p:spPr>
          <a:xfrm>
            <a:off x="8712200" y="1371600"/>
            <a:ext cx="3048000" cy="369332"/>
          </a:xfrm>
          <a:prstGeom prst="rect">
            <a:avLst/>
          </a:prstGeom>
          <a:noFill/>
        </p:spPr>
        <p:txBody>
          <a:bodyPr vert="horz" wrap="square" lIns="0" rIns="0" rtlCol="0">
            <a:noAutofit/>
          </a:bodyPr>
          <a:lstStyle/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400">
                <a:solidFill>
                  <a:srgbClr val="2B2233"/>
                </a:solidFill>
                <a:latin typeface="Times New Roman" panose="02020603050405020304" pitchFamily="18" charset="0"/>
              </a:rPr>
              <a:t>10 связанных таблиц: пользователи, группы, ученики, преподаватели, дисциплины, курсы, задания, записи на курсы, работы и оценки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400">
                <a:solidFill>
                  <a:srgbClr val="2B2233"/>
                </a:solidFill>
                <a:latin typeface="Times New Roman" panose="02020603050405020304" pitchFamily="18" charset="0"/>
              </a:rPr>
              <a:t>Все связи заданы внешними ключами, удаление проверяется на наличие зависимых записей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400">
                <a:solidFill>
                  <a:srgbClr val="2B2233"/>
                </a:solidFill>
                <a:latin typeface="Times New Roman" panose="02020603050405020304" pitchFamily="18" charset="0"/>
              </a:rPr>
              <a:t>Ограничения CHECK на роль пользователя, статус работы, статус записи, номер класса, максимальный и выставленный балл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400">
                <a:solidFill>
                  <a:srgbClr val="2B2233"/>
                </a:solidFill>
                <a:latin typeface="Times New Roman" panose="02020603050405020304" pitchFamily="18" charset="0"/>
              </a:rPr>
              <a:t>Логическое моделирование выполнено для схемы 3-й нормальной формы</a:t>
            </a:r>
          </a:p>
          <a:p>
            <a:pPr marL="342900" indent="-342900">
              <a:spcAft>
                <a:spcPts val="1000"/>
              </a:spcAft>
              <a:buSzPct val="90000"/>
              <a:buFont typeface="+mj-lt"/>
              <a:buChar char="•"/>
            </a:pPr>
            <a:endParaRPr lang="ru-RU" sz="1400">
              <a:solidFill>
                <a:srgbClr val="2B2233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91448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F101817-44C6-27C5-347F-A5834E5E07F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562C7E9A-2B26-FCA9-90E3-1644247A20E8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09EBCF-D491-2346-45B7-0505AA3A2A9E}"/>
              </a:ext>
            </a:extLst>
          </p:cNvPr>
          <p:cNvSpPr txBox="1"/>
          <p:nvPr/>
        </p:nvSpPr>
        <p:spPr>
          <a:xfrm>
            <a:off x="558800" y="2286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800" b="1">
                <a:solidFill>
                  <a:srgbClr val="FFFFFF"/>
                </a:solidFill>
                <a:latin typeface="Times New Roman" panose="02020603050405020304" pitchFamily="18" charset="0"/>
              </a:rPr>
              <a:t>Виды пользователей и их возможности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71A475-52F3-7938-D909-836BD1C59165}"/>
              </a:ext>
            </a:extLst>
          </p:cNvPr>
          <p:cNvSpPr txBox="1"/>
          <p:nvPr/>
        </p:nvSpPr>
        <p:spPr>
          <a:xfrm>
            <a:off x="10617200" y="3048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500">
                <a:solidFill>
                  <a:srgbClr val="C9BBDA"/>
                </a:solidFill>
                <a:latin typeface="Times New Roman" panose="02020603050405020304" pitchFamily="18" charset="0"/>
              </a:rPr>
              <a:t>6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81AB3C2-8B88-064C-5B28-9EBEAFE2B8B1}"/>
              </a:ext>
            </a:extLst>
          </p:cNvPr>
          <p:cNvSpPr/>
          <p:nvPr/>
        </p:nvSpPr>
        <p:spPr>
          <a:xfrm>
            <a:off x="0" y="965200"/>
            <a:ext cx="121920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67749A7B-6EF5-C7BE-53E9-6A71585B63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7887351"/>
              </p:ext>
            </p:extLst>
          </p:nvPr>
        </p:nvGraphicFramePr>
        <p:xfrm>
          <a:off x="558800" y="1270000"/>
          <a:ext cx="11074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1323644642"/>
                    </a:ext>
                  </a:extLst>
                </a:gridCol>
                <a:gridCol w="5969000">
                  <a:extLst>
                    <a:ext uri="{9D8B030D-6E8A-4147-A177-3AD203B41FA5}">
                      <a16:colId xmlns:a16="http://schemas.microsoft.com/office/drawing/2014/main" val="1320674707"/>
                    </a:ext>
                  </a:extLst>
                </a:gridCol>
                <a:gridCol w="2692400">
                  <a:extLst>
                    <a:ext uri="{9D8B030D-6E8A-4147-A177-3AD203B41FA5}">
                      <a16:colId xmlns:a16="http://schemas.microsoft.com/office/drawing/2014/main" val="467198074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r>
                        <a:rPr lang="ru-RU" sz="15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Роль</a:t>
                      </a:r>
                    </a:p>
                  </a:txBody>
                  <a:tcPr>
                    <a:solidFill>
                      <a:srgbClr val="5B4B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5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Возможности</a:t>
                      </a:r>
                    </a:p>
                  </a:txBody>
                  <a:tcPr>
                    <a:solidFill>
                      <a:srgbClr val="5B4B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5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Ограничения</a:t>
                      </a:r>
                    </a:p>
                  </a:txBody>
                  <a:tcPr>
                    <a:solidFill>
                      <a:srgbClr val="5B4B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676859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r>
                        <a:rPr lang="ru-RU" sz="1200" b="1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Администратор</a:t>
                      </a:r>
                    </a:p>
                  </a:txBody>
                  <a:tcPr>
                    <a:solidFill>
                      <a:srgbClr val="F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Ведение справочников: пользователи, группы, дисциплины, преподаватели, курсы. Блокировка и удаление учётных записей. Импорт данных из XML. Загрузка изображений курсов.</a:t>
                      </a:r>
                    </a:p>
                  </a:txBody>
                  <a:tcPr>
                    <a:solidFill>
                      <a:srgbClr val="F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Полный доступ ко всем функциям системы</a:t>
                      </a:r>
                    </a:p>
                  </a:txBody>
                  <a:tcPr>
                    <a:solidFill>
                      <a:srgbClr val="F3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7640360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r>
                        <a:rPr lang="ru-RU" sz="1200" b="1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Учитель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Создание курсов и заданий, назначение сроков сдачи и максимального балла, проверка работ, выставление оценок с комментарием, формирование ведомости успеваемости.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Работа только со своими курсами и работами учеников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5727369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r>
                        <a:rPr lang="ru-RU" sz="1200" b="1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Ученик</a:t>
                      </a:r>
                    </a:p>
                  </a:txBody>
                  <a:tcPr>
                    <a:solidFill>
                      <a:srgbClr val="F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Просмотр доступных курсов, запись на курсы, выполнение заданий и отправка работ, просмотр собственных оценок и статуса проверки.</a:t>
                      </a:r>
                    </a:p>
                  </a:txBody>
                  <a:tcPr>
                    <a:solidFill>
                      <a:srgbClr val="F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Доступ только к своим данным</a:t>
                      </a:r>
                    </a:p>
                  </a:txBody>
                  <a:tcPr>
                    <a:solidFill>
                      <a:srgbClr val="F3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719434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DE860AB-7232-0EBB-0B9F-02654D9952B5}"/>
              </a:ext>
            </a:extLst>
          </p:cNvPr>
          <p:cNvSpPr txBox="1"/>
          <p:nvPr/>
        </p:nvSpPr>
        <p:spPr>
          <a:xfrm>
            <a:off x="558800" y="5384800"/>
            <a:ext cx="1107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6B6472"/>
                </a:solidFill>
                <a:latin typeface="Times New Roman" panose="02020603050405020304" pitchFamily="18" charset="0"/>
              </a:rPr>
              <a:t>Разграничение доступа реализовано на трёх уровнях: проверка учётных данных и активности записи при входе, определение роли и открытие соответствующего окна, ограничение набора доступных данных.</a:t>
            </a:r>
          </a:p>
        </p:txBody>
      </p:sp>
    </p:spTree>
    <p:extLst>
      <p:ext uri="{BB962C8B-B14F-4D97-AF65-F5344CB8AC3E}">
        <p14:creationId xmlns:p14="http://schemas.microsoft.com/office/powerpoint/2010/main" val="838911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DC9E1D5-93FA-DDDE-AFD2-E7329CE8B8F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16D51FE-EBEC-E10C-0AD5-35363A3D9107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3F817-570F-275A-8A18-D6A386DBFD80}"/>
              </a:ext>
            </a:extLst>
          </p:cNvPr>
          <p:cNvSpPr txBox="1"/>
          <p:nvPr/>
        </p:nvSpPr>
        <p:spPr>
          <a:xfrm>
            <a:off x="558800" y="2286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800" b="1">
                <a:solidFill>
                  <a:srgbClr val="FFFFFF"/>
                </a:solidFill>
                <a:latin typeface="Times New Roman" panose="02020603050405020304" pitchFamily="18" charset="0"/>
              </a:rPr>
              <a:t>Используемые технологии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1FC03C-C69A-D11E-FA91-7BDA628D34AB}"/>
              </a:ext>
            </a:extLst>
          </p:cNvPr>
          <p:cNvSpPr txBox="1"/>
          <p:nvPr/>
        </p:nvSpPr>
        <p:spPr>
          <a:xfrm>
            <a:off x="10617200" y="3048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500">
                <a:solidFill>
                  <a:srgbClr val="C9BBDA"/>
                </a:solidFill>
                <a:latin typeface="Times New Roman" panose="02020603050405020304" pitchFamily="18" charset="0"/>
              </a:rPr>
              <a:t>7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329FDC0-1EBC-BE14-28BE-646E3A1086B2}"/>
              </a:ext>
            </a:extLst>
          </p:cNvPr>
          <p:cNvSpPr/>
          <p:nvPr/>
        </p:nvSpPr>
        <p:spPr>
          <a:xfrm>
            <a:off x="0" y="965200"/>
            <a:ext cx="121920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006D3FB-9FE2-6077-84FD-D92A70DC9D5C}"/>
              </a:ext>
            </a:extLst>
          </p:cNvPr>
          <p:cNvSpPr/>
          <p:nvPr/>
        </p:nvSpPr>
        <p:spPr>
          <a:xfrm>
            <a:off x="558800" y="1346200"/>
            <a:ext cx="3492500" cy="18034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483E6A9-54E7-077D-4B39-249FB292601E}"/>
              </a:ext>
            </a:extLst>
          </p:cNvPr>
          <p:cNvSpPr/>
          <p:nvPr/>
        </p:nvSpPr>
        <p:spPr>
          <a:xfrm>
            <a:off x="558800" y="1346200"/>
            <a:ext cx="34925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A4A93B-5D5A-2630-2793-FE98EAA80D57}"/>
              </a:ext>
            </a:extLst>
          </p:cNvPr>
          <p:cNvSpPr txBox="1"/>
          <p:nvPr/>
        </p:nvSpPr>
        <p:spPr>
          <a:xfrm>
            <a:off x="787400" y="1600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5B4B6E"/>
                </a:solidFill>
                <a:latin typeface="Times New Roman" panose="02020603050405020304" pitchFamily="18" charset="0"/>
              </a:rPr>
              <a:t>C#</a:t>
            </a:r>
            <a:endParaRPr lang="ru-RU" sz="20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8FEE0C-81B9-6030-1D06-D55A7A1AFB29}"/>
              </a:ext>
            </a:extLst>
          </p:cNvPr>
          <p:cNvSpPr txBox="1"/>
          <p:nvPr/>
        </p:nvSpPr>
        <p:spPr>
          <a:xfrm>
            <a:off x="787400" y="2260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2B2233"/>
                </a:solidFill>
                <a:latin typeface="Times New Roman" panose="02020603050405020304" pitchFamily="18" charset="0"/>
              </a:rPr>
              <a:t>Объектно-ориентированный язык, платформа .NET Framework 4.7.2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6EF22FC9-ECB1-7837-93E1-7F416F869FD5}"/>
              </a:ext>
            </a:extLst>
          </p:cNvPr>
          <p:cNvSpPr/>
          <p:nvPr/>
        </p:nvSpPr>
        <p:spPr>
          <a:xfrm>
            <a:off x="4305300" y="1346200"/>
            <a:ext cx="3492500" cy="18034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44CF674-10E6-E102-7F8A-9A449FCAFC0D}"/>
              </a:ext>
            </a:extLst>
          </p:cNvPr>
          <p:cNvSpPr/>
          <p:nvPr/>
        </p:nvSpPr>
        <p:spPr>
          <a:xfrm>
            <a:off x="4305300" y="1346200"/>
            <a:ext cx="34925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5B1F79-343A-3620-57CE-53AE99692AF0}"/>
              </a:ext>
            </a:extLst>
          </p:cNvPr>
          <p:cNvSpPr txBox="1"/>
          <p:nvPr/>
        </p:nvSpPr>
        <p:spPr>
          <a:xfrm>
            <a:off x="4533900" y="1600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5B4B6E"/>
                </a:solidFill>
                <a:latin typeface="Times New Roman" panose="02020603050405020304" pitchFamily="18" charset="0"/>
              </a:rPr>
              <a:t>WPF (XAML)</a:t>
            </a:r>
            <a:endParaRPr lang="ru-RU" sz="20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E93D89-4133-1FE0-D82C-2E6A0BDF427C}"/>
              </a:ext>
            </a:extLst>
          </p:cNvPr>
          <p:cNvSpPr txBox="1"/>
          <p:nvPr/>
        </p:nvSpPr>
        <p:spPr>
          <a:xfrm>
            <a:off x="4533900" y="2260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2B2233"/>
                </a:solidFill>
                <a:latin typeface="Times New Roman" panose="02020603050405020304" pitchFamily="18" charset="0"/>
              </a:rPr>
              <a:t>Разработка настольного интерфейса Windows, разделение разметки и логики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610AF79-8331-900E-3F9E-20129B050AE2}"/>
              </a:ext>
            </a:extLst>
          </p:cNvPr>
          <p:cNvSpPr/>
          <p:nvPr/>
        </p:nvSpPr>
        <p:spPr>
          <a:xfrm>
            <a:off x="8051800" y="1346200"/>
            <a:ext cx="3492500" cy="18034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B10A24EB-710C-8E14-F610-58767597B57C}"/>
              </a:ext>
            </a:extLst>
          </p:cNvPr>
          <p:cNvSpPr/>
          <p:nvPr/>
        </p:nvSpPr>
        <p:spPr>
          <a:xfrm>
            <a:off x="8051800" y="1346200"/>
            <a:ext cx="34925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A30E87-0851-591A-52EF-0B28D0C21307}"/>
              </a:ext>
            </a:extLst>
          </p:cNvPr>
          <p:cNvSpPr txBox="1"/>
          <p:nvPr/>
        </p:nvSpPr>
        <p:spPr>
          <a:xfrm>
            <a:off x="8280400" y="1600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5B4B6E"/>
                </a:solidFill>
                <a:latin typeface="Times New Roman" panose="02020603050405020304" pitchFamily="18" charset="0"/>
              </a:rPr>
              <a:t>ADO.NET</a:t>
            </a:r>
            <a:endParaRPr lang="ru-RU" sz="20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C1305E-F97A-24D0-744E-D8263EAAA308}"/>
              </a:ext>
            </a:extLst>
          </p:cNvPr>
          <p:cNvSpPr txBox="1"/>
          <p:nvPr/>
        </p:nvSpPr>
        <p:spPr>
          <a:xfrm>
            <a:off x="8280400" y="2260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2B2233"/>
                </a:solidFill>
                <a:latin typeface="Times New Roman" panose="02020603050405020304" pitchFamily="18" charset="0"/>
              </a:rPr>
              <a:t>Доступ к данным через провайдер System.Data.SqlClient, параметризованные запросы и транзакции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CE8AFA7C-43FF-B350-930D-A97CC00D3E12}"/>
              </a:ext>
            </a:extLst>
          </p:cNvPr>
          <p:cNvSpPr/>
          <p:nvPr/>
        </p:nvSpPr>
        <p:spPr>
          <a:xfrm>
            <a:off x="558800" y="3378200"/>
            <a:ext cx="3492500" cy="18034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E98C063-3CF4-EE53-7225-D5DC267C418E}"/>
              </a:ext>
            </a:extLst>
          </p:cNvPr>
          <p:cNvSpPr/>
          <p:nvPr/>
        </p:nvSpPr>
        <p:spPr>
          <a:xfrm>
            <a:off x="558800" y="3378200"/>
            <a:ext cx="34925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D65B69-B40E-5534-2DAC-DD35B82A57BE}"/>
              </a:ext>
            </a:extLst>
          </p:cNvPr>
          <p:cNvSpPr txBox="1"/>
          <p:nvPr/>
        </p:nvSpPr>
        <p:spPr>
          <a:xfrm>
            <a:off x="787400" y="3632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5B4B6E"/>
                </a:solidFill>
                <a:latin typeface="Times New Roman" panose="02020603050405020304" pitchFamily="18" charset="0"/>
              </a:rPr>
              <a:t>Microsoft SQL Server</a:t>
            </a:r>
            <a:endParaRPr lang="ru-RU" sz="20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21F132-8EFA-2BB6-4219-612CA2ABB6FB}"/>
              </a:ext>
            </a:extLst>
          </p:cNvPr>
          <p:cNvSpPr txBox="1"/>
          <p:nvPr/>
        </p:nvSpPr>
        <p:spPr>
          <a:xfrm>
            <a:off x="787400" y="4292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2B2233"/>
                </a:solidFill>
                <a:latin typeface="Times New Roman" panose="02020603050405020304" pitchFamily="18" charset="0"/>
              </a:rPr>
              <a:t>Хранение данных: внешние ключи, ограничения CHECK, транзакции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3D175182-7D39-02BB-B8FC-43867E2E9C76}"/>
              </a:ext>
            </a:extLst>
          </p:cNvPr>
          <p:cNvSpPr/>
          <p:nvPr/>
        </p:nvSpPr>
        <p:spPr>
          <a:xfrm>
            <a:off x="4305300" y="3378200"/>
            <a:ext cx="3492500" cy="18034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345E5D4D-04D4-6877-2E34-1104278D06B5}"/>
              </a:ext>
            </a:extLst>
          </p:cNvPr>
          <p:cNvSpPr/>
          <p:nvPr/>
        </p:nvSpPr>
        <p:spPr>
          <a:xfrm>
            <a:off x="4305300" y="3378200"/>
            <a:ext cx="34925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EA535A0-7E36-7637-F9EB-567251341347}"/>
              </a:ext>
            </a:extLst>
          </p:cNvPr>
          <p:cNvSpPr txBox="1"/>
          <p:nvPr/>
        </p:nvSpPr>
        <p:spPr>
          <a:xfrm>
            <a:off x="4533900" y="3632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5B4B6E"/>
                </a:solidFill>
                <a:latin typeface="Times New Roman" panose="02020603050405020304" pitchFamily="18" charset="0"/>
              </a:rPr>
              <a:t>Microsoft Visual Studio 2019</a:t>
            </a:r>
            <a:endParaRPr lang="ru-RU" sz="16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74438F-B52D-3C8E-D005-9D7BAA391FB7}"/>
              </a:ext>
            </a:extLst>
          </p:cNvPr>
          <p:cNvSpPr txBox="1"/>
          <p:nvPr/>
        </p:nvSpPr>
        <p:spPr>
          <a:xfrm>
            <a:off x="4533900" y="4292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2B2233"/>
                </a:solidFill>
                <a:latin typeface="Times New Roman" panose="02020603050405020304" pitchFamily="18" charset="0"/>
              </a:rPr>
              <a:t>Среда разработки и сопровождения программного продукта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739B5026-9151-F04F-B922-4DDEA34FF96B}"/>
              </a:ext>
            </a:extLst>
          </p:cNvPr>
          <p:cNvSpPr/>
          <p:nvPr/>
        </p:nvSpPr>
        <p:spPr>
          <a:xfrm>
            <a:off x="8051800" y="3378200"/>
            <a:ext cx="3492500" cy="18034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688B8011-4CDC-6535-16EF-46A8ACB63508}"/>
              </a:ext>
            </a:extLst>
          </p:cNvPr>
          <p:cNvSpPr/>
          <p:nvPr/>
        </p:nvSpPr>
        <p:spPr>
          <a:xfrm>
            <a:off x="8051800" y="3378200"/>
            <a:ext cx="34925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5C29D0-A1C0-D8D1-4FF6-CD99BF287516}"/>
              </a:ext>
            </a:extLst>
          </p:cNvPr>
          <p:cNvSpPr txBox="1"/>
          <p:nvPr/>
        </p:nvSpPr>
        <p:spPr>
          <a:xfrm>
            <a:off x="8280400" y="3632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5B4B6E"/>
                </a:solidFill>
                <a:latin typeface="Times New Roman" panose="02020603050405020304" pitchFamily="18" charset="0"/>
              </a:rPr>
              <a:t>PBKDF2-HMAC-SHA256</a:t>
            </a:r>
            <a:endParaRPr lang="ru-RU" sz="20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D2D648E-43FC-75FF-1EDF-317EB0F860E8}"/>
              </a:ext>
            </a:extLst>
          </p:cNvPr>
          <p:cNvSpPr txBox="1"/>
          <p:nvPr/>
        </p:nvSpPr>
        <p:spPr>
          <a:xfrm>
            <a:off x="8280400" y="4292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2B2233"/>
                </a:solidFill>
                <a:latin typeface="Times New Roman" panose="02020603050405020304" pitchFamily="18" charset="0"/>
              </a:rPr>
              <a:t>Хеширование паролей с индивидуальной солью, 100 000 итераций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3945D4C-EB3C-3692-5215-82A6AF77A67E}"/>
              </a:ext>
            </a:extLst>
          </p:cNvPr>
          <p:cNvSpPr txBox="1"/>
          <p:nvPr/>
        </p:nvSpPr>
        <p:spPr>
          <a:xfrm>
            <a:off x="558800" y="5486400"/>
            <a:ext cx="1107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6B6472"/>
                </a:solidFill>
                <a:latin typeface="Times New Roman" panose="02020603050405020304" pitchFamily="18" charset="0"/>
              </a:rPr>
              <a:t>Архитектура приложения — трёхуровневая: уровень представления (окна WPF), уровень логики (обработчики событий), уровень данных (компоненты доступа к СУБД).</a:t>
            </a:r>
          </a:p>
        </p:txBody>
      </p:sp>
    </p:spTree>
    <p:extLst>
      <p:ext uri="{BB962C8B-B14F-4D97-AF65-F5344CB8AC3E}">
        <p14:creationId xmlns:p14="http://schemas.microsoft.com/office/powerpoint/2010/main" val="1375157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4D2BBBF-7C21-09E5-AE88-EADFC1235CC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A3608DB-8B0C-BC99-F59C-259075484BB2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AECA4E-FFFB-2E4F-9F08-7E1D819BFBB0}"/>
              </a:ext>
            </a:extLst>
          </p:cNvPr>
          <p:cNvSpPr txBox="1"/>
          <p:nvPr/>
        </p:nvSpPr>
        <p:spPr>
          <a:xfrm>
            <a:off x="558800" y="2286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800" b="1">
                <a:solidFill>
                  <a:srgbClr val="FFFFFF"/>
                </a:solidFill>
                <a:latin typeface="Times New Roman" panose="02020603050405020304" pitchFamily="18" charset="0"/>
              </a:rPr>
              <a:t>Видео приложения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96FD80-60FC-7828-7A61-4EB02ADDCCE5}"/>
              </a:ext>
            </a:extLst>
          </p:cNvPr>
          <p:cNvSpPr txBox="1"/>
          <p:nvPr/>
        </p:nvSpPr>
        <p:spPr>
          <a:xfrm>
            <a:off x="10617200" y="3048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500">
                <a:solidFill>
                  <a:srgbClr val="C9BBDA"/>
                </a:solidFill>
                <a:latin typeface="Times New Roman" panose="02020603050405020304" pitchFamily="18" charset="0"/>
              </a:rPr>
              <a:t>8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BBFC87A-1E9E-6F7F-F691-E981DAF2B58B}"/>
              </a:ext>
            </a:extLst>
          </p:cNvPr>
          <p:cNvSpPr/>
          <p:nvPr/>
        </p:nvSpPr>
        <p:spPr>
          <a:xfrm>
            <a:off x="0" y="965200"/>
            <a:ext cx="121920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demo-app">
            <a:hlinkClick r:id="" action="ppaction://media"/>
            <a:extLst>
              <a:ext uri="{FF2B5EF4-FFF2-40B4-BE49-F238E27FC236}">
                <a16:creationId xmlns:a16="http://schemas.microsoft.com/office/drawing/2014/main" id="{BB219300-692C-F7E6-AB90-1C96158066A0}"/>
              </a:ext>
            </a:extLst>
          </p:cNvPr>
          <p:cNvPicPr>
            <a:picLocks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58800" y="1676400"/>
            <a:ext cx="7112000" cy="4000500"/>
          </a:xfrm>
          <a:prstGeom prst="rect">
            <a:avLst/>
          </a:prstGeom>
          <a:ln w="19050">
            <a:solidFill>
              <a:srgbClr val="5B4B6E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6E13FBD-A884-6FED-0686-C7FB68FA0558}"/>
              </a:ext>
            </a:extLst>
          </p:cNvPr>
          <p:cNvSpPr txBox="1"/>
          <p:nvPr/>
        </p:nvSpPr>
        <p:spPr>
          <a:xfrm>
            <a:off x="558800" y="58166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6B6472"/>
                </a:solidFill>
                <a:latin typeface="Times New Roman" panose="02020603050405020304" pitchFamily="18" charset="0"/>
              </a:rPr>
              <a:t>Демонстрация занимает около 25 секунд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D42C6B-7ED8-3272-3F6D-3125B3603938}"/>
              </a:ext>
            </a:extLst>
          </p:cNvPr>
          <p:cNvSpPr txBox="1"/>
          <p:nvPr/>
        </p:nvSpPr>
        <p:spPr>
          <a:xfrm>
            <a:off x="8001000" y="1727200"/>
            <a:ext cx="3632200" cy="369332"/>
          </a:xfrm>
          <a:prstGeom prst="rect">
            <a:avLst/>
          </a:prstGeom>
          <a:noFill/>
        </p:spPr>
        <p:txBody>
          <a:bodyPr vert="horz" wrap="square" lIns="0" rIns="0" rtlCol="0">
            <a:noAutofit/>
          </a:bodyPr>
          <a:lstStyle/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500">
                <a:solidFill>
                  <a:srgbClr val="2B2233"/>
                </a:solidFill>
                <a:latin typeface="Times New Roman" panose="02020603050405020304" pitchFamily="18" charset="0"/>
              </a:rPr>
              <a:t>Вход в систему под учётной записью ученика student1 (пароль 12345)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500">
                <a:solidFill>
                  <a:srgbClr val="2B2233"/>
                </a:solidFill>
                <a:latin typeface="Times New Roman" panose="02020603050405020304" pitchFamily="18" charset="0"/>
              </a:rPr>
              <a:t>Запись на курс, просмотр заданий, отправка работы преподавателю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500">
                <a:solidFill>
                  <a:srgbClr val="2B2233"/>
                </a:solidFill>
                <a:latin typeface="Times New Roman" panose="02020603050405020304" pitchFamily="18" charset="0"/>
              </a:rPr>
              <a:t>Проверка работы учителем, выставление балла и комментария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500">
                <a:solidFill>
                  <a:srgbClr val="2B2233"/>
                </a:solidFill>
                <a:latin typeface="Times New Roman" panose="02020603050405020304" pitchFamily="18" charset="0"/>
              </a:rPr>
              <a:t>Формирование ведомости успеваемости по курсу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500">
                <a:solidFill>
                  <a:srgbClr val="2B2233"/>
                </a:solidFill>
                <a:latin typeface="Times New Roman" panose="02020603050405020304" pitchFamily="18" charset="0"/>
              </a:rPr>
              <a:t>Просмотр полученной оценки в личном кабинете ученика</a:t>
            </a:r>
          </a:p>
          <a:p>
            <a:pPr marL="342900" indent="-342900">
              <a:spcAft>
                <a:spcPts val="1000"/>
              </a:spcAft>
              <a:buSzPct val="90000"/>
              <a:buFont typeface="+mj-lt"/>
              <a:buChar char="•"/>
            </a:pPr>
            <a:endParaRPr lang="ru-RU" sz="1500">
              <a:solidFill>
                <a:srgbClr val="2B2233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5575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4123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showWhenStopped="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0E3157C-E616-279C-6C6E-C90100D7E6C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EF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5A23E356-8D12-B77C-5B44-2420EDB7516A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63E125-E878-DCB5-35BC-E6528E879E72}"/>
              </a:ext>
            </a:extLst>
          </p:cNvPr>
          <p:cNvSpPr txBox="1"/>
          <p:nvPr/>
        </p:nvSpPr>
        <p:spPr>
          <a:xfrm>
            <a:off x="762000" y="22352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600" b="1">
                <a:solidFill>
                  <a:srgbClr val="5B4B6E"/>
                </a:solidFill>
                <a:latin typeface="Times New Roman" panose="02020603050405020304" pitchFamily="18" charset="0"/>
              </a:rPr>
              <a:t>СПАСИБО ЗА ВНИМАНИЕ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F344452-8E85-EF86-CB81-90A8FD3B9588}"/>
              </a:ext>
            </a:extLst>
          </p:cNvPr>
          <p:cNvSpPr/>
          <p:nvPr/>
        </p:nvSpPr>
        <p:spPr>
          <a:xfrm>
            <a:off x="762000" y="3048000"/>
            <a:ext cx="2540000" cy="508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309CC6-AD46-6A3E-2326-551A06F812CA}"/>
              </a:ext>
            </a:extLst>
          </p:cNvPr>
          <p:cNvSpPr txBox="1"/>
          <p:nvPr/>
        </p:nvSpPr>
        <p:spPr>
          <a:xfrm>
            <a:off x="762000" y="33274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900">
                <a:solidFill>
                  <a:srgbClr val="2B2233"/>
                </a:solidFill>
                <a:latin typeface="Times New Roman" panose="02020603050405020304" pitchFamily="18" charset="0"/>
              </a:rPr>
              <a:t>Готов ответить на вопросы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8E11E5-DC70-19C8-4426-C43598264144}"/>
              </a:ext>
            </a:extLst>
          </p:cNvPr>
          <p:cNvSpPr txBox="1"/>
          <p:nvPr/>
        </p:nvSpPr>
        <p:spPr>
          <a:xfrm>
            <a:off x="762000" y="4191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6B6472"/>
                </a:solidFill>
                <a:latin typeface="Times New Roman" panose="02020603050405020304" pitchFamily="18" charset="0"/>
              </a:rPr>
              <a:t>Тема: Разработка информационной системы «Учебные курсы» для удалённого обучения школьников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0C12A0-F4ED-49FE-95E3-22916E2B947F}"/>
              </a:ext>
            </a:extLst>
          </p:cNvPr>
          <p:cNvSpPr txBox="1"/>
          <p:nvPr/>
        </p:nvSpPr>
        <p:spPr>
          <a:xfrm>
            <a:off x="762000" y="45466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6B6472"/>
                </a:solidFill>
                <a:latin typeface="Times New Roman" panose="02020603050405020304" pitchFamily="18" charset="0"/>
              </a:rPr>
              <a:t>Выполнил: Матулов А. А., группа ИС1-45        Руководитель: Васильченко М. О.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AB745E-698C-D7AB-6732-FE955EE56EB4}"/>
              </a:ext>
            </a:extLst>
          </p:cNvPr>
          <p:cNvSpPr txBox="1"/>
          <p:nvPr/>
        </p:nvSpPr>
        <p:spPr>
          <a:xfrm>
            <a:off x="762000" y="57404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6B6472"/>
                </a:solidFill>
                <a:latin typeface="Times New Roman" panose="02020603050405020304" pitchFamily="18" charset="0"/>
              </a:rPr>
              <a:t>Ярославль, 2026</a:t>
            </a:r>
          </a:p>
        </p:txBody>
      </p:sp>
    </p:spTree>
    <p:extLst>
      <p:ext uri="{BB962C8B-B14F-4D97-AF65-F5344CB8AC3E}">
        <p14:creationId xmlns:p14="http://schemas.microsoft.com/office/powerpoint/2010/main" val="422205768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693</Words>
  <Application>Microsoft Office PowerPoint</Application>
  <PresentationFormat>Широкоэкранный</PresentationFormat>
  <Paragraphs>88</Paragraphs>
  <Slides>9</Slides>
  <Notes>0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sashahikilrety@gmail.com</dc:creator>
  <cp:lastModifiedBy>sashahikilrety@gmail.com</cp:lastModifiedBy>
  <cp:revision>1</cp:revision>
  <dcterms:created xsi:type="dcterms:W3CDTF">2026-10-21T19:14:04Z</dcterms:created>
  <dcterms:modified xsi:type="dcterms:W3CDTF">2026-10-21T19:14:04Z</dcterms:modified>
</cp:coreProperties>
</file>