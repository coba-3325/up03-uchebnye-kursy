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2486AD-BD7A-81DE-D8D4-D234F2A4C7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148D8C-D25E-E387-A409-93096D513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09E470-1D13-61BE-4E58-BEFE8ADC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2BDC6-13AE-4F9F-BB14-CB3866DECA51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7F0AD8-194E-1F03-DFE0-3C43B453E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0DA99A-F0DB-AFEE-9A8F-3D2478339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D127-6394-4B2C-B510-ECF110AB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25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8973C-8A0D-A2A7-36F0-7256895D6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BA6058-FC2F-1284-EEE7-0B2D62533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0CD4A6-F021-3A21-AEDB-6D6309E62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2BDC6-13AE-4F9F-BB14-CB3866DECA51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DA7B97-5B68-6250-8892-1D2082CB8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DF2965-B980-0E6C-4AD0-0A7131A43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D127-6394-4B2C-B510-ECF110AB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882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9C2D4F-C4F1-D2B8-FDA1-5872EF9C4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CA634D-6EB1-1A97-60C5-AEB369DBD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34494E-3CF6-6596-36E7-8BA4AFEFF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2BDC6-13AE-4F9F-BB14-CB3866DECA51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F0B5F6-DAC0-C7DD-878E-E716CB9CC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A6E2DC-6CF5-3B93-B19A-495CA9463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D127-6394-4B2C-B510-ECF110AB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1962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78E6AD-E412-26C5-A6C1-746883E69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07AEC7-878B-B15D-1765-C0CE1CF33D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1CBB12-5487-9004-99BB-F76F6EAD2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855087-DABF-63CE-B9E8-58E522A16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2BDC6-13AE-4F9F-BB14-CB3866DECA51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A10977-7AF3-95FC-308E-95BB9C368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7D5D71-A3E6-B25B-EC2D-C5C9B86D7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D127-6394-4B2C-B510-ECF110AB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8175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D689C-EB18-4B76-4D1E-23EF5B181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13BC18-293B-6539-A98F-EEBF2C217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559A0D-3BCF-71CF-6FDF-5F9160C0B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852F4B6-B4A5-AB29-6E5B-41CA12370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D9BB645-7811-8D7B-50C8-03E420AD9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C3488BD-1FBC-DCCC-062A-39FC52200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2BDC6-13AE-4F9F-BB14-CB3866DECA51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F9A8C92-37AB-2D10-7647-55715084C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054A5E-8657-93A0-0E1D-1D2B5D058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D127-6394-4B2C-B510-ECF110AB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254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6D9CD0-8678-2989-FA95-F0B1388F3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C5B63D2-BF5D-6F4A-4F5F-342336D5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2BDC6-13AE-4F9F-BB14-CB3866DECA51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FEBA439-378A-1D76-914B-DF4AE6C78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86ED757-2271-D5BB-BD94-F128B19BD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D127-6394-4B2C-B510-ECF110AB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200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6EA8C4E-DDF2-B24D-158D-BC063C8F3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2BDC6-13AE-4F9F-BB14-CB3866DECA51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4636FB5-C0B9-D72E-28A9-7FABBD857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B4C4D4-51D0-7839-5777-BB8FF267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D127-6394-4B2C-B510-ECF110AB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0700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39AD0-24BE-74E6-4190-1D0E4D174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90249D-267F-8D8D-0E5A-06E80FE71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22FC1F9-A1A0-4602-F41B-27471540E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042393-D47A-E057-93CE-F02A874AA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2BDC6-13AE-4F9F-BB14-CB3866DECA51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26EF60-6E62-4477-D6FC-6C24EC134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D09FC2-9C82-00EB-7470-E4C3373FD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D127-6394-4B2C-B510-ECF110AB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8131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E6758-7EC0-19B7-43C8-0F3F3F73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60EAEE4-1FD5-7749-B5EE-82A7C2C6EE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8A968E-296E-9A37-0EA7-B317F30C2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AC55960-7C73-3E74-DD3C-B420DE21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2BDC6-13AE-4F9F-BB14-CB3866DECA51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2CD1E4-C2C0-3542-2401-ACA11B60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5C4B94-E591-12F4-4F32-F1E2F770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D127-6394-4B2C-B510-ECF110AB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47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BB83C-227C-C26F-C048-BBB20DCCC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2473715-5FB4-914C-552B-71D036209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1A9F3C-160A-2827-C822-2E832659E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2BDC6-13AE-4F9F-BB14-CB3866DECA51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ED2348-484A-8D5D-9D12-99E5754BF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3822CF-D88E-E1DE-FA3F-80AF051E9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D127-6394-4B2C-B510-ECF110AB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384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53FE689-CBD5-64FE-EA48-781018BFED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F289FE-EDF0-045A-96C3-88425064C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5C6705-1FAD-903F-BA21-337EB63AB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2BDC6-13AE-4F9F-BB14-CB3866DECA51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F23E6F-224D-CAB0-2705-99389AD9E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FBD130-DB7F-DA56-F262-28805012B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D127-6394-4B2C-B510-ECF110AB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6872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EBF098-2B94-3322-510D-C7EC08F2A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0856BA-2A45-34F5-A539-53388575A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314249-73DD-B860-09FB-25E2C4C7E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F2BDC6-13AE-4F9F-BB14-CB3866DECA51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A904C8-A1BD-3FF0-D0B1-18773A2F0C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40489C-5066-88FF-A2F5-F36C6F55C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F6D127-6394-4B2C-B510-ECF110AB5A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1270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6014B8F-4FBC-5365-53E4-D78C2DA436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F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8716D4D-89CF-B428-9ABA-4F3485A6772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B4B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739ECE5-9BF9-F302-1A04-A437608C13A1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5B4B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00EB00-CDF0-F694-CB2A-A0016D254096}"/>
              </a:ext>
            </a:extLst>
          </p:cNvPr>
          <p:cNvSpPr txBox="1"/>
          <p:nvPr/>
        </p:nvSpPr>
        <p:spPr>
          <a:xfrm>
            <a:off x="762000" y="584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6B6472"/>
                </a:solidFill>
                <a:latin typeface="Times New Roman" panose="02020603050405020304" pitchFamily="18" charset="0"/>
              </a:rPr>
              <a:t>Государственное профессиональное образовательное учреждение Ярославской области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B1DCB-B22B-F343-F499-A2F95F4239FE}"/>
              </a:ext>
            </a:extLst>
          </p:cNvPr>
          <p:cNvSpPr txBox="1"/>
          <p:nvPr/>
        </p:nvSpPr>
        <p:spPr>
          <a:xfrm>
            <a:off x="762000" y="889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b="1">
                <a:solidFill>
                  <a:srgbClr val="2B2233"/>
                </a:solidFill>
                <a:latin typeface="Times New Roman" panose="02020603050405020304" pitchFamily="18" charset="0"/>
              </a:rPr>
              <a:t>«Ярославский градостроительный колледж»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777F95-CFF3-7152-3547-405E255BB3D1}"/>
              </a:ext>
            </a:extLst>
          </p:cNvPr>
          <p:cNvSpPr txBox="1"/>
          <p:nvPr/>
        </p:nvSpPr>
        <p:spPr>
          <a:xfrm>
            <a:off x="762000" y="13208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6B6472"/>
                </a:solidFill>
                <a:latin typeface="Times New Roman" panose="02020603050405020304" pitchFamily="18" charset="0"/>
              </a:rPr>
              <a:t>МДК 06.03 «Устройство и функционирование информационной системы»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BB1C40-159B-E820-8C35-2454F28E6804}"/>
              </a:ext>
            </a:extLst>
          </p:cNvPr>
          <p:cNvSpPr txBox="1"/>
          <p:nvPr/>
        </p:nvSpPr>
        <p:spPr>
          <a:xfrm>
            <a:off x="762000" y="1930400"/>
            <a:ext cx="10668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b="1">
                <a:solidFill>
                  <a:srgbClr val="5B4B6E"/>
                </a:solidFill>
                <a:latin typeface="Times New Roman" panose="02020603050405020304" pitchFamily="18" charset="0"/>
              </a:rPr>
              <a:t>ПРОЕКТНАЯ РАБОТА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72ACA1-CEE5-085C-2D56-679A1B359204}"/>
              </a:ext>
            </a:extLst>
          </p:cNvPr>
          <p:cNvSpPr txBox="1"/>
          <p:nvPr/>
        </p:nvSpPr>
        <p:spPr>
          <a:xfrm>
            <a:off x="762000" y="2362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700" b="1">
                <a:solidFill>
                  <a:srgbClr val="2B2233"/>
                </a:solidFill>
                <a:latin typeface="Times New Roman" panose="02020603050405020304" pitchFamily="18" charset="0"/>
              </a:rPr>
              <a:t>Разработка информационной системы «Учебные курсы»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5F3304-CA40-AB18-80A7-72C8517FC654}"/>
              </a:ext>
            </a:extLst>
          </p:cNvPr>
          <p:cNvSpPr txBox="1"/>
          <p:nvPr/>
        </p:nvSpPr>
        <p:spPr>
          <a:xfrm>
            <a:off x="762000" y="2794000"/>
            <a:ext cx="10668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200">
                <a:solidFill>
                  <a:srgbClr val="2B2233"/>
                </a:solidFill>
                <a:latin typeface="Times New Roman" panose="02020603050405020304" pitchFamily="18" charset="0"/>
              </a:rPr>
              <a:t>для удалённого обучения школьников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79496E9-3AD1-2F19-73B0-B583680316DF}"/>
              </a:ext>
            </a:extLst>
          </p:cNvPr>
          <p:cNvSpPr/>
          <p:nvPr/>
        </p:nvSpPr>
        <p:spPr>
          <a:xfrm>
            <a:off x="762000" y="3581400"/>
            <a:ext cx="10668000" cy="38100"/>
          </a:xfrm>
          <a:prstGeom prst="rect">
            <a:avLst/>
          </a:prstGeom>
          <a:solidFill>
            <a:srgbClr val="7C9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7AACF1-3A8C-CA64-49D8-43333A7CA66B}"/>
              </a:ext>
            </a:extLst>
          </p:cNvPr>
          <p:cNvSpPr txBox="1"/>
          <p:nvPr/>
        </p:nvSpPr>
        <p:spPr>
          <a:xfrm>
            <a:off x="762000" y="3937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6B6472"/>
                </a:solidFill>
                <a:latin typeface="Times New Roman" panose="02020603050405020304" pitchFamily="18" charset="0"/>
              </a:rPr>
              <a:t>Выполнил студент группы ИС1-45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A9F410-23FE-C4A9-3EFE-41B8822E95BB}"/>
              </a:ext>
            </a:extLst>
          </p:cNvPr>
          <p:cNvSpPr txBox="1"/>
          <p:nvPr/>
        </p:nvSpPr>
        <p:spPr>
          <a:xfrm>
            <a:off x="762000" y="4216400"/>
            <a:ext cx="5080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200" b="1">
                <a:solidFill>
                  <a:srgbClr val="2B2233"/>
                </a:solidFill>
                <a:latin typeface="Times New Roman" panose="02020603050405020304" pitchFamily="18" charset="0"/>
              </a:rPr>
              <a:t>Матулов А. А.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DE27EA-5918-6E3C-AECE-AB11E5846DD5}"/>
              </a:ext>
            </a:extLst>
          </p:cNvPr>
          <p:cNvSpPr txBox="1"/>
          <p:nvPr/>
        </p:nvSpPr>
        <p:spPr>
          <a:xfrm>
            <a:off x="6604000" y="3937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6B6472"/>
                </a:solidFill>
                <a:latin typeface="Times New Roman" panose="02020603050405020304" pitchFamily="18" charset="0"/>
              </a:rPr>
              <a:t>Руководитель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2C8824-95A1-14DF-1C96-A7FF7706AE1E}"/>
              </a:ext>
            </a:extLst>
          </p:cNvPr>
          <p:cNvSpPr txBox="1"/>
          <p:nvPr/>
        </p:nvSpPr>
        <p:spPr>
          <a:xfrm>
            <a:off x="6604000" y="4216400"/>
            <a:ext cx="5080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200" b="1">
                <a:solidFill>
                  <a:srgbClr val="2B2233"/>
                </a:solidFill>
                <a:latin typeface="Times New Roman" panose="02020603050405020304" pitchFamily="18" charset="0"/>
              </a:rPr>
              <a:t>Васильченко М. О.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8F7BF4-8846-01B2-C272-DD2F659C64A5}"/>
              </a:ext>
            </a:extLst>
          </p:cNvPr>
          <p:cNvSpPr txBox="1"/>
          <p:nvPr/>
        </p:nvSpPr>
        <p:spPr>
          <a:xfrm>
            <a:off x="762000" y="6045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600">
                <a:solidFill>
                  <a:srgbClr val="6B6472"/>
                </a:solidFill>
                <a:latin typeface="Times New Roman" panose="02020603050405020304" pitchFamily="18" charset="0"/>
              </a:rPr>
              <a:t>Ярославль, 2026</a:t>
            </a:r>
          </a:p>
        </p:txBody>
      </p:sp>
    </p:spTree>
    <p:extLst>
      <p:ext uri="{BB962C8B-B14F-4D97-AF65-F5344CB8AC3E}">
        <p14:creationId xmlns:p14="http://schemas.microsoft.com/office/powerpoint/2010/main" val="381591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481F0FF-2BEC-533A-EC84-3B7A4AACA9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ACC31D2-AC1B-FC3D-356D-50528D20D245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5B4B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41CB3-43D0-09A7-F40E-FF2F35039864}"/>
              </a:ext>
            </a:extLst>
          </p:cNvPr>
          <p:cNvSpPr txBox="1"/>
          <p:nvPr/>
        </p:nvSpPr>
        <p:spPr>
          <a:xfrm>
            <a:off x="558800" y="2286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800" b="1">
                <a:solidFill>
                  <a:srgbClr val="FFFFFF"/>
                </a:solidFill>
                <a:latin typeface="Times New Roman" panose="02020603050405020304" pitchFamily="18" charset="0"/>
              </a:rPr>
              <a:t>Цель дипломного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5A3C2-52B4-D7A2-A860-3485AEEFF9D5}"/>
              </a:ext>
            </a:extLst>
          </p:cNvPr>
          <p:cNvSpPr txBox="1"/>
          <p:nvPr/>
        </p:nvSpPr>
        <p:spPr>
          <a:xfrm>
            <a:off x="10617200" y="3048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500">
                <a:solidFill>
                  <a:srgbClr val="C9BBDA"/>
                </a:solidFill>
                <a:latin typeface="Times New Roman" panose="02020603050405020304" pitchFamily="18" charset="0"/>
              </a:rPr>
              <a:t>2 / 9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60A285E-40B5-6FB3-9002-54D2656C12D8}"/>
              </a:ext>
            </a:extLst>
          </p:cNvPr>
          <p:cNvSpPr/>
          <p:nvPr/>
        </p:nvSpPr>
        <p:spPr>
          <a:xfrm>
            <a:off x="0" y="965200"/>
            <a:ext cx="12192000" cy="76200"/>
          </a:xfrm>
          <a:prstGeom prst="rect">
            <a:avLst/>
          </a:prstGeom>
          <a:solidFill>
            <a:srgbClr val="7C9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2B01AB7-A1BA-6D20-CAAD-52BD1B910246}"/>
              </a:ext>
            </a:extLst>
          </p:cNvPr>
          <p:cNvSpPr/>
          <p:nvPr/>
        </p:nvSpPr>
        <p:spPr>
          <a:xfrm>
            <a:off x="558800" y="1346200"/>
            <a:ext cx="11074400" cy="1625600"/>
          </a:xfrm>
          <a:prstGeom prst="rect">
            <a:avLst/>
          </a:prstGeom>
          <a:solidFill>
            <a:srgbClr val="EDE8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873488-7237-1D30-33C1-377072C25C22}"/>
              </a:ext>
            </a:extLst>
          </p:cNvPr>
          <p:cNvSpPr txBox="1"/>
          <p:nvPr/>
        </p:nvSpPr>
        <p:spPr>
          <a:xfrm>
            <a:off x="863600" y="1600200"/>
            <a:ext cx="1046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100" b="1">
                <a:solidFill>
                  <a:srgbClr val="2B2233"/>
                </a:solidFill>
                <a:latin typeface="Times New Roman" panose="02020603050405020304" pitchFamily="18" charset="0"/>
              </a:rPr>
              <a:t>Разработка информационной системы, обеспечивающей автоматизацию создания, сопровождения и прохождения учебных курсов для удалённого обучения школьников, а также ведение учёта учащихся, учебных групп, преподавателей, дисциплин и успеваемости.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E05881-AE48-3153-941B-4383AA750550}"/>
              </a:ext>
            </a:extLst>
          </p:cNvPr>
          <p:cNvSpPr txBox="1"/>
          <p:nvPr/>
        </p:nvSpPr>
        <p:spPr>
          <a:xfrm>
            <a:off x="812800" y="3327400"/>
            <a:ext cx="10668000" cy="369332"/>
          </a:xfrm>
          <a:prstGeom prst="rect">
            <a:avLst/>
          </a:prstGeom>
          <a:noFill/>
        </p:spPr>
        <p:txBody>
          <a:bodyPr vert="horz" wrap="square" lIns="0" rIns="0" rtlCol="0">
            <a:noAutofit/>
          </a:bodyPr>
          <a:lstStyle/>
          <a:p>
            <a:pPr indent="330200">
              <a:spcAft>
                <a:spcPts val="1000"/>
              </a:spcAft>
              <a:buSzPct val="90000"/>
              <a:buFont typeface="+mj-lt"/>
              <a:buChar char="•"/>
            </a:pPr>
            <a:r>
              <a:rPr lang="ru-RU" sz="1900">
                <a:solidFill>
                  <a:srgbClr val="2B2233"/>
                </a:solidFill>
                <a:latin typeface="Times New Roman" panose="02020603050405020304" pitchFamily="18" charset="0"/>
              </a:rPr>
              <a:t>Снижение трудоёмкости подготовки учебных курсов и заданий</a:t>
            </a:r>
          </a:p>
          <a:p>
            <a:pPr indent="330200">
              <a:spcAft>
                <a:spcPts val="1000"/>
              </a:spcAft>
              <a:buSzPct val="90000"/>
              <a:buFont typeface="+mj-lt"/>
              <a:buChar char="•"/>
            </a:pPr>
            <a:r>
              <a:rPr lang="ru-RU" sz="1900">
                <a:solidFill>
                  <a:srgbClr val="2B2233"/>
                </a:solidFill>
                <a:latin typeface="Times New Roman" panose="02020603050405020304" pitchFamily="18" charset="0"/>
              </a:rPr>
              <a:t>Прозрачный контроль сроков выполнения работ и формирование ведомости успеваемости</a:t>
            </a:r>
          </a:p>
          <a:p>
            <a:pPr indent="330200">
              <a:spcAft>
                <a:spcPts val="1000"/>
              </a:spcAft>
              <a:buSzPct val="90000"/>
              <a:buFont typeface="+mj-lt"/>
              <a:buChar char="•"/>
            </a:pPr>
            <a:r>
              <a:rPr lang="ru-RU" sz="1900">
                <a:solidFill>
                  <a:srgbClr val="2B2233"/>
                </a:solidFill>
                <a:latin typeface="Times New Roman" panose="02020603050405020304" pitchFamily="18" charset="0"/>
              </a:rPr>
              <a:t>Разграничение прав доступа между администратором, учителем и учеником</a:t>
            </a:r>
          </a:p>
          <a:p>
            <a:pPr indent="330200">
              <a:spcAft>
                <a:spcPts val="1000"/>
              </a:spcAft>
              <a:buSzPct val="90000"/>
              <a:buFont typeface="+mj-lt"/>
              <a:buChar char="•"/>
            </a:pPr>
            <a:r>
              <a:rPr lang="ru-RU" sz="1900">
                <a:solidFill>
                  <a:srgbClr val="2B2233"/>
                </a:solidFill>
                <a:latin typeface="Times New Roman" panose="02020603050405020304" pitchFamily="18" charset="0"/>
              </a:rPr>
              <a:t>Безопасное хранение учётных данных пользователей</a:t>
            </a:r>
          </a:p>
          <a:p>
            <a:pPr marL="457200" indent="-457200">
              <a:spcAft>
                <a:spcPts val="1000"/>
              </a:spcAft>
              <a:buSzPct val="90000"/>
              <a:buFont typeface="+mj-lt"/>
              <a:buChar char="•"/>
            </a:pPr>
            <a:endParaRPr lang="ru-RU" sz="1900">
              <a:solidFill>
                <a:srgbClr val="2B2233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563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31D31A3-7CA9-586D-29AC-5B7A182FE2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E772B6C-98BC-92DF-0A65-01A999EF4FAA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5B4B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F279A-7F8B-9A89-BAC7-C4812C46D650}"/>
              </a:ext>
            </a:extLst>
          </p:cNvPr>
          <p:cNvSpPr txBox="1"/>
          <p:nvPr/>
        </p:nvSpPr>
        <p:spPr>
          <a:xfrm>
            <a:off x="558800" y="2286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800" b="1">
                <a:solidFill>
                  <a:srgbClr val="FFFFFF"/>
                </a:solidFill>
                <a:latin typeface="Times New Roman" panose="02020603050405020304" pitchFamily="18" charset="0"/>
              </a:rPr>
              <a:t>Задачи дипломного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650F2A-041E-BCCC-1CF0-EF1653810741}"/>
              </a:ext>
            </a:extLst>
          </p:cNvPr>
          <p:cNvSpPr txBox="1"/>
          <p:nvPr/>
        </p:nvSpPr>
        <p:spPr>
          <a:xfrm>
            <a:off x="10617200" y="3048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500">
                <a:solidFill>
                  <a:srgbClr val="C9BBDA"/>
                </a:solidFill>
                <a:latin typeface="Times New Roman" panose="02020603050405020304" pitchFamily="18" charset="0"/>
              </a:rPr>
              <a:t>3 / 9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C7425B8-AB89-DA0A-A65B-2282D4E7CF10}"/>
              </a:ext>
            </a:extLst>
          </p:cNvPr>
          <p:cNvSpPr/>
          <p:nvPr/>
        </p:nvSpPr>
        <p:spPr>
          <a:xfrm>
            <a:off x="0" y="965200"/>
            <a:ext cx="12192000" cy="76200"/>
          </a:xfrm>
          <a:prstGeom prst="rect">
            <a:avLst/>
          </a:prstGeom>
          <a:solidFill>
            <a:srgbClr val="7C9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631B7-7B1C-6650-6170-E59325444831}"/>
              </a:ext>
            </a:extLst>
          </p:cNvPr>
          <p:cNvSpPr txBox="1"/>
          <p:nvPr/>
        </p:nvSpPr>
        <p:spPr>
          <a:xfrm>
            <a:off x="914400" y="1422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700">
                <a:solidFill>
                  <a:srgbClr val="2B2233"/>
                </a:solidFill>
                <a:latin typeface="Times New Roman" panose="02020603050405020304" pitchFamily="18" charset="0"/>
              </a:rPr>
              <a:t>1. Анализ предметной области и существующих бизнес-процессов</a:t>
            </a:r>
          </a:p>
          <a:p>
            <a:r>
              <a:rPr lang="ru-RU" sz="1700">
                <a:solidFill>
                  <a:srgbClr val="2B2233"/>
                </a:solidFill>
                <a:latin typeface="Times New Roman" panose="02020603050405020304" pitchFamily="18" charset="0"/>
              </a:rPr>
              <a:t>3. Проектирование архитектуры, модели данных и интерфейса системы</a:t>
            </a:r>
          </a:p>
          <a:p>
            <a:r>
              <a:rPr lang="ru-RU" sz="1700">
                <a:solidFill>
                  <a:srgbClr val="2B2233"/>
                </a:solidFill>
                <a:latin typeface="Times New Roman" panose="02020603050405020304" pitchFamily="18" charset="0"/>
              </a:rPr>
              <a:t>5. Обеспечение безопасности информации и разграничения прав доступа</a:t>
            </a:r>
          </a:p>
          <a:p>
            <a:r>
              <a:rPr lang="ru-RU" sz="1700">
                <a:solidFill>
                  <a:srgbClr val="2B2233"/>
                </a:solidFill>
                <a:latin typeface="Times New Roman" panose="02020603050405020304" pitchFamily="18" charset="0"/>
              </a:rPr>
              <a:t>7. Описание аппаратных и программных средств функционирования системы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0E7805-8753-544A-C1F6-FB4E1F77641F}"/>
              </a:ext>
            </a:extLst>
          </p:cNvPr>
          <p:cNvSpPr txBox="1"/>
          <p:nvPr/>
        </p:nvSpPr>
        <p:spPr>
          <a:xfrm>
            <a:off x="6451600" y="1422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700">
                <a:solidFill>
                  <a:srgbClr val="2B2233"/>
                </a:solidFill>
                <a:latin typeface="Times New Roman" panose="02020603050405020304" pitchFamily="18" charset="0"/>
              </a:rPr>
              <a:t>2. Обзор и анализ существующих аналогов информационных систем</a:t>
            </a:r>
          </a:p>
          <a:p>
            <a:r>
              <a:rPr lang="ru-RU" sz="1700">
                <a:solidFill>
                  <a:srgbClr val="2B2233"/>
                </a:solidFill>
                <a:latin typeface="Times New Roman" panose="02020603050405020304" pitchFamily="18" charset="0"/>
              </a:rPr>
              <a:t>4. Разработка внутренней структуры и программирование приложения</a:t>
            </a:r>
          </a:p>
          <a:p>
            <a:r>
              <a:rPr lang="ru-RU" sz="1700">
                <a:solidFill>
                  <a:srgbClr val="2B2233"/>
                </a:solidFill>
                <a:latin typeface="Times New Roman" panose="02020603050405020304" pitchFamily="18" charset="0"/>
              </a:rPr>
              <a:t>6. Тестирование разработанного программного продукта</a:t>
            </a:r>
          </a:p>
          <a:p>
            <a:r>
              <a:rPr lang="ru-RU" sz="1700">
                <a:solidFill>
                  <a:srgbClr val="2B2233"/>
                </a:solidFill>
                <a:latin typeface="Times New Roman" panose="02020603050405020304" pitchFamily="18" charset="0"/>
              </a:rPr>
              <a:t>8. Составление инструкций для пользователей, преподавателей и администратора</a:t>
            </a:r>
          </a:p>
        </p:txBody>
      </p:sp>
    </p:spTree>
    <p:extLst>
      <p:ext uri="{BB962C8B-B14F-4D97-AF65-F5344CB8AC3E}">
        <p14:creationId xmlns:p14="http://schemas.microsoft.com/office/powerpoint/2010/main" val="1384912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1A8C184-DD6F-22E6-38D9-DE5471BC83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AD96970-1116-3B18-6455-C473F8A6C294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5B4B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9B4F06-D787-957A-BBFC-9B4695254512}"/>
              </a:ext>
            </a:extLst>
          </p:cNvPr>
          <p:cNvSpPr txBox="1"/>
          <p:nvPr/>
        </p:nvSpPr>
        <p:spPr>
          <a:xfrm>
            <a:off x="558800" y="2286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800" b="1">
                <a:solidFill>
                  <a:srgbClr val="FFFFFF"/>
                </a:solidFill>
                <a:latin typeface="Times New Roman" panose="02020603050405020304" pitchFamily="18" charset="0"/>
              </a:rPr>
              <a:t>Аналоги информационных систем дистанционного обучения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114DE8-6824-F55D-C270-070E8FFAAB66}"/>
              </a:ext>
            </a:extLst>
          </p:cNvPr>
          <p:cNvSpPr txBox="1"/>
          <p:nvPr/>
        </p:nvSpPr>
        <p:spPr>
          <a:xfrm>
            <a:off x="10617200" y="3048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500">
                <a:solidFill>
                  <a:srgbClr val="C9BBDA"/>
                </a:solidFill>
                <a:latin typeface="Times New Roman" panose="02020603050405020304" pitchFamily="18" charset="0"/>
              </a:rPr>
              <a:t>4 / 9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1ECB7F0-9905-E719-B758-074FDE817AB5}"/>
              </a:ext>
            </a:extLst>
          </p:cNvPr>
          <p:cNvSpPr/>
          <p:nvPr/>
        </p:nvSpPr>
        <p:spPr>
          <a:xfrm>
            <a:off x="0" y="965200"/>
            <a:ext cx="12192000" cy="76200"/>
          </a:xfrm>
          <a:prstGeom prst="rect">
            <a:avLst/>
          </a:prstGeom>
          <a:solidFill>
            <a:srgbClr val="7C9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63A9614-D5E6-3F76-BFC0-C4398E3E8B52}"/>
              </a:ext>
            </a:extLst>
          </p:cNvPr>
          <p:cNvSpPr/>
          <p:nvPr/>
        </p:nvSpPr>
        <p:spPr>
          <a:xfrm>
            <a:off x="558800" y="1270000"/>
            <a:ext cx="2616200" cy="3810000"/>
          </a:xfrm>
          <a:prstGeom prst="rect">
            <a:avLst/>
          </a:prstGeom>
          <a:solidFill>
            <a:srgbClr val="EDE8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760C59E-714B-6ECE-A894-CEB62BA79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346200"/>
            <a:ext cx="2463800" cy="2489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C150D3-41CA-0748-FA65-51589BEC785E}"/>
              </a:ext>
            </a:extLst>
          </p:cNvPr>
          <p:cNvSpPr txBox="1"/>
          <p:nvPr/>
        </p:nvSpPr>
        <p:spPr>
          <a:xfrm>
            <a:off x="660400" y="39116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5B4B6E"/>
                </a:solidFill>
                <a:latin typeface="Times New Roman" panose="02020603050405020304" pitchFamily="18" charset="0"/>
              </a:rPr>
              <a:t>Moodle</a:t>
            </a:r>
            <a:endParaRPr lang="ru-RU" sz="1600" b="1">
              <a:solidFill>
                <a:srgbClr val="5B4B6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42C477-4D0B-5EA0-BAD4-42C26720C00F}"/>
              </a:ext>
            </a:extLst>
          </p:cNvPr>
          <p:cNvSpPr txBox="1"/>
          <p:nvPr/>
        </p:nvSpPr>
        <p:spPr>
          <a:xfrm>
            <a:off x="660400" y="42418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B2233"/>
                </a:solidFill>
                <a:latin typeface="Times New Roman" panose="02020603050405020304" pitchFamily="18" charset="0"/>
              </a:rPr>
              <a:t>Открытый исходный код, большое сообщество, множество модулей. Сложная настройка.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21BB3E0-66F7-9697-659F-89F1FB7B67B4}"/>
              </a:ext>
            </a:extLst>
          </p:cNvPr>
          <p:cNvSpPr/>
          <p:nvPr/>
        </p:nvSpPr>
        <p:spPr>
          <a:xfrm>
            <a:off x="3378200" y="1270000"/>
            <a:ext cx="2616200" cy="3810000"/>
          </a:xfrm>
          <a:prstGeom prst="rect">
            <a:avLst/>
          </a:prstGeom>
          <a:solidFill>
            <a:srgbClr val="EDE8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089D3C1-5E13-1B5E-2E51-97C2B33679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0" y="1346200"/>
            <a:ext cx="2463800" cy="2489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5EA3057-645C-DFE8-33C0-88DB5DD43B7A}"/>
              </a:ext>
            </a:extLst>
          </p:cNvPr>
          <p:cNvSpPr txBox="1"/>
          <p:nvPr/>
        </p:nvSpPr>
        <p:spPr>
          <a:xfrm>
            <a:off x="3479800" y="39116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5B4B6E"/>
                </a:solidFill>
                <a:latin typeface="Times New Roman" panose="02020603050405020304" pitchFamily="18" charset="0"/>
              </a:rPr>
              <a:t>Google Classroom</a:t>
            </a:r>
            <a:endParaRPr lang="ru-RU" sz="1600" b="1">
              <a:solidFill>
                <a:srgbClr val="5B4B6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0364DE-0030-626B-AC6D-65A6A6BB8340}"/>
              </a:ext>
            </a:extLst>
          </p:cNvPr>
          <p:cNvSpPr txBox="1"/>
          <p:nvPr/>
        </p:nvSpPr>
        <p:spPr>
          <a:xfrm>
            <a:off x="3479800" y="42418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B2233"/>
                </a:solidFill>
                <a:latin typeface="Times New Roman" panose="02020603050405020304" pitchFamily="18" charset="0"/>
              </a:rPr>
              <a:t>Простота освоения, интеграция с документами. Мало функций и детальных отчётов.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C5CEA66-A611-9843-85F8-E2BD0B751289}"/>
              </a:ext>
            </a:extLst>
          </p:cNvPr>
          <p:cNvSpPr/>
          <p:nvPr/>
        </p:nvSpPr>
        <p:spPr>
          <a:xfrm>
            <a:off x="6197600" y="1270000"/>
            <a:ext cx="2616200" cy="3810000"/>
          </a:xfrm>
          <a:prstGeom prst="rect">
            <a:avLst/>
          </a:prstGeom>
          <a:solidFill>
            <a:srgbClr val="EDE8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9A78B51-8D79-3243-29F7-3E97417BD3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800" y="1346200"/>
            <a:ext cx="2463800" cy="24892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F3D1CE2-A030-4968-8F99-78E8447C12E6}"/>
              </a:ext>
            </a:extLst>
          </p:cNvPr>
          <p:cNvSpPr txBox="1"/>
          <p:nvPr/>
        </p:nvSpPr>
        <p:spPr>
          <a:xfrm>
            <a:off x="6299200" y="39116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5B4B6E"/>
                </a:solidFill>
                <a:latin typeface="Times New Roman" panose="02020603050405020304" pitchFamily="18" charset="0"/>
              </a:rPr>
              <a:t>iSpring Learn</a:t>
            </a:r>
            <a:endParaRPr lang="ru-RU" sz="1600" b="1">
              <a:solidFill>
                <a:srgbClr val="5B4B6E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1D3C66-405B-812E-6978-58A1F89AD39B}"/>
              </a:ext>
            </a:extLst>
          </p:cNvPr>
          <p:cNvSpPr txBox="1"/>
          <p:nvPr/>
        </p:nvSpPr>
        <p:spPr>
          <a:xfrm>
            <a:off x="6299200" y="42418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B2233"/>
                </a:solidFill>
                <a:latin typeface="Times New Roman" panose="02020603050405020304" pitchFamily="18" charset="0"/>
              </a:rPr>
              <a:t>Современный интерфейс, конструктор курсов, аналитика. Платная, только облако.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829F9D1-285F-CD8F-7993-037A294AA5F2}"/>
              </a:ext>
            </a:extLst>
          </p:cNvPr>
          <p:cNvSpPr/>
          <p:nvPr/>
        </p:nvSpPr>
        <p:spPr>
          <a:xfrm>
            <a:off x="9017000" y="1270000"/>
            <a:ext cx="2616200" cy="3810000"/>
          </a:xfrm>
          <a:prstGeom prst="rect">
            <a:avLst/>
          </a:prstGeom>
          <a:solidFill>
            <a:srgbClr val="EDE8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785364BA-444F-467E-2322-CBCF41B41C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200" y="1346200"/>
            <a:ext cx="2463800" cy="24892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9881A69-37F8-19B3-5352-610ECA4220ED}"/>
              </a:ext>
            </a:extLst>
          </p:cNvPr>
          <p:cNvSpPr txBox="1"/>
          <p:nvPr/>
        </p:nvSpPr>
        <p:spPr>
          <a:xfrm>
            <a:off x="9118600" y="39116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5B4B6E"/>
                </a:solidFill>
                <a:latin typeface="Times New Roman" panose="02020603050405020304" pitchFamily="18" charset="0"/>
              </a:rPr>
              <a:t>LMS «</a:t>
            </a:r>
            <a:r>
              <a:rPr lang="ru-RU" sz="1600" b="1">
                <a:solidFill>
                  <a:srgbClr val="5B4B6E"/>
                </a:solidFill>
                <a:latin typeface="Times New Roman" panose="02020603050405020304" pitchFamily="18" charset="0"/>
              </a:rPr>
              <a:t>АнтиТренинги»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82822C-6CFE-1547-D084-B74687EB541C}"/>
              </a:ext>
            </a:extLst>
          </p:cNvPr>
          <p:cNvSpPr txBox="1"/>
          <p:nvPr/>
        </p:nvSpPr>
        <p:spPr>
          <a:xfrm>
            <a:off x="9118600" y="42418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200">
                <a:solidFill>
                  <a:srgbClr val="2B2233"/>
                </a:solidFill>
                <a:latin typeface="Times New Roman" panose="02020603050405020304" pitchFamily="18" charset="0"/>
              </a:rPr>
              <a:t>Адаптация к российским стандартам, локальное развёртывание. Дорогая лицензия.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697D2B-1DA4-FF74-0D75-031BA1E5CE68}"/>
              </a:ext>
            </a:extLst>
          </p:cNvPr>
          <p:cNvSpPr txBox="1"/>
          <p:nvPr/>
        </p:nvSpPr>
        <p:spPr>
          <a:xfrm>
            <a:off x="558800" y="53848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6B6472"/>
                </a:solidFill>
                <a:latin typeface="Times New Roman" panose="02020603050405020304" pitchFamily="18" charset="0"/>
              </a:rPr>
              <a:t>Вывод: универсального решения, одновременно простого, функционального и недорогого, на рынке нет — разработана собственная система с загрузкой данных через XML, разделением прав доступа и формированием ведомости успеваемости.</a:t>
            </a:r>
          </a:p>
        </p:txBody>
      </p:sp>
    </p:spTree>
    <p:extLst>
      <p:ext uri="{BB962C8B-B14F-4D97-AF65-F5344CB8AC3E}">
        <p14:creationId xmlns:p14="http://schemas.microsoft.com/office/powerpoint/2010/main" val="4114094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D34D75A-63B9-3874-5BB0-F53676D620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36A1719-318E-4ED9-6E3D-A0341C39DE66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5B4B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4C689D-3409-B104-A5B1-79C48866F470}"/>
              </a:ext>
            </a:extLst>
          </p:cNvPr>
          <p:cNvSpPr txBox="1"/>
          <p:nvPr/>
        </p:nvSpPr>
        <p:spPr>
          <a:xfrm>
            <a:off x="558800" y="2286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800" b="1">
                <a:solidFill>
                  <a:srgbClr val="FFFFFF"/>
                </a:solidFill>
                <a:latin typeface="Times New Roman" panose="02020603050405020304" pitchFamily="18" charset="0"/>
              </a:rPr>
              <a:t>Схема данных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30FD79-0001-8558-DDBF-943CC18BA755}"/>
              </a:ext>
            </a:extLst>
          </p:cNvPr>
          <p:cNvSpPr txBox="1"/>
          <p:nvPr/>
        </p:nvSpPr>
        <p:spPr>
          <a:xfrm>
            <a:off x="10617200" y="3048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500">
                <a:solidFill>
                  <a:srgbClr val="C9BBDA"/>
                </a:solidFill>
                <a:latin typeface="Times New Roman" panose="02020603050405020304" pitchFamily="18" charset="0"/>
              </a:rPr>
              <a:t>5 / 9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661FD05-1403-0852-7343-FAF98F52C842}"/>
              </a:ext>
            </a:extLst>
          </p:cNvPr>
          <p:cNvSpPr/>
          <p:nvPr/>
        </p:nvSpPr>
        <p:spPr>
          <a:xfrm>
            <a:off x="0" y="965200"/>
            <a:ext cx="12192000" cy="76200"/>
          </a:xfrm>
          <a:prstGeom prst="rect">
            <a:avLst/>
          </a:prstGeom>
          <a:solidFill>
            <a:srgbClr val="7C9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DE87226-3D1E-5215-570D-72C497F8C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1168400"/>
            <a:ext cx="7467600" cy="54576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3F09DB-993D-C441-41CD-90DD92A16B6D}"/>
              </a:ext>
            </a:extLst>
          </p:cNvPr>
          <p:cNvSpPr txBox="1"/>
          <p:nvPr/>
        </p:nvSpPr>
        <p:spPr>
          <a:xfrm>
            <a:off x="8712200" y="1371600"/>
            <a:ext cx="3048000" cy="369332"/>
          </a:xfrm>
          <a:prstGeom prst="rect">
            <a:avLst/>
          </a:prstGeom>
          <a:noFill/>
        </p:spPr>
        <p:txBody>
          <a:bodyPr vert="horz" wrap="square" lIns="0" rIns="0" rtlCol="0">
            <a:noAutofit/>
          </a:bodyPr>
          <a:lstStyle/>
          <a:p>
            <a:pPr indent="330200">
              <a:spcAft>
                <a:spcPts val="1000"/>
              </a:spcAft>
              <a:buSzPct val="90000"/>
              <a:buFont typeface="+mj-lt"/>
              <a:buChar char="•"/>
            </a:pPr>
            <a:r>
              <a:rPr lang="ru-RU" sz="1400">
                <a:solidFill>
                  <a:srgbClr val="2B2233"/>
                </a:solidFill>
                <a:latin typeface="Times New Roman" panose="02020603050405020304" pitchFamily="18" charset="0"/>
              </a:rPr>
              <a:t>10 связанных таблиц: пользователи, группы, ученики, преподаватели, дисциплины, курсы, задания, записи на курсы, работы и оценки</a:t>
            </a:r>
          </a:p>
          <a:p>
            <a:pPr indent="330200">
              <a:spcAft>
                <a:spcPts val="1000"/>
              </a:spcAft>
              <a:buSzPct val="90000"/>
              <a:buFont typeface="+mj-lt"/>
              <a:buChar char="•"/>
            </a:pPr>
            <a:r>
              <a:rPr lang="ru-RU" sz="1400">
                <a:solidFill>
                  <a:srgbClr val="2B2233"/>
                </a:solidFill>
                <a:latin typeface="Times New Roman" panose="02020603050405020304" pitchFamily="18" charset="0"/>
              </a:rPr>
              <a:t>Все связи заданы внешними ключами, удаление проверяется на наличие зависимых записей</a:t>
            </a:r>
          </a:p>
          <a:p>
            <a:pPr indent="330200">
              <a:spcAft>
                <a:spcPts val="1000"/>
              </a:spcAft>
              <a:buSzPct val="90000"/>
              <a:buFont typeface="+mj-lt"/>
              <a:buChar char="•"/>
            </a:pPr>
            <a:r>
              <a:rPr lang="ru-RU" sz="1400">
                <a:solidFill>
                  <a:srgbClr val="2B2233"/>
                </a:solidFill>
                <a:latin typeface="Times New Roman" panose="02020603050405020304" pitchFamily="18" charset="0"/>
              </a:rPr>
              <a:t>Ограничения CHECK на роль пользователя, статус работы, статус записи, номер класса, максимальный и выставленный балл</a:t>
            </a:r>
          </a:p>
          <a:p>
            <a:pPr indent="330200">
              <a:spcAft>
                <a:spcPts val="1000"/>
              </a:spcAft>
              <a:buSzPct val="90000"/>
              <a:buFont typeface="+mj-lt"/>
              <a:buChar char="•"/>
            </a:pPr>
            <a:r>
              <a:rPr lang="ru-RU" sz="1400">
                <a:solidFill>
                  <a:srgbClr val="2B2233"/>
                </a:solidFill>
                <a:latin typeface="Times New Roman" panose="02020603050405020304" pitchFamily="18" charset="0"/>
              </a:rPr>
              <a:t>Логическое моделирование выполнено для схемы 3-й нормальной формы</a:t>
            </a:r>
          </a:p>
          <a:p>
            <a:pPr marL="342900" indent="-342900">
              <a:spcAft>
                <a:spcPts val="1000"/>
              </a:spcAft>
              <a:buSzPct val="90000"/>
              <a:buFont typeface="+mj-lt"/>
              <a:buChar char="•"/>
            </a:pPr>
            <a:endParaRPr lang="ru-RU" sz="1400">
              <a:solidFill>
                <a:srgbClr val="2B2233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310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03DAB82-2E62-6CF8-433F-9ED7A14E9C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33DC4C9-5194-A569-0AAC-D977BEC709FB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5B4B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769DA6-BDF9-DFC0-2D2C-082F51AB49D6}"/>
              </a:ext>
            </a:extLst>
          </p:cNvPr>
          <p:cNvSpPr txBox="1"/>
          <p:nvPr/>
        </p:nvSpPr>
        <p:spPr>
          <a:xfrm>
            <a:off x="558800" y="2286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800" b="1">
                <a:solidFill>
                  <a:srgbClr val="FFFFFF"/>
                </a:solidFill>
                <a:latin typeface="Times New Roman" panose="02020603050405020304" pitchFamily="18" charset="0"/>
              </a:rPr>
              <a:t>Виды пользователей и их возможности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C38438-D600-1B57-1740-3596565E0AA7}"/>
              </a:ext>
            </a:extLst>
          </p:cNvPr>
          <p:cNvSpPr txBox="1"/>
          <p:nvPr/>
        </p:nvSpPr>
        <p:spPr>
          <a:xfrm>
            <a:off x="10617200" y="3048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500">
                <a:solidFill>
                  <a:srgbClr val="C9BBDA"/>
                </a:solidFill>
                <a:latin typeface="Times New Roman" panose="02020603050405020304" pitchFamily="18" charset="0"/>
              </a:rPr>
              <a:t>6 / 9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C7DCC59-30B5-A905-B9BB-658FC01060BA}"/>
              </a:ext>
            </a:extLst>
          </p:cNvPr>
          <p:cNvSpPr/>
          <p:nvPr/>
        </p:nvSpPr>
        <p:spPr>
          <a:xfrm>
            <a:off x="0" y="965200"/>
            <a:ext cx="12192000" cy="76200"/>
          </a:xfrm>
          <a:prstGeom prst="rect">
            <a:avLst/>
          </a:prstGeom>
          <a:solidFill>
            <a:srgbClr val="7C9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0E12597E-6B4D-283D-4F54-4C4C4C04C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552294"/>
              </p:ext>
            </p:extLst>
          </p:nvPr>
        </p:nvGraphicFramePr>
        <p:xfrm>
          <a:off x="558800" y="1270000"/>
          <a:ext cx="110744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3892622694"/>
                    </a:ext>
                  </a:extLst>
                </a:gridCol>
                <a:gridCol w="5969000">
                  <a:extLst>
                    <a:ext uri="{9D8B030D-6E8A-4147-A177-3AD203B41FA5}">
                      <a16:colId xmlns:a16="http://schemas.microsoft.com/office/drawing/2014/main" val="3483785350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370860192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r>
                        <a:rPr lang="ru-RU" sz="15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Роль</a:t>
                      </a:r>
                    </a:p>
                  </a:txBody>
                  <a:tcPr>
                    <a:solidFill>
                      <a:srgbClr val="5B4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Возможности</a:t>
                      </a:r>
                    </a:p>
                  </a:txBody>
                  <a:tcPr>
                    <a:solidFill>
                      <a:srgbClr val="5B4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Ограничения</a:t>
                      </a:r>
                    </a:p>
                  </a:txBody>
                  <a:tcPr>
                    <a:solidFill>
                      <a:srgbClr val="5B4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459469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2B2233"/>
                          </a:solidFill>
                          <a:latin typeface="Times New Roman" panose="02020603050405020304" pitchFamily="18" charset="0"/>
                        </a:rPr>
                        <a:t>Администратор</a:t>
                      </a:r>
                    </a:p>
                  </a:txBody>
                  <a:tcPr>
                    <a:solidFill>
                      <a:srgbClr val="F3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2B2233"/>
                          </a:solidFill>
                          <a:latin typeface="Times New Roman" panose="02020603050405020304" pitchFamily="18" charset="0"/>
                        </a:rPr>
                        <a:t>Ведение справочников: пользователи, группы, дисциплины, преподаватели, курсы. Блокировка и удаление учётных записей. Импорт данных из XML. Загрузка изображений курсов.</a:t>
                      </a:r>
                    </a:p>
                  </a:txBody>
                  <a:tcPr>
                    <a:solidFill>
                      <a:srgbClr val="F3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2B2233"/>
                          </a:solidFill>
                          <a:latin typeface="Times New Roman" panose="02020603050405020304" pitchFamily="18" charset="0"/>
                        </a:rPr>
                        <a:t>Полный доступ ко всем функциям системы</a:t>
                      </a:r>
                    </a:p>
                  </a:txBody>
                  <a:tcPr>
                    <a:solidFill>
                      <a:srgbClr val="F3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584526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2B2233"/>
                          </a:solidFill>
                          <a:latin typeface="Times New Roman" panose="02020603050405020304" pitchFamily="18" charset="0"/>
                        </a:rPr>
                        <a:t>Учитель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2B2233"/>
                          </a:solidFill>
                          <a:latin typeface="Times New Roman" panose="02020603050405020304" pitchFamily="18" charset="0"/>
                        </a:rPr>
                        <a:t>Создание курсов и заданий, назначение сроков сдачи и максимального балла, проверка работ, выставление оценок с комментарием, формирование ведомости успеваемости.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2B2233"/>
                          </a:solidFill>
                          <a:latin typeface="Times New Roman" panose="02020603050405020304" pitchFamily="18" charset="0"/>
                        </a:rPr>
                        <a:t>Работа только со своими курсами и работами учеников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345415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2B2233"/>
                          </a:solidFill>
                          <a:latin typeface="Times New Roman" panose="02020603050405020304" pitchFamily="18" charset="0"/>
                        </a:rPr>
                        <a:t>Ученик</a:t>
                      </a:r>
                    </a:p>
                  </a:txBody>
                  <a:tcPr>
                    <a:solidFill>
                      <a:srgbClr val="F3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2B2233"/>
                          </a:solidFill>
                          <a:latin typeface="Times New Roman" panose="02020603050405020304" pitchFamily="18" charset="0"/>
                        </a:rPr>
                        <a:t>Просмотр доступных курсов, запись на курсы, выполнение заданий и отправка работ, просмотр собственных оценок и статуса проверки.</a:t>
                      </a:r>
                    </a:p>
                  </a:txBody>
                  <a:tcPr>
                    <a:solidFill>
                      <a:srgbClr val="F3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2B2233"/>
                          </a:solidFill>
                          <a:latin typeface="Times New Roman" panose="02020603050405020304" pitchFamily="18" charset="0"/>
                        </a:rPr>
                        <a:t>Доступ только к своим данным</a:t>
                      </a:r>
                    </a:p>
                  </a:txBody>
                  <a:tcPr>
                    <a:solidFill>
                      <a:srgbClr val="F3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8866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59F291F-2547-A1D6-B9CC-5F0119C9BF72}"/>
              </a:ext>
            </a:extLst>
          </p:cNvPr>
          <p:cNvSpPr txBox="1"/>
          <p:nvPr/>
        </p:nvSpPr>
        <p:spPr>
          <a:xfrm>
            <a:off x="558800" y="53848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6B6472"/>
                </a:solidFill>
                <a:latin typeface="Times New Roman" panose="02020603050405020304" pitchFamily="18" charset="0"/>
              </a:rPr>
              <a:t>Разграничение доступа реализовано на трёх уровнях: проверка учётных данных и активности записи при входе, определение роли и открытие соответствующего окна, ограничение набора доступных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4286820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EB14088-F80C-1339-AACE-E6DF503C60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ABF7CD1-BD89-1E84-2DEC-D38822BE10BC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5B4B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A2F99-B76F-128F-3B67-66E4C8296473}"/>
              </a:ext>
            </a:extLst>
          </p:cNvPr>
          <p:cNvSpPr txBox="1"/>
          <p:nvPr/>
        </p:nvSpPr>
        <p:spPr>
          <a:xfrm>
            <a:off x="558800" y="2286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800" b="1">
                <a:solidFill>
                  <a:srgbClr val="FFFFFF"/>
                </a:solidFill>
                <a:latin typeface="Times New Roman" panose="02020603050405020304" pitchFamily="18" charset="0"/>
              </a:rPr>
              <a:t>Используемые технологии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7A5704-3FA6-D698-BA6D-5526DE85CC42}"/>
              </a:ext>
            </a:extLst>
          </p:cNvPr>
          <p:cNvSpPr txBox="1"/>
          <p:nvPr/>
        </p:nvSpPr>
        <p:spPr>
          <a:xfrm>
            <a:off x="10617200" y="3048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500">
                <a:solidFill>
                  <a:srgbClr val="C9BBDA"/>
                </a:solidFill>
                <a:latin typeface="Times New Roman" panose="02020603050405020304" pitchFamily="18" charset="0"/>
              </a:rPr>
              <a:t>7 / 9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A1602F4-D7C3-1BA3-4E56-88DD29296DA5}"/>
              </a:ext>
            </a:extLst>
          </p:cNvPr>
          <p:cNvSpPr/>
          <p:nvPr/>
        </p:nvSpPr>
        <p:spPr>
          <a:xfrm>
            <a:off x="0" y="965200"/>
            <a:ext cx="12192000" cy="76200"/>
          </a:xfrm>
          <a:prstGeom prst="rect">
            <a:avLst/>
          </a:prstGeom>
          <a:solidFill>
            <a:srgbClr val="7C9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CDAF81F-1B0A-727C-A187-CD74D8CD9620}"/>
              </a:ext>
            </a:extLst>
          </p:cNvPr>
          <p:cNvSpPr/>
          <p:nvPr/>
        </p:nvSpPr>
        <p:spPr>
          <a:xfrm>
            <a:off x="558800" y="1346200"/>
            <a:ext cx="3492500" cy="1803400"/>
          </a:xfrm>
          <a:prstGeom prst="rect">
            <a:avLst/>
          </a:prstGeom>
          <a:solidFill>
            <a:srgbClr val="EDE8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933A7DE-F647-0D57-56F8-862C12590C80}"/>
              </a:ext>
            </a:extLst>
          </p:cNvPr>
          <p:cNvSpPr/>
          <p:nvPr/>
        </p:nvSpPr>
        <p:spPr>
          <a:xfrm>
            <a:off x="558800" y="1346200"/>
            <a:ext cx="3492500" cy="76200"/>
          </a:xfrm>
          <a:prstGeom prst="rect">
            <a:avLst/>
          </a:prstGeom>
          <a:solidFill>
            <a:srgbClr val="7C9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422EF2-11D2-C2ED-42D3-63D102471A1B}"/>
              </a:ext>
            </a:extLst>
          </p:cNvPr>
          <p:cNvSpPr txBox="1"/>
          <p:nvPr/>
        </p:nvSpPr>
        <p:spPr>
          <a:xfrm>
            <a:off x="787400" y="1600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5B4B6E"/>
                </a:solidFill>
                <a:latin typeface="Times New Roman" panose="02020603050405020304" pitchFamily="18" charset="0"/>
              </a:rPr>
              <a:t>C#</a:t>
            </a:r>
            <a:endParaRPr lang="ru-RU" sz="2000" b="1">
              <a:solidFill>
                <a:srgbClr val="5B4B6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D89F36-7FB1-33A5-5AA6-0E667C04BF2E}"/>
              </a:ext>
            </a:extLst>
          </p:cNvPr>
          <p:cNvSpPr txBox="1"/>
          <p:nvPr/>
        </p:nvSpPr>
        <p:spPr>
          <a:xfrm>
            <a:off x="787400" y="2260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2B2233"/>
                </a:solidFill>
                <a:latin typeface="Times New Roman" panose="02020603050405020304" pitchFamily="18" charset="0"/>
              </a:rPr>
              <a:t>Объектно-ориентированный язык, платформа .NET Framework 4.7.2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0BD2147-38B1-A19C-3EF9-00F8A3074E32}"/>
              </a:ext>
            </a:extLst>
          </p:cNvPr>
          <p:cNvSpPr/>
          <p:nvPr/>
        </p:nvSpPr>
        <p:spPr>
          <a:xfrm>
            <a:off x="4305300" y="1346200"/>
            <a:ext cx="3492500" cy="1803400"/>
          </a:xfrm>
          <a:prstGeom prst="rect">
            <a:avLst/>
          </a:prstGeom>
          <a:solidFill>
            <a:srgbClr val="EDE8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2A4E6FC-4A2B-CCED-D18C-357D53D8B4EB}"/>
              </a:ext>
            </a:extLst>
          </p:cNvPr>
          <p:cNvSpPr/>
          <p:nvPr/>
        </p:nvSpPr>
        <p:spPr>
          <a:xfrm>
            <a:off x="4305300" y="1346200"/>
            <a:ext cx="3492500" cy="76200"/>
          </a:xfrm>
          <a:prstGeom prst="rect">
            <a:avLst/>
          </a:prstGeom>
          <a:solidFill>
            <a:srgbClr val="7C9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E448DE-EB83-4D6B-F3CE-25B9E78369B0}"/>
              </a:ext>
            </a:extLst>
          </p:cNvPr>
          <p:cNvSpPr txBox="1"/>
          <p:nvPr/>
        </p:nvSpPr>
        <p:spPr>
          <a:xfrm>
            <a:off x="4533900" y="1600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5B4B6E"/>
                </a:solidFill>
                <a:latin typeface="Times New Roman" panose="02020603050405020304" pitchFamily="18" charset="0"/>
              </a:rPr>
              <a:t>WPF (XAML)</a:t>
            </a:r>
            <a:endParaRPr lang="ru-RU" sz="2000" b="1">
              <a:solidFill>
                <a:srgbClr val="5B4B6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F2E7C6-5C9A-3103-6010-E4C9FC1A33C6}"/>
              </a:ext>
            </a:extLst>
          </p:cNvPr>
          <p:cNvSpPr txBox="1"/>
          <p:nvPr/>
        </p:nvSpPr>
        <p:spPr>
          <a:xfrm>
            <a:off x="4533900" y="2260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2B2233"/>
                </a:solidFill>
                <a:latin typeface="Times New Roman" panose="02020603050405020304" pitchFamily="18" charset="0"/>
              </a:rPr>
              <a:t>Разработка настольного интерфейса Windows, разделение разметки и логики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0CCEE65-F341-0343-1E38-6D2D18947249}"/>
              </a:ext>
            </a:extLst>
          </p:cNvPr>
          <p:cNvSpPr/>
          <p:nvPr/>
        </p:nvSpPr>
        <p:spPr>
          <a:xfrm>
            <a:off x="8051800" y="1346200"/>
            <a:ext cx="3492500" cy="1803400"/>
          </a:xfrm>
          <a:prstGeom prst="rect">
            <a:avLst/>
          </a:prstGeom>
          <a:solidFill>
            <a:srgbClr val="EDE8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0C8CDA4-4D1A-2354-BAE3-99479F4BA77D}"/>
              </a:ext>
            </a:extLst>
          </p:cNvPr>
          <p:cNvSpPr/>
          <p:nvPr/>
        </p:nvSpPr>
        <p:spPr>
          <a:xfrm>
            <a:off x="8051800" y="1346200"/>
            <a:ext cx="3492500" cy="76200"/>
          </a:xfrm>
          <a:prstGeom prst="rect">
            <a:avLst/>
          </a:prstGeom>
          <a:solidFill>
            <a:srgbClr val="7C9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99B9D5-9354-5920-A78B-E3623ADC8F07}"/>
              </a:ext>
            </a:extLst>
          </p:cNvPr>
          <p:cNvSpPr txBox="1"/>
          <p:nvPr/>
        </p:nvSpPr>
        <p:spPr>
          <a:xfrm>
            <a:off x="8280400" y="1600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5B4B6E"/>
                </a:solidFill>
                <a:latin typeface="Times New Roman" panose="02020603050405020304" pitchFamily="18" charset="0"/>
              </a:rPr>
              <a:t>ADO.NET</a:t>
            </a:r>
            <a:endParaRPr lang="ru-RU" sz="2000" b="1">
              <a:solidFill>
                <a:srgbClr val="5B4B6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273E46-7640-F4BD-7182-877CB36F43C9}"/>
              </a:ext>
            </a:extLst>
          </p:cNvPr>
          <p:cNvSpPr txBox="1"/>
          <p:nvPr/>
        </p:nvSpPr>
        <p:spPr>
          <a:xfrm>
            <a:off x="8280400" y="2260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2B2233"/>
                </a:solidFill>
                <a:latin typeface="Times New Roman" panose="02020603050405020304" pitchFamily="18" charset="0"/>
              </a:rPr>
              <a:t>Доступ к данным через провайдер System.Data.SqlClient, параметризованные запросы и транзакции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6091DEA-22AF-2CE8-996C-FC53E669F0CA}"/>
              </a:ext>
            </a:extLst>
          </p:cNvPr>
          <p:cNvSpPr/>
          <p:nvPr/>
        </p:nvSpPr>
        <p:spPr>
          <a:xfrm>
            <a:off x="558800" y="3378200"/>
            <a:ext cx="3492500" cy="1803400"/>
          </a:xfrm>
          <a:prstGeom prst="rect">
            <a:avLst/>
          </a:prstGeom>
          <a:solidFill>
            <a:srgbClr val="EDE8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E3B34AF-5619-31B1-2686-099D93007A55}"/>
              </a:ext>
            </a:extLst>
          </p:cNvPr>
          <p:cNvSpPr/>
          <p:nvPr/>
        </p:nvSpPr>
        <p:spPr>
          <a:xfrm>
            <a:off x="558800" y="3378200"/>
            <a:ext cx="3492500" cy="76200"/>
          </a:xfrm>
          <a:prstGeom prst="rect">
            <a:avLst/>
          </a:prstGeom>
          <a:solidFill>
            <a:srgbClr val="7C9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817CBC-2EE2-7B22-6AC6-97A148D87CE8}"/>
              </a:ext>
            </a:extLst>
          </p:cNvPr>
          <p:cNvSpPr txBox="1"/>
          <p:nvPr/>
        </p:nvSpPr>
        <p:spPr>
          <a:xfrm>
            <a:off x="787400" y="3632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5B4B6E"/>
                </a:solidFill>
                <a:latin typeface="Times New Roman" panose="02020603050405020304" pitchFamily="18" charset="0"/>
              </a:rPr>
              <a:t>Microsoft SQL Server</a:t>
            </a:r>
            <a:endParaRPr lang="ru-RU" sz="2000" b="1">
              <a:solidFill>
                <a:srgbClr val="5B4B6E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C333A5-9278-43BF-414E-B2F61B25F833}"/>
              </a:ext>
            </a:extLst>
          </p:cNvPr>
          <p:cNvSpPr txBox="1"/>
          <p:nvPr/>
        </p:nvSpPr>
        <p:spPr>
          <a:xfrm>
            <a:off x="787400" y="4292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2B2233"/>
                </a:solidFill>
                <a:latin typeface="Times New Roman" panose="02020603050405020304" pitchFamily="18" charset="0"/>
              </a:rPr>
              <a:t>Хранение данных: внешние ключи, ограничения CHECK, транзакции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136FB5C-B4D6-D58D-C99D-44BC23E1CF53}"/>
              </a:ext>
            </a:extLst>
          </p:cNvPr>
          <p:cNvSpPr/>
          <p:nvPr/>
        </p:nvSpPr>
        <p:spPr>
          <a:xfrm>
            <a:off x="4305300" y="3378200"/>
            <a:ext cx="3492500" cy="1803400"/>
          </a:xfrm>
          <a:prstGeom prst="rect">
            <a:avLst/>
          </a:prstGeom>
          <a:solidFill>
            <a:srgbClr val="EDE8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179FE5F-76DB-3402-9777-9B5EFEB4664B}"/>
              </a:ext>
            </a:extLst>
          </p:cNvPr>
          <p:cNvSpPr/>
          <p:nvPr/>
        </p:nvSpPr>
        <p:spPr>
          <a:xfrm>
            <a:off x="4305300" y="3378200"/>
            <a:ext cx="3492500" cy="76200"/>
          </a:xfrm>
          <a:prstGeom prst="rect">
            <a:avLst/>
          </a:prstGeom>
          <a:solidFill>
            <a:srgbClr val="7C9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E2DF7C-2533-60D5-E4CE-ACBB13A87C23}"/>
              </a:ext>
            </a:extLst>
          </p:cNvPr>
          <p:cNvSpPr txBox="1"/>
          <p:nvPr/>
        </p:nvSpPr>
        <p:spPr>
          <a:xfrm>
            <a:off x="4533900" y="3632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5B4B6E"/>
                </a:solidFill>
                <a:latin typeface="Times New Roman" panose="02020603050405020304" pitchFamily="18" charset="0"/>
              </a:rPr>
              <a:t>Microsoft Visual Studio 2019</a:t>
            </a:r>
            <a:endParaRPr lang="ru-RU" sz="1600" b="1">
              <a:solidFill>
                <a:srgbClr val="5B4B6E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6C0D38-DBA9-DD04-3CE2-9B427339F749}"/>
              </a:ext>
            </a:extLst>
          </p:cNvPr>
          <p:cNvSpPr txBox="1"/>
          <p:nvPr/>
        </p:nvSpPr>
        <p:spPr>
          <a:xfrm>
            <a:off x="4533900" y="4292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2B2233"/>
                </a:solidFill>
                <a:latin typeface="Times New Roman" panose="02020603050405020304" pitchFamily="18" charset="0"/>
              </a:rPr>
              <a:t>Среда разработки и сопровождения программного продукта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F23FB98-86B0-51F6-D9EA-CBFD22E81A67}"/>
              </a:ext>
            </a:extLst>
          </p:cNvPr>
          <p:cNvSpPr/>
          <p:nvPr/>
        </p:nvSpPr>
        <p:spPr>
          <a:xfrm>
            <a:off x="8051800" y="3378200"/>
            <a:ext cx="3492500" cy="1803400"/>
          </a:xfrm>
          <a:prstGeom prst="rect">
            <a:avLst/>
          </a:prstGeom>
          <a:solidFill>
            <a:srgbClr val="EDE8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62AB3BF-19CF-DE17-C3E9-B0C09D3FBB22}"/>
              </a:ext>
            </a:extLst>
          </p:cNvPr>
          <p:cNvSpPr/>
          <p:nvPr/>
        </p:nvSpPr>
        <p:spPr>
          <a:xfrm>
            <a:off x="8051800" y="3378200"/>
            <a:ext cx="3492500" cy="76200"/>
          </a:xfrm>
          <a:prstGeom prst="rect">
            <a:avLst/>
          </a:prstGeom>
          <a:solidFill>
            <a:srgbClr val="7C9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685AB7-FA25-C1DC-B915-782F9FA717BB}"/>
              </a:ext>
            </a:extLst>
          </p:cNvPr>
          <p:cNvSpPr txBox="1"/>
          <p:nvPr/>
        </p:nvSpPr>
        <p:spPr>
          <a:xfrm>
            <a:off x="8280400" y="3632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5B4B6E"/>
                </a:solidFill>
                <a:latin typeface="Times New Roman" panose="02020603050405020304" pitchFamily="18" charset="0"/>
              </a:rPr>
              <a:t>PBKDF2-HMAC-SHA256</a:t>
            </a:r>
            <a:endParaRPr lang="ru-RU" sz="2000" b="1">
              <a:solidFill>
                <a:srgbClr val="5B4B6E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4E0CB8-C6E6-AC37-5DD6-93C255AC068C}"/>
              </a:ext>
            </a:extLst>
          </p:cNvPr>
          <p:cNvSpPr txBox="1"/>
          <p:nvPr/>
        </p:nvSpPr>
        <p:spPr>
          <a:xfrm>
            <a:off x="8280400" y="42926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300">
                <a:solidFill>
                  <a:srgbClr val="2B2233"/>
                </a:solidFill>
                <a:latin typeface="Times New Roman" panose="02020603050405020304" pitchFamily="18" charset="0"/>
              </a:rPr>
              <a:t>Хеширование паролей с индивидуальной солью, 100 000 итераций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6785B5-1DD2-6AD2-ECC7-84471B4BA5EE}"/>
              </a:ext>
            </a:extLst>
          </p:cNvPr>
          <p:cNvSpPr txBox="1"/>
          <p:nvPr/>
        </p:nvSpPr>
        <p:spPr>
          <a:xfrm>
            <a:off x="558800" y="54864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500">
                <a:solidFill>
                  <a:srgbClr val="6B6472"/>
                </a:solidFill>
                <a:latin typeface="Times New Roman" panose="02020603050405020304" pitchFamily="18" charset="0"/>
              </a:rPr>
              <a:t>Архитектура приложения — трёхуровневая: уровень представления (окна WPF), уровень логики (обработчики событий), уровень данных (компоненты доступа к СУБД).</a:t>
            </a:r>
          </a:p>
        </p:txBody>
      </p:sp>
    </p:spTree>
    <p:extLst>
      <p:ext uri="{BB962C8B-B14F-4D97-AF65-F5344CB8AC3E}">
        <p14:creationId xmlns:p14="http://schemas.microsoft.com/office/powerpoint/2010/main" val="2812003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EDA7084-ECED-EC2A-120A-2F15C5DD30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69D049A-2107-D007-708C-F723E50FC712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5B4B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351F1A-3026-3AC5-00E2-9CF251B8CE6B}"/>
              </a:ext>
            </a:extLst>
          </p:cNvPr>
          <p:cNvSpPr txBox="1"/>
          <p:nvPr/>
        </p:nvSpPr>
        <p:spPr>
          <a:xfrm>
            <a:off x="558800" y="2286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2800" b="1">
                <a:solidFill>
                  <a:srgbClr val="FFFFFF"/>
                </a:solidFill>
                <a:latin typeface="Times New Roman" panose="02020603050405020304" pitchFamily="18" charset="0"/>
              </a:rPr>
              <a:t>Видео приложения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A97331-38F4-778A-F4AE-4FA2141A321D}"/>
              </a:ext>
            </a:extLst>
          </p:cNvPr>
          <p:cNvSpPr txBox="1"/>
          <p:nvPr/>
        </p:nvSpPr>
        <p:spPr>
          <a:xfrm>
            <a:off x="10617200" y="3048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ru-RU" sz="1500">
                <a:solidFill>
                  <a:srgbClr val="C9BBDA"/>
                </a:solidFill>
                <a:latin typeface="Times New Roman" panose="02020603050405020304" pitchFamily="18" charset="0"/>
              </a:rPr>
              <a:t>8 / 9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840AD22-F6D5-732C-07E4-09D74245F563}"/>
              </a:ext>
            </a:extLst>
          </p:cNvPr>
          <p:cNvSpPr/>
          <p:nvPr/>
        </p:nvSpPr>
        <p:spPr>
          <a:xfrm>
            <a:off x="0" y="965200"/>
            <a:ext cx="12192000" cy="76200"/>
          </a:xfrm>
          <a:prstGeom prst="rect">
            <a:avLst/>
          </a:prstGeom>
          <a:solidFill>
            <a:srgbClr val="7C9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AFBC954-7BF9-6030-0FC3-10584E7D7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1270000"/>
            <a:ext cx="3175000" cy="2286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BECDA45-11DE-8F19-D7EC-F6DFD5F3E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0" y="1270000"/>
            <a:ext cx="3175000" cy="2286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09B4F14-2991-B3F8-7D0B-1E19C7989A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270000"/>
            <a:ext cx="3175000" cy="2286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7233F64-3314-E4D0-F21E-686F3AFF3499}"/>
              </a:ext>
            </a:extLst>
          </p:cNvPr>
          <p:cNvSpPr txBox="1"/>
          <p:nvPr/>
        </p:nvSpPr>
        <p:spPr>
          <a:xfrm>
            <a:off x="558800" y="4064000"/>
            <a:ext cx="11074400" cy="369332"/>
          </a:xfrm>
          <a:prstGeom prst="rect">
            <a:avLst/>
          </a:prstGeom>
          <a:noFill/>
        </p:spPr>
        <p:txBody>
          <a:bodyPr vert="horz" wrap="square" lIns="0" rIns="0" rtlCol="0">
            <a:noAutofit/>
          </a:bodyPr>
          <a:lstStyle/>
          <a:p>
            <a:pPr indent="330200">
              <a:spcAft>
                <a:spcPts val="1000"/>
              </a:spcAft>
              <a:buSzPct val="90000"/>
              <a:buFont typeface="+mj-lt"/>
              <a:buChar char="•"/>
            </a:pPr>
            <a:r>
              <a:rPr lang="ru-RU" sz="1600">
                <a:solidFill>
                  <a:srgbClr val="2B2233"/>
                </a:solidFill>
                <a:latin typeface="Times New Roman" panose="02020603050405020304" pitchFamily="18" charset="0"/>
              </a:rPr>
              <a:t>Вход в систему под учётной записью ученика student1 (пароль 12345)</a:t>
            </a:r>
          </a:p>
          <a:p>
            <a:pPr indent="330200">
              <a:spcAft>
                <a:spcPts val="1000"/>
              </a:spcAft>
              <a:buSzPct val="90000"/>
              <a:buFont typeface="+mj-lt"/>
              <a:buChar char="•"/>
            </a:pPr>
            <a:r>
              <a:rPr lang="ru-RU" sz="1600">
                <a:solidFill>
                  <a:srgbClr val="2B2233"/>
                </a:solidFill>
                <a:latin typeface="Times New Roman" panose="02020603050405020304" pitchFamily="18" charset="0"/>
              </a:rPr>
              <a:t>Запись на курс, просмотр заданий, отправка работы преподавателю</a:t>
            </a:r>
          </a:p>
          <a:p>
            <a:pPr indent="330200">
              <a:spcAft>
                <a:spcPts val="1000"/>
              </a:spcAft>
              <a:buSzPct val="90000"/>
              <a:buFont typeface="+mj-lt"/>
              <a:buChar char="•"/>
            </a:pPr>
            <a:r>
              <a:rPr lang="ru-RU" sz="1600">
                <a:solidFill>
                  <a:srgbClr val="2B2233"/>
                </a:solidFill>
                <a:latin typeface="Times New Roman" panose="02020603050405020304" pitchFamily="18" charset="0"/>
              </a:rPr>
              <a:t>Проверка работы учителем, выставление балла и комментария, формирование ведомости</a:t>
            </a:r>
          </a:p>
          <a:p>
            <a:pPr indent="330200">
              <a:spcAft>
                <a:spcPts val="1000"/>
              </a:spcAft>
              <a:buSzPct val="90000"/>
              <a:buFont typeface="+mj-lt"/>
              <a:buChar char="•"/>
            </a:pPr>
            <a:r>
              <a:rPr lang="ru-RU" sz="1600">
                <a:solidFill>
                  <a:srgbClr val="2B2233"/>
                </a:solidFill>
                <a:latin typeface="Times New Roman" panose="02020603050405020304" pitchFamily="18" charset="0"/>
              </a:rPr>
              <a:t>Просмотр полученной оценки в личном кабинете ученика</a:t>
            </a:r>
          </a:p>
          <a:p>
            <a:pPr marL="342900" indent="-342900">
              <a:spcAft>
                <a:spcPts val="1000"/>
              </a:spcAft>
              <a:buSzPct val="90000"/>
              <a:buFont typeface="+mj-lt"/>
              <a:buChar char="•"/>
            </a:pPr>
            <a:endParaRPr lang="ru-RU" sz="1600">
              <a:solidFill>
                <a:srgbClr val="2B2233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014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CACACDF-2687-5D34-64CD-FB7F8473F2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F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49489D0-D4F2-1CA0-0209-AB519C3E3FF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B4B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4A6E12-CACC-6E60-D8E0-751839EE81A8}"/>
              </a:ext>
            </a:extLst>
          </p:cNvPr>
          <p:cNvSpPr txBox="1"/>
          <p:nvPr/>
        </p:nvSpPr>
        <p:spPr>
          <a:xfrm>
            <a:off x="762000" y="2235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3600" b="1">
                <a:solidFill>
                  <a:srgbClr val="5B4B6E"/>
                </a:solidFill>
                <a:latin typeface="Times New Roman" panose="02020603050405020304" pitchFamily="18" charset="0"/>
              </a:rPr>
              <a:t>СПАСИБО ЗА ВНИМАНИЕ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4D3162E-81AE-5E2A-3B1F-D729576E003D}"/>
              </a:ext>
            </a:extLst>
          </p:cNvPr>
          <p:cNvSpPr/>
          <p:nvPr/>
        </p:nvSpPr>
        <p:spPr>
          <a:xfrm>
            <a:off x="762000" y="3048000"/>
            <a:ext cx="2540000" cy="50800"/>
          </a:xfrm>
          <a:prstGeom prst="rect">
            <a:avLst/>
          </a:prstGeom>
          <a:solidFill>
            <a:srgbClr val="7C9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68F73D-644F-57A7-B403-70D77DD68FDE}"/>
              </a:ext>
            </a:extLst>
          </p:cNvPr>
          <p:cNvSpPr txBox="1"/>
          <p:nvPr/>
        </p:nvSpPr>
        <p:spPr>
          <a:xfrm>
            <a:off x="762000" y="33274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900">
                <a:solidFill>
                  <a:srgbClr val="2B2233"/>
                </a:solidFill>
                <a:latin typeface="Times New Roman" panose="02020603050405020304" pitchFamily="18" charset="0"/>
              </a:rPr>
              <a:t>Готов ответить на вопросы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050BB3-E64F-A41A-3278-5F65251B782B}"/>
              </a:ext>
            </a:extLst>
          </p:cNvPr>
          <p:cNvSpPr txBox="1"/>
          <p:nvPr/>
        </p:nvSpPr>
        <p:spPr>
          <a:xfrm>
            <a:off x="762000" y="4191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6B6472"/>
                </a:solidFill>
                <a:latin typeface="Times New Roman" panose="02020603050405020304" pitchFamily="18" charset="0"/>
              </a:rPr>
              <a:t>Тема: Разработка информационной системы «Учебные курсы» для удалённого обучения школьников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0C4E1F-2E73-26FD-AA83-E72C0AE0D3DB}"/>
              </a:ext>
            </a:extLst>
          </p:cNvPr>
          <p:cNvSpPr txBox="1"/>
          <p:nvPr/>
        </p:nvSpPr>
        <p:spPr>
          <a:xfrm>
            <a:off x="762000" y="4546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6B6472"/>
                </a:solidFill>
                <a:latin typeface="Times New Roman" panose="02020603050405020304" pitchFamily="18" charset="0"/>
              </a:rPr>
              <a:t>Выполнил: Матулов А. А., группа ИС1-45        Руководитель: Васильченко М. О.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23EE30-105F-C390-888C-4E61CF0B86E6}"/>
              </a:ext>
            </a:extLst>
          </p:cNvPr>
          <p:cNvSpPr txBox="1"/>
          <p:nvPr/>
        </p:nvSpPr>
        <p:spPr>
          <a:xfrm>
            <a:off x="762000" y="57404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ru-RU" sz="1400">
                <a:solidFill>
                  <a:srgbClr val="6B6472"/>
                </a:solidFill>
                <a:latin typeface="Times New Roman" panose="02020603050405020304" pitchFamily="18" charset="0"/>
              </a:rPr>
              <a:t>Ярославль, 2026</a:t>
            </a:r>
          </a:p>
        </p:txBody>
      </p:sp>
    </p:spTree>
    <p:extLst>
      <p:ext uri="{BB962C8B-B14F-4D97-AF65-F5344CB8AC3E}">
        <p14:creationId xmlns:p14="http://schemas.microsoft.com/office/powerpoint/2010/main" val="2905240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686</Words>
  <Application>Microsoft Office PowerPoint</Application>
  <PresentationFormat>Широкоэкранный</PresentationFormat>
  <Paragraphs>86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sashahikilrety@gmail.com</dc:creator>
  <cp:lastModifiedBy>sashahikilrety@gmail.com</cp:lastModifiedBy>
  <cp:revision>1</cp:revision>
  <dcterms:created xsi:type="dcterms:W3CDTF">2026-10-27T11:20:36Z</dcterms:created>
  <dcterms:modified xsi:type="dcterms:W3CDTF">2026-10-27T11:20:36Z</dcterms:modified>
</cp:coreProperties>
</file>