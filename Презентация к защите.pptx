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94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FD490A-478A-5006-1F85-09AA7499FC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61AFEF5-D318-EB4C-182B-494F9256DC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F5626A8-7C9E-AC5D-0A45-716C0ABA0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4600A-7C73-4D61-AAC6-1A383BA0CE2F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671A0F4-FD28-58A7-F34C-83FEA6008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5DF8AF5-C14C-A481-6C8E-A67E58C4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0BC6E-28B5-43E0-97A1-E1F5E0E8A2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0281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CA57DC-E04B-26FC-B015-D5D930B39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E528881-308D-A82B-0352-8B72DFC5A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9B33320-F20D-A540-C77E-F05E79D6E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4600A-7C73-4D61-AAC6-1A383BA0CE2F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BF6E8E9-C12C-733A-68AF-EB2877FD7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FBCCA30-450E-187C-B7B6-5B6E07371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0BC6E-28B5-43E0-97A1-E1F5E0E8A2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04416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D6EF0A-8B5A-3556-57E7-00C7261FD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72E3463-012B-CD62-453C-8645C40DC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7FDF1D0-6764-D0F0-636B-BA252C368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4600A-7C73-4D61-AAC6-1A383BA0CE2F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B2361EF-459C-E21D-FB81-B61738A4D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4D12FE-EEE5-7EBC-E470-817FCE209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0BC6E-28B5-43E0-97A1-E1F5E0E8A2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8147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91CB28-0C9F-DE3F-4221-F1D131E61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EA6C0FD-4962-FD14-FF02-85D98CB918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B99F2E6-6563-02C7-F920-4B69279AA8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F4AB91F-CA6B-A923-4AC2-3451145A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4600A-7C73-4D61-AAC6-1A383BA0CE2F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ED5230E-5E0A-3C61-401F-3548562BF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A0526AB-D8A0-F7BA-7477-DFAE0BB9C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0BC6E-28B5-43E0-97A1-E1F5E0E8A2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90230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E670AF-FDA6-8E69-7060-CA10C5A3D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21403CD-B05A-99B3-CB8D-1B4B559878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DB01A31-2D8F-1740-24B5-10D555017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CC9C4EC-02E0-75BA-2DE0-5C7601B4B7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96E3BA1-CAC2-9D52-83C6-93327877F2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FF1ED640-819F-8666-809C-C7619DED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4600A-7C73-4D61-AAC6-1A383BA0CE2F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949E0BC5-7663-45F7-7122-A51CE467B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2155C73-8FA7-D8FC-7B46-F99BAD60A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0BC6E-28B5-43E0-97A1-E1F5E0E8A2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4288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A6E70E-834A-C65B-3620-88148D8BD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8FD9F28-0361-C9C1-8D75-98DA3EEEA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4600A-7C73-4D61-AAC6-1A383BA0CE2F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3AD05A3-29A9-0274-A53D-EE7B38F3F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508FE6F-4106-5E38-60B5-03EAE9FAF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0BC6E-28B5-43E0-97A1-E1F5E0E8A2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36901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6F6E1D1-8CB9-8659-18AD-CB2BECC28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4600A-7C73-4D61-AAC6-1A383BA0CE2F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BDD64C94-6134-E5FC-CF3B-8367E5A3C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5EDD1B7-C052-E9B6-ABCF-90B2C64D9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0BC6E-28B5-43E0-97A1-E1F5E0E8A2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11628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81FE4E-1746-5C25-74AD-41CA24590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A1575EE-4172-7921-13B5-9137042EF1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3CA8B9B-4929-85D3-247C-CB496E65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7C13D2D-49F2-C06C-AC40-ED4CFB35C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4600A-7C73-4D61-AAC6-1A383BA0CE2F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EE2456-970D-A7FA-A5FF-949976D54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7C8FEA4-3515-3CE6-E3A7-701DE2CDD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0BC6E-28B5-43E0-97A1-E1F5E0E8A2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8146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44AD521-9B87-AD11-F3AC-21F50242A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1EADD4C-FE9C-3BF6-2835-B4533B1ECF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551969D-FFFB-4343-73AE-BBE12094BC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F4FC320-8E24-88BE-D4AF-0F42FEF7D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4600A-7C73-4D61-AAC6-1A383BA0CE2F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C2773BB-02FD-B490-B8D2-A406FB7EB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2F4B2B3-FB57-A0D8-4278-341B8B57E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0BC6E-28B5-43E0-97A1-E1F5E0E8A2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7814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0FE199-2E5D-A08D-3710-D57B96C51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49CAC3E-A55B-43F6-F253-9BA1A67016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06CC88A-B578-7769-EE90-E6050857D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4600A-7C73-4D61-AAC6-1A383BA0CE2F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3B18C71-C664-1E6F-11C1-A3BC2B0EA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A6F8C15-7733-ED11-4477-C11BFBA13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0BC6E-28B5-43E0-97A1-E1F5E0E8A2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59905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E1F76D9-F4D7-D810-17C1-99E9303939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AF90CBF-E211-7957-8E73-D98EDB18F4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FDEF8CD-D58D-3DB7-4C13-C15F1B808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4600A-7C73-4D61-AAC6-1A383BA0CE2F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A96198E-9480-FE75-9B7C-10ADF3DF2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E390D75-CF09-6A18-D3BE-EB6E50203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0BC6E-28B5-43E0-97A1-E1F5E0E8A2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48129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A30F8C-55AC-22C5-8624-643B3DDE6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EA1579F-3FD9-90C0-E42B-BEE1E1EA05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16EE5D2-2E5D-C74A-44C6-1E04FB97EA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54600A-7C73-4D61-AAC6-1A383BA0CE2F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697D22B-886D-FB91-5760-9A01C2CC77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D22EAFB-1433-A786-8E82-CA25391F42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B0BC6E-28B5-43E0-97A1-E1F5E0E8A2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9492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86931D3-38ED-D60A-0B4D-89F7CF02ACC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1F58AB6-3449-6A5C-6279-F7FA8A6B90C7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DAD9CC8-2CBD-F982-F64C-47476664F234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2F9565-5C14-FE6C-4E29-DE270698D52A}"/>
              </a:ext>
            </a:extLst>
          </p:cNvPr>
          <p:cNvSpPr txBox="1"/>
          <p:nvPr/>
        </p:nvSpPr>
        <p:spPr>
          <a:xfrm>
            <a:off x="762000" y="6096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595959"/>
                </a:solidFill>
                <a:latin typeface="Times New Roman" panose="02020603050405020304" pitchFamily="18" charset="0"/>
              </a:rPr>
              <a:t>Государственное профессиональное образовательное учреждение Ярославской области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0AF65C-51AD-76F2-548C-D34598A46AC6}"/>
              </a:ext>
            </a:extLst>
          </p:cNvPr>
          <p:cNvSpPr txBox="1"/>
          <p:nvPr/>
        </p:nvSpPr>
        <p:spPr>
          <a:xfrm>
            <a:off x="762000" y="9144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b="1">
                <a:solidFill>
                  <a:srgbClr val="1F3864"/>
                </a:solidFill>
                <a:latin typeface="Times New Roman" panose="02020603050405020304" pitchFamily="18" charset="0"/>
              </a:rPr>
              <a:t>«Ярославский градостроительный колледж»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B0DC5E-5EC2-90CC-84C9-138BD3256297}"/>
              </a:ext>
            </a:extLst>
          </p:cNvPr>
          <p:cNvSpPr txBox="1"/>
          <p:nvPr/>
        </p:nvSpPr>
        <p:spPr>
          <a:xfrm>
            <a:off x="762000" y="13462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595959"/>
                </a:solidFill>
                <a:latin typeface="Times New Roman" panose="02020603050405020304" pitchFamily="18" charset="0"/>
              </a:rPr>
              <a:t>МДК 06.03 «Устройство и функционирование информационной системы»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0411B0F-BA1A-ED00-CD7F-46D87FD441E3}"/>
              </a:ext>
            </a:extLst>
          </p:cNvPr>
          <p:cNvSpPr/>
          <p:nvPr/>
        </p:nvSpPr>
        <p:spPr>
          <a:xfrm>
            <a:off x="762000" y="1854200"/>
            <a:ext cx="10668000" cy="12700"/>
          </a:xfrm>
          <a:prstGeom prst="rect">
            <a:avLst/>
          </a:prstGeom>
          <a:solidFill>
            <a:srgbClr val="BFC7D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10440F-5B29-1472-01CC-6A700A0BE67C}"/>
              </a:ext>
            </a:extLst>
          </p:cNvPr>
          <p:cNvSpPr txBox="1"/>
          <p:nvPr/>
        </p:nvSpPr>
        <p:spPr>
          <a:xfrm>
            <a:off x="762000" y="21082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3A5A8C"/>
                </a:solidFill>
                <a:latin typeface="Times New Roman" panose="02020603050405020304" pitchFamily="18" charset="0"/>
              </a:rPr>
              <a:t>ПРОЕКТНАЯ РАБОТА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6131AD-362E-EC50-2D77-A749038522A8}"/>
              </a:ext>
            </a:extLst>
          </p:cNvPr>
          <p:cNvSpPr txBox="1"/>
          <p:nvPr/>
        </p:nvSpPr>
        <p:spPr>
          <a:xfrm>
            <a:off x="762000" y="24638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700" b="1">
                <a:solidFill>
                  <a:srgbClr val="1F3864"/>
                </a:solidFill>
                <a:latin typeface="Times New Roman" panose="02020603050405020304" pitchFamily="18" charset="0"/>
              </a:rPr>
              <a:t>Разработка информационной системы «Учебные курсы»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5C38C3-8C18-C30A-1F65-1D319906D227}"/>
              </a:ext>
            </a:extLst>
          </p:cNvPr>
          <p:cNvSpPr txBox="1"/>
          <p:nvPr/>
        </p:nvSpPr>
        <p:spPr>
          <a:xfrm>
            <a:off x="762000" y="2946400"/>
            <a:ext cx="10668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>
                <a:solidFill>
                  <a:srgbClr val="262626"/>
                </a:solidFill>
                <a:latin typeface="Times New Roman" panose="02020603050405020304" pitchFamily="18" charset="0"/>
              </a:rPr>
              <a:t>для удалённого обучения школьников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CC29A92-6673-1C66-D469-5C4C472777CA}"/>
              </a:ext>
            </a:extLst>
          </p:cNvPr>
          <p:cNvSpPr/>
          <p:nvPr/>
        </p:nvSpPr>
        <p:spPr>
          <a:xfrm>
            <a:off x="762000" y="3708400"/>
            <a:ext cx="10668000" cy="12700"/>
          </a:xfrm>
          <a:prstGeom prst="rect">
            <a:avLst/>
          </a:prstGeom>
          <a:solidFill>
            <a:srgbClr val="BFC7D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0E15BF-522A-1F50-FF36-468F81D1BA8E}"/>
              </a:ext>
            </a:extLst>
          </p:cNvPr>
          <p:cNvSpPr txBox="1"/>
          <p:nvPr/>
        </p:nvSpPr>
        <p:spPr>
          <a:xfrm>
            <a:off x="762000" y="39624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595959"/>
                </a:solidFill>
                <a:latin typeface="Times New Roman" panose="02020603050405020304" pitchFamily="18" charset="0"/>
              </a:rPr>
              <a:t>Выполнил студент группы ИС1-45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03D1FE-30C8-DD3F-EFE8-B11F449C29B7}"/>
              </a:ext>
            </a:extLst>
          </p:cNvPr>
          <p:cNvSpPr txBox="1"/>
          <p:nvPr/>
        </p:nvSpPr>
        <p:spPr>
          <a:xfrm>
            <a:off x="762000" y="4241800"/>
            <a:ext cx="4826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200" b="1">
                <a:solidFill>
                  <a:srgbClr val="1F3864"/>
                </a:solidFill>
                <a:latin typeface="Times New Roman" panose="02020603050405020304" pitchFamily="18" charset="0"/>
              </a:rPr>
              <a:t>Матулов А. А.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B14D0A8-7F12-72B6-6BAE-6E2FE46C43B1}"/>
              </a:ext>
            </a:extLst>
          </p:cNvPr>
          <p:cNvSpPr/>
          <p:nvPr/>
        </p:nvSpPr>
        <p:spPr>
          <a:xfrm>
            <a:off x="5969000" y="3937000"/>
            <a:ext cx="12700" cy="762000"/>
          </a:xfrm>
          <a:prstGeom prst="rect">
            <a:avLst/>
          </a:prstGeom>
          <a:solidFill>
            <a:srgbClr val="BFC7D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B3E328-C11E-0327-BBB8-B5C3E95413C6}"/>
              </a:ext>
            </a:extLst>
          </p:cNvPr>
          <p:cNvSpPr txBox="1"/>
          <p:nvPr/>
        </p:nvSpPr>
        <p:spPr>
          <a:xfrm>
            <a:off x="6604000" y="39624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595959"/>
                </a:solidFill>
                <a:latin typeface="Times New Roman" panose="02020603050405020304" pitchFamily="18" charset="0"/>
              </a:rPr>
              <a:t>Руководитель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450F2C-0B14-A8F8-5744-F2495D19D046}"/>
              </a:ext>
            </a:extLst>
          </p:cNvPr>
          <p:cNvSpPr txBox="1"/>
          <p:nvPr/>
        </p:nvSpPr>
        <p:spPr>
          <a:xfrm>
            <a:off x="6604000" y="4241800"/>
            <a:ext cx="4826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200" b="1">
                <a:solidFill>
                  <a:srgbClr val="1F3864"/>
                </a:solidFill>
                <a:latin typeface="Times New Roman" panose="02020603050405020304" pitchFamily="18" charset="0"/>
              </a:rPr>
              <a:t>Васильченко М. О.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3D35D03-A9F9-6A46-0A02-84DAF32EC3F7}"/>
              </a:ext>
            </a:extLst>
          </p:cNvPr>
          <p:cNvSpPr txBox="1"/>
          <p:nvPr/>
        </p:nvSpPr>
        <p:spPr>
          <a:xfrm>
            <a:off x="762000" y="6096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595959"/>
                </a:solidFill>
                <a:latin typeface="Times New Roman" panose="02020603050405020304" pitchFamily="18" charset="0"/>
              </a:rPr>
              <a:t>Ярославль, 2026</a:t>
            </a:r>
          </a:p>
        </p:txBody>
      </p:sp>
    </p:spTree>
    <p:extLst>
      <p:ext uri="{BB962C8B-B14F-4D97-AF65-F5344CB8AC3E}">
        <p14:creationId xmlns:p14="http://schemas.microsoft.com/office/powerpoint/2010/main" val="241486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32B3DAB-BE7C-F1FC-796B-AC303B69DA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088D852-AD4F-B117-1F08-67216368AA58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622D4C-F035-9373-3942-0D58DD41B45E}"/>
              </a:ext>
            </a:extLst>
          </p:cNvPr>
          <p:cNvSpPr txBox="1"/>
          <p:nvPr/>
        </p:nvSpPr>
        <p:spPr>
          <a:xfrm>
            <a:off x="558800" y="3302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500" b="1">
                <a:solidFill>
                  <a:srgbClr val="1F3864"/>
                </a:solidFill>
                <a:latin typeface="Times New Roman" panose="02020603050405020304" pitchFamily="18" charset="0"/>
              </a:rPr>
              <a:t>Цель проектной работы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2F75BB-DDE9-CA0E-34A7-B0AE01F89087}"/>
              </a:ext>
            </a:extLst>
          </p:cNvPr>
          <p:cNvSpPr txBox="1"/>
          <p:nvPr/>
        </p:nvSpPr>
        <p:spPr>
          <a:xfrm>
            <a:off x="10617200" y="4191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>
                <a:solidFill>
                  <a:srgbClr val="595959"/>
                </a:solidFill>
                <a:latin typeface="Times New Roman" panose="02020603050405020304" pitchFamily="18" charset="0"/>
              </a:rPr>
              <a:t>2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CADFE91-A94C-EC3E-DD2A-B57A46A10CBE}"/>
              </a:ext>
            </a:extLst>
          </p:cNvPr>
          <p:cNvSpPr/>
          <p:nvPr/>
        </p:nvSpPr>
        <p:spPr>
          <a:xfrm>
            <a:off x="558800" y="939800"/>
            <a:ext cx="11074400" cy="12700"/>
          </a:xfrm>
          <a:prstGeom prst="rect">
            <a:avLst/>
          </a:prstGeom>
          <a:solidFill>
            <a:srgbClr val="BFC7D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3811DEE-3A47-07E5-DF25-495EBFCEA585}"/>
              </a:ext>
            </a:extLst>
          </p:cNvPr>
          <p:cNvSpPr/>
          <p:nvPr/>
        </p:nvSpPr>
        <p:spPr>
          <a:xfrm>
            <a:off x="558800" y="1346200"/>
            <a:ext cx="50800" cy="1549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CC978C-7170-8830-A93E-8C808764724F}"/>
              </a:ext>
            </a:extLst>
          </p:cNvPr>
          <p:cNvSpPr txBox="1"/>
          <p:nvPr/>
        </p:nvSpPr>
        <p:spPr>
          <a:xfrm>
            <a:off x="889000" y="14986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b="1">
                <a:solidFill>
                  <a:srgbClr val="1F3864"/>
                </a:solidFill>
                <a:latin typeface="Times New Roman" panose="02020603050405020304" pitchFamily="18" charset="0"/>
              </a:rPr>
              <a:t>Разработка информационной системы, обеспечивающей автоматизацию создания, сопровождения и прохождения учебных курсов для удалённого обучения школьников, а также ведение учёта учащихся, учебных групп, преподавателей, дисциплин и успеваемости.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C1FD4F-0B63-9C51-7062-6FFE47DB23FD}"/>
              </a:ext>
            </a:extLst>
          </p:cNvPr>
          <p:cNvSpPr txBox="1"/>
          <p:nvPr/>
        </p:nvSpPr>
        <p:spPr>
          <a:xfrm>
            <a:off x="812800" y="3327400"/>
            <a:ext cx="10668000" cy="369332"/>
          </a:xfrm>
          <a:prstGeom prst="rect">
            <a:avLst/>
          </a:prstGeom>
          <a:noFill/>
        </p:spPr>
        <p:txBody>
          <a:bodyPr vert="horz" wrap="square" lIns="0" rIns="0" rtlCol="0">
            <a:noAutofit/>
          </a:bodyPr>
          <a:lstStyle/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900">
                <a:solidFill>
                  <a:srgbClr val="262626"/>
                </a:solidFill>
                <a:latin typeface="Times New Roman" panose="02020603050405020304" pitchFamily="18" charset="0"/>
              </a:rPr>
              <a:t>Снижение трудоёмкости подготовки учебных курсов и заданий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900">
                <a:solidFill>
                  <a:srgbClr val="262626"/>
                </a:solidFill>
                <a:latin typeface="Times New Roman" panose="02020603050405020304" pitchFamily="18" charset="0"/>
              </a:rPr>
              <a:t>Прозрачный контроль сроков выполнения работ и формирование ведомости успеваемости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900">
                <a:solidFill>
                  <a:srgbClr val="262626"/>
                </a:solidFill>
                <a:latin typeface="Times New Roman" panose="02020603050405020304" pitchFamily="18" charset="0"/>
              </a:rPr>
              <a:t>Разграничение прав доступа между администратором, учителем и учеником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900">
                <a:solidFill>
                  <a:srgbClr val="262626"/>
                </a:solidFill>
                <a:latin typeface="Times New Roman" panose="02020603050405020304" pitchFamily="18" charset="0"/>
              </a:rPr>
              <a:t>Безопасное хранение учётных данных пользователей</a:t>
            </a:r>
          </a:p>
          <a:p>
            <a:pPr marL="457200" indent="-457200">
              <a:spcAft>
                <a:spcPts val="1000"/>
              </a:spcAft>
              <a:buSzPct val="90000"/>
              <a:buFont typeface="+mj-lt"/>
              <a:buChar char="•"/>
            </a:pPr>
            <a:endParaRPr lang="ru-RU" sz="1900">
              <a:solidFill>
                <a:srgbClr val="262626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0371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E37AD4F-3641-A521-F5A9-4BF3194253B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05017C3-CFA8-7B64-F5FF-D5708391BAAA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77A0F1-4109-01FF-2A6C-81680DA3BBAD}"/>
              </a:ext>
            </a:extLst>
          </p:cNvPr>
          <p:cNvSpPr txBox="1"/>
          <p:nvPr/>
        </p:nvSpPr>
        <p:spPr>
          <a:xfrm>
            <a:off x="558800" y="3302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500" b="1">
                <a:solidFill>
                  <a:srgbClr val="1F3864"/>
                </a:solidFill>
                <a:latin typeface="Times New Roman" panose="02020603050405020304" pitchFamily="18" charset="0"/>
              </a:rPr>
              <a:t>Задачи проектной работы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15C77B-BAB9-0AC4-0459-2398307E2F42}"/>
              </a:ext>
            </a:extLst>
          </p:cNvPr>
          <p:cNvSpPr txBox="1"/>
          <p:nvPr/>
        </p:nvSpPr>
        <p:spPr>
          <a:xfrm>
            <a:off x="10617200" y="4191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>
                <a:solidFill>
                  <a:srgbClr val="595959"/>
                </a:solidFill>
                <a:latin typeface="Times New Roman" panose="02020603050405020304" pitchFamily="18" charset="0"/>
              </a:rPr>
              <a:t>3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F490D1A-902F-A2C2-59D7-5AB66FB9B5A1}"/>
              </a:ext>
            </a:extLst>
          </p:cNvPr>
          <p:cNvSpPr/>
          <p:nvPr/>
        </p:nvSpPr>
        <p:spPr>
          <a:xfrm>
            <a:off x="558800" y="939800"/>
            <a:ext cx="11074400" cy="12700"/>
          </a:xfrm>
          <a:prstGeom prst="rect">
            <a:avLst/>
          </a:prstGeom>
          <a:solidFill>
            <a:srgbClr val="BFC7D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1712DE-DEA4-A305-AA33-C4A7D3F17454}"/>
              </a:ext>
            </a:extLst>
          </p:cNvPr>
          <p:cNvSpPr txBox="1"/>
          <p:nvPr/>
        </p:nvSpPr>
        <p:spPr>
          <a:xfrm>
            <a:off x="914400" y="14986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600"/>
              </a:spcAft>
            </a:pPr>
            <a:r>
              <a:rPr lang="ru-RU">
                <a:solidFill>
                  <a:srgbClr val="262626"/>
                </a:solidFill>
                <a:latin typeface="Times New Roman" panose="02020603050405020304" pitchFamily="18" charset="0"/>
              </a:rPr>
              <a:t>1. Анализ предметной области и существующих бизнес-процессов</a:t>
            </a:r>
          </a:p>
          <a:p>
            <a:pPr>
              <a:spcAft>
                <a:spcPts val="1600"/>
              </a:spcAft>
            </a:pPr>
            <a:r>
              <a:rPr lang="ru-RU">
                <a:solidFill>
                  <a:srgbClr val="262626"/>
                </a:solidFill>
                <a:latin typeface="Times New Roman" panose="02020603050405020304" pitchFamily="18" charset="0"/>
              </a:rPr>
              <a:t>3. Проектирование архитектуры, модели данных и интерфейса системы</a:t>
            </a:r>
          </a:p>
          <a:p>
            <a:pPr>
              <a:spcAft>
                <a:spcPts val="1600"/>
              </a:spcAft>
            </a:pPr>
            <a:r>
              <a:rPr lang="ru-RU">
                <a:solidFill>
                  <a:srgbClr val="262626"/>
                </a:solidFill>
                <a:latin typeface="Times New Roman" panose="02020603050405020304" pitchFamily="18" charset="0"/>
              </a:rPr>
              <a:t>5. Обеспечение безопасности информации и разграничения прав доступа</a:t>
            </a:r>
          </a:p>
          <a:p>
            <a:pPr>
              <a:spcAft>
                <a:spcPts val="1600"/>
              </a:spcAft>
            </a:pPr>
            <a:r>
              <a:rPr lang="ru-RU">
                <a:solidFill>
                  <a:srgbClr val="262626"/>
                </a:solidFill>
                <a:latin typeface="Times New Roman" panose="02020603050405020304" pitchFamily="18" charset="0"/>
              </a:rPr>
              <a:t>7. Описание аппаратных и программных средств функционирования системы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C009AA-0A69-9898-EA2E-EBA3FC0F7EFD}"/>
              </a:ext>
            </a:extLst>
          </p:cNvPr>
          <p:cNvSpPr txBox="1"/>
          <p:nvPr/>
        </p:nvSpPr>
        <p:spPr>
          <a:xfrm>
            <a:off x="6451600" y="14986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600"/>
              </a:spcAft>
            </a:pPr>
            <a:r>
              <a:rPr lang="ru-RU">
                <a:solidFill>
                  <a:srgbClr val="262626"/>
                </a:solidFill>
                <a:latin typeface="Times New Roman" panose="02020603050405020304" pitchFamily="18" charset="0"/>
              </a:rPr>
              <a:t>2. Обзор и анализ существующих аналогов информационных систем</a:t>
            </a:r>
          </a:p>
          <a:p>
            <a:pPr>
              <a:spcAft>
                <a:spcPts val="1600"/>
              </a:spcAft>
            </a:pPr>
            <a:r>
              <a:rPr lang="ru-RU">
                <a:solidFill>
                  <a:srgbClr val="262626"/>
                </a:solidFill>
                <a:latin typeface="Times New Roman" panose="02020603050405020304" pitchFamily="18" charset="0"/>
              </a:rPr>
              <a:t>4. Разработка внутренней структуры и программирование приложения</a:t>
            </a:r>
          </a:p>
          <a:p>
            <a:pPr>
              <a:spcAft>
                <a:spcPts val="1600"/>
              </a:spcAft>
            </a:pPr>
            <a:r>
              <a:rPr lang="ru-RU">
                <a:solidFill>
                  <a:srgbClr val="262626"/>
                </a:solidFill>
                <a:latin typeface="Times New Roman" panose="02020603050405020304" pitchFamily="18" charset="0"/>
              </a:rPr>
              <a:t>6. Тестирование разработанного программного продукта</a:t>
            </a:r>
          </a:p>
          <a:p>
            <a:pPr>
              <a:spcAft>
                <a:spcPts val="1600"/>
              </a:spcAft>
            </a:pPr>
            <a:r>
              <a:rPr lang="ru-RU">
                <a:solidFill>
                  <a:srgbClr val="262626"/>
                </a:solidFill>
                <a:latin typeface="Times New Roman" panose="02020603050405020304" pitchFamily="18" charset="0"/>
              </a:rPr>
              <a:t>8. Составление инструкций для пользователей, преподавателей и администратора</a:t>
            </a:r>
          </a:p>
        </p:txBody>
      </p:sp>
    </p:spTree>
    <p:extLst>
      <p:ext uri="{BB962C8B-B14F-4D97-AF65-F5344CB8AC3E}">
        <p14:creationId xmlns:p14="http://schemas.microsoft.com/office/powerpoint/2010/main" val="2375888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E52E88F-534A-D146-003E-0F3FE902C3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CB055A1-A02B-A93D-1C83-695CFF2A72F6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330423-8A8E-9827-C468-330F7F7A70EF}"/>
              </a:ext>
            </a:extLst>
          </p:cNvPr>
          <p:cNvSpPr txBox="1"/>
          <p:nvPr/>
        </p:nvSpPr>
        <p:spPr>
          <a:xfrm>
            <a:off x="558800" y="3302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500" b="1">
                <a:solidFill>
                  <a:srgbClr val="1F3864"/>
                </a:solidFill>
                <a:latin typeface="Times New Roman" panose="02020603050405020304" pitchFamily="18" charset="0"/>
              </a:rPr>
              <a:t>Аналоги информационных систем дистанционного обучения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0BEC53-DA9A-6D7E-0EC6-D2EAEA423435}"/>
              </a:ext>
            </a:extLst>
          </p:cNvPr>
          <p:cNvSpPr txBox="1"/>
          <p:nvPr/>
        </p:nvSpPr>
        <p:spPr>
          <a:xfrm>
            <a:off x="10617200" y="4191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>
                <a:solidFill>
                  <a:srgbClr val="595959"/>
                </a:solidFill>
                <a:latin typeface="Times New Roman" panose="02020603050405020304" pitchFamily="18" charset="0"/>
              </a:rPr>
              <a:t>4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47AC6C5-2220-2B63-C153-F9E47D03A82E}"/>
              </a:ext>
            </a:extLst>
          </p:cNvPr>
          <p:cNvSpPr/>
          <p:nvPr/>
        </p:nvSpPr>
        <p:spPr>
          <a:xfrm>
            <a:off x="558800" y="939800"/>
            <a:ext cx="11074400" cy="12700"/>
          </a:xfrm>
          <a:prstGeom prst="rect">
            <a:avLst/>
          </a:prstGeom>
          <a:solidFill>
            <a:srgbClr val="BFC7D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BB090D0-04ED-4647-B4F8-C73B2F7F42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320800"/>
            <a:ext cx="2463800" cy="2413000"/>
          </a:xfrm>
          <a:prstGeom prst="rect">
            <a:avLst/>
          </a:prstGeom>
          <a:ln w="9525">
            <a:solidFill>
              <a:srgbClr val="BFC7D1"/>
            </a:solidFill>
          </a:ln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8F59460-A366-C20F-24DE-F50BC0559E8F}"/>
              </a:ext>
            </a:extLst>
          </p:cNvPr>
          <p:cNvSpPr/>
          <p:nvPr/>
        </p:nvSpPr>
        <p:spPr>
          <a:xfrm>
            <a:off x="635000" y="3886200"/>
            <a:ext cx="2463800" cy="12700"/>
          </a:xfrm>
          <a:prstGeom prst="rect">
            <a:avLst/>
          </a:prstGeom>
          <a:solidFill>
            <a:srgbClr val="BFC7D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548CAF-9356-43F0-5072-7146F754EF3B}"/>
              </a:ext>
            </a:extLst>
          </p:cNvPr>
          <p:cNvSpPr txBox="1"/>
          <p:nvPr/>
        </p:nvSpPr>
        <p:spPr>
          <a:xfrm>
            <a:off x="635000" y="3987800"/>
            <a:ext cx="2463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1F3864"/>
                </a:solidFill>
                <a:latin typeface="Times New Roman" panose="02020603050405020304" pitchFamily="18" charset="0"/>
              </a:rPr>
              <a:t>Moodle</a:t>
            </a:r>
            <a:endParaRPr lang="ru-RU" sz="150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7A0D2C-A01D-613D-759E-C660F24BF14D}"/>
              </a:ext>
            </a:extLst>
          </p:cNvPr>
          <p:cNvSpPr txBox="1"/>
          <p:nvPr/>
        </p:nvSpPr>
        <p:spPr>
          <a:xfrm>
            <a:off x="635000" y="4343400"/>
            <a:ext cx="2463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595959"/>
                </a:solidFill>
                <a:latin typeface="Times New Roman" panose="02020603050405020304" pitchFamily="18" charset="0"/>
              </a:rPr>
              <a:t>Открытый исходный код, большое сообщество, множество модулей. Сложная настройка.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5F2238B5-17E1-2E22-077E-77EA98FE63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00" y="1320800"/>
            <a:ext cx="2463800" cy="2413000"/>
          </a:xfrm>
          <a:prstGeom prst="rect">
            <a:avLst/>
          </a:prstGeom>
          <a:ln w="9525">
            <a:solidFill>
              <a:srgbClr val="BFC7D1"/>
            </a:solidFill>
          </a:ln>
        </p:spPr>
      </p:pic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F1D6A5E-9354-BECC-F830-7B64538D9E65}"/>
              </a:ext>
            </a:extLst>
          </p:cNvPr>
          <p:cNvSpPr/>
          <p:nvPr/>
        </p:nvSpPr>
        <p:spPr>
          <a:xfrm>
            <a:off x="3454400" y="3886200"/>
            <a:ext cx="2463800" cy="12700"/>
          </a:xfrm>
          <a:prstGeom prst="rect">
            <a:avLst/>
          </a:prstGeom>
          <a:solidFill>
            <a:srgbClr val="BFC7D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CD40E1-AB56-6954-D366-A33721A12C70}"/>
              </a:ext>
            </a:extLst>
          </p:cNvPr>
          <p:cNvSpPr txBox="1"/>
          <p:nvPr/>
        </p:nvSpPr>
        <p:spPr>
          <a:xfrm>
            <a:off x="3454400" y="3987800"/>
            <a:ext cx="2463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1F3864"/>
                </a:solidFill>
                <a:latin typeface="Times New Roman" panose="02020603050405020304" pitchFamily="18" charset="0"/>
              </a:rPr>
              <a:t>Google Classroom</a:t>
            </a:r>
            <a:endParaRPr lang="ru-RU" sz="150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5FF7EC-117E-90F6-D2F8-CAF4729E3BDE}"/>
              </a:ext>
            </a:extLst>
          </p:cNvPr>
          <p:cNvSpPr txBox="1"/>
          <p:nvPr/>
        </p:nvSpPr>
        <p:spPr>
          <a:xfrm>
            <a:off x="3454400" y="4343400"/>
            <a:ext cx="2463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595959"/>
                </a:solidFill>
                <a:latin typeface="Times New Roman" panose="02020603050405020304" pitchFamily="18" charset="0"/>
              </a:rPr>
              <a:t>Простота освоения, интеграция с документами. Мало функций и детальных отчётов.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938A7D97-BAB1-25B4-501B-8ECF180AE0D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3800" y="1320800"/>
            <a:ext cx="2463800" cy="2413000"/>
          </a:xfrm>
          <a:prstGeom prst="rect">
            <a:avLst/>
          </a:prstGeom>
          <a:ln w="9525">
            <a:solidFill>
              <a:srgbClr val="BFC7D1"/>
            </a:solidFill>
          </a:ln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ADE7B327-6CF3-FF16-BA95-5DAA6DF67B08}"/>
              </a:ext>
            </a:extLst>
          </p:cNvPr>
          <p:cNvSpPr/>
          <p:nvPr/>
        </p:nvSpPr>
        <p:spPr>
          <a:xfrm>
            <a:off x="6273800" y="3886200"/>
            <a:ext cx="2463800" cy="12700"/>
          </a:xfrm>
          <a:prstGeom prst="rect">
            <a:avLst/>
          </a:prstGeom>
          <a:solidFill>
            <a:srgbClr val="BFC7D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933461-01FA-AF47-A6CA-E08D56DDB846}"/>
              </a:ext>
            </a:extLst>
          </p:cNvPr>
          <p:cNvSpPr txBox="1"/>
          <p:nvPr/>
        </p:nvSpPr>
        <p:spPr>
          <a:xfrm>
            <a:off x="6273800" y="3987800"/>
            <a:ext cx="2463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1F3864"/>
                </a:solidFill>
                <a:latin typeface="Times New Roman" panose="02020603050405020304" pitchFamily="18" charset="0"/>
              </a:rPr>
              <a:t>iSpring Learn</a:t>
            </a:r>
            <a:endParaRPr lang="ru-RU" sz="150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8CE052B-00A7-A9D0-F939-EE0746A39E53}"/>
              </a:ext>
            </a:extLst>
          </p:cNvPr>
          <p:cNvSpPr txBox="1"/>
          <p:nvPr/>
        </p:nvSpPr>
        <p:spPr>
          <a:xfrm>
            <a:off x="6273800" y="4343400"/>
            <a:ext cx="2463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595959"/>
                </a:solidFill>
                <a:latin typeface="Times New Roman" panose="02020603050405020304" pitchFamily="18" charset="0"/>
              </a:rPr>
              <a:t>Современный интерфейс, конструктор курсов, аналитика. Платная, только облако.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4499200A-A197-368C-6C0E-74A14D2E05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3200" y="1320800"/>
            <a:ext cx="2463800" cy="2413000"/>
          </a:xfrm>
          <a:prstGeom prst="rect">
            <a:avLst/>
          </a:prstGeom>
          <a:ln w="9525">
            <a:solidFill>
              <a:srgbClr val="BFC7D1"/>
            </a:solidFill>
          </a:ln>
        </p:spPr>
      </p:pic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7D508C2-12C4-079B-D718-949BBA8CFA28}"/>
              </a:ext>
            </a:extLst>
          </p:cNvPr>
          <p:cNvSpPr/>
          <p:nvPr/>
        </p:nvSpPr>
        <p:spPr>
          <a:xfrm>
            <a:off x="9093200" y="3886200"/>
            <a:ext cx="2463800" cy="12700"/>
          </a:xfrm>
          <a:prstGeom prst="rect">
            <a:avLst/>
          </a:prstGeom>
          <a:solidFill>
            <a:srgbClr val="BFC7D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5AC6F1A-1C50-83DF-4AC1-DCDC2D38C1E3}"/>
              </a:ext>
            </a:extLst>
          </p:cNvPr>
          <p:cNvSpPr txBox="1"/>
          <p:nvPr/>
        </p:nvSpPr>
        <p:spPr>
          <a:xfrm>
            <a:off x="9093200" y="3987800"/>
            <a:ext cx="2463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1F3864"/>
                </a:solidFill>
                <a:latin typeface="Times New Roman" panose="02020603050405020304" pitchFamily="18" charset="0"/>
              </a:rPr>
              <a:t>LMS «</a:t>
            </a:r>
            <a:r>
              <a:rPr lang="ru-RU" sz="1500" b="1">
                <a:solidFill>
                  <a:srgbClr val="1F3864"/>
                </a:solidFill>
                <a:latin typeface="Times New Roman" panose="02020603050405020304" pitchFamily="18" charset="0"/>
              </a:rPr>
              <a:t>АнтиТренинги»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598DD73-6D87-0C26-BE99-96853072745F}"/>
              </a:ext>
            </a:extLst>
          </p:cNvPr>
          <p:cNvSpPr txBox="1"/>
          <p:nvPr/>
        </p:nvSpPr>
        <p:spPr>
          <a:xfrm>
            <a:off x="9093200" y="4343400"/>
            <a:ext cx="2463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595959"/>
                </a:solidFill>
                <a:latin typeface="Times New Roman" panose="02020603050405020304" pitchFamily="18" charset="0"/>
              </a:rPr>
              <a:t>Адаптация к российским стандартам, локальное развёртывание. Дорогая лицензия.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57A0FE4-5EEE-41F0-60E4-E70CDC1A5F2A}"/>
              </a:ext>
            </a:extLst>
          </p:cNvPr>
          <p:cNvSpPr txBox="1"/>
          <p:nvPr/>
        </p:nvSpPr>
        <p:spPr>
          <a:xfrm>
            <a:off x="558800" y="5461000"/>
            <a:ext cx="11074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595959"/>
                </a:solidFill>
                <a:latin typeface="Times New Roman" panose="02020603050405020304" pitchFamily="18" charset="0"/>
              </a:rPr>
              <a:t>Вывод: универсального решения, одновременно простого, функционального и недорогого, на рынке нет — разработана собственная система с загрузкой данных через XML, разделением прав доступа и формированием ведомости успеваемости.</a:t>
            </a:r>
          </a:p>
        </p:txBody>
      </p:sp>
    </p:spTree>
    <p:extLst>
      <p:ext uri="{BB962C8B-B14F-4D97-AF65-F5344CB8AC3E}">
        <p14:creationId xmlns:p14="http://schemas.microsoft.com/office/powerpoint/2010/main" val="3988333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2388600-08B7-E9D4-B4C0-553AAF50CCC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5C01306-0E5C-7405-C4BA-A53741673C9C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1FBE69-8449-6A9D-BF23-AE5C431FEBFB}"/>
              </a:ext>
            </a:extLst>
          </p:cNvPr>
          <p:cNvSpPr txBox="1"/>
          <p:nvPr/>
        </p:nvSpPr>
        <p:spPr>
          <a:xfrm>
            <a:off x="558800" y="3302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500" b="1">
                <a:solidFill>
                  <a:srgbClr val="1F3864"/>
                </a:solidFill>
                <a:latin typeface="Times New Roman" panose="02020603050405020304" pitchFamily="18" charset="0"/>
              </a:rPr>
              <a:t>Схема данных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D3BA85-431E-EFD9-4D2E-E87C259D0D98}"/>
              </a:ext>
            </a:extLst>
          </p:cNvPr>
          <p:cNvSpPr txBox="1"/>
          <p:nvPr/>
        </p:nvSpPr>
        <p:spPr>
          <a:xfrm>
            <a:off x="10617200" y="4191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>
                <a:solidFill>
                  <a:srgbClr val="595959"/>
                </a:solidFill>
                <a:latin typeface="Times New Roman" panose="02020603050405020304" pitchFamily="18" charset="0"/>
              </a:rPr>
              <a:t>5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1CAEEC9-9578-0F33-42A6-B7B2977AC23D}"/>
              </a:ext>
            </a:extLst>
          </p:cNvPr>
          <p:cNvSpPr/>
          <p:nvPr/>
        </p:nvSpPr>
        <p:spPr>
          <a:xfrm>
            <a:off x="558800" y="939800"/>
            <a:ext cx="11074400" cy="12700"/>
          </a:xfrm>
          <a:prstGeom prst="rect">
            <a:avLst/>
          </a:prstGeom>
          <a:solidFill>
            <a:srgbClr val="BFC7D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35F7589-E5EE-B205-351E-7E81319E84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800" y="1168400"/>
            <a:ext cx="7467600" cy="545762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E111361-922D-E8BE-16EA-567B31A5A341}"/>
              </a:ext>
            </a:extLst>
          </p:cNvPr>
          <p:cNvSpPr txBox="1"/>
          <p:nvPr/>
        </p:nvSpPr>
        <p:spPr>
          <a:xfrm>
            <a:off x="8712200" y="1371600"/>
            <a:ext cx="3048000" cy="369332"/>
          </a:xfrm>
          <a:prstGeom prst="rect">
            <a:avLst/>
          </a:prstGeom>
          <a:noFill/>
        </p:spPr>
        <p:txBody>
          <a:bodyPr vert="horz" wrap="square" lIns="0" rIns="0" rtlCol="0">
            <a:noAutofit/>
          </a:bodyPr>
          <a:lstStyle/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400">
                <a:solidFill>
                  <a:srgbClr val="262626"/>
                </a:solidFill>
                <a:latin typeface="Times New Roman" panose="02020603050405020304" pitchFamily="18" charset="0"/>
              </a:rPr>
              <a:t>10 связанных таблиц: пользователи, группы, ученики, преподаватели, дисциплины, курсы, задания, записи на курсы, работы и оценки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400">
                <a:solidFill>
                  <a:srgbClr val="262626"/>
                </a:solidFill>
                <a:latin typeface="Times New Roman" panose="02020603050405020304" pitchFamily="18" charset="0"/>
              </a:rPr>
              <a:t>Все связи заданы внешними ключами, удаление проверяется на наличие зависимых записей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400">
                <a:solidFill>
                  <a:srgbClr val="262626"/>
                </a:solidFill>
                <a:latin typeface="Times New Roman" panose="02020603050405020304" pitchFamily="18" charset="0"/>
              </a:rPr>
              <a:t>Ограничения CHECK на роль пользователя, статус работы, статус записи, номер класса, максимальный и выставленный балл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400">
                <a:solidFill>
                  <a:srgbClr val="262626"/>
                </a:solidFill>
                <a:latin typeface="Times New Roman" panose="02020603050405020304" pitchFamily="18" charset="0"/>
              </a:rPr>
              <a:t>Логическое моделирование выполнено для схемы 3-й нормальной формы</a:t>
            </a:r>
          </a:p>
          <a:p>
            <a:pPr marL="342900" indent="-342900">
              <a:spcAft>
                <a:spcPts val="1000"/>
              </a:spcAft>
              <a:buSzPct val="90000"/>
              <a:buFont typeface="+mj-lt"/>
              <a:buChar char="•"/>
            </a:pPr>
            <a:endParaRPr lang="ru-RU" sz="1400">
              <a:solidFill>
                <a:srgbClr val="262626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59225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3F5525D-2FF1-E00D-1244-CF27075F42E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F5A8707-DDEB-6480-D6AC-EEE00A082988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31ED4E-2044-3DAD-2250-A61E206C0831}"/>
              </a:ext>
            </a:extLst>
          </p:cNvPr>
          <p:cNvSpPr txBox="1"/>
          <p:nvPr/>
        </p:nvSpPr>
        <p:spPr>
          <a:xfrm>
            <a:off x="558800" y="3302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500" b="1">
                <a:solidFill>
                  <a:srgbClr val="1F3864"/>
                </a:solidFill>
                <a:latin typeface="Times New Roman" panose="02020603050405020304" pitchFamily="18" charset="0"/>
              </a:rPr>
              <a:t>Виды пользователей и их возможности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7ACBAD-2C27-7CE4-DDE5-EB0F0D7728AA}"/>
              </a:ext>
            </a:extLst>
          </p:cNvPr>
          <p:cNvSpPr txBox="1"/>
          <p:nvPr/>
        </p:nvSpPr>
        <p:spPr>
          <a:xfrm>
            <a:off x="10617200" y="4191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>
                <a:solidFill>
                  <a:srgbClr val="595959"/>
                </a:solidFill>
                <a:latin typeface="Times New Roman" panose="02020603050405020304" pitchFamily="18" charset="0"/>
              </a:rPr>
              <a:t>6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AC235AEF-A085-06E5-595A-BCF0030AEF03}"/>
              </a:ext>
            </a:extLst>
          </p:cNvPr>
          <p:cNvSpPr/>
          <p:nvPr/>
        </p:nvSpPr>
        <p:spPr>
          <a:xfrm>
            <a:off x="558800" y="939800"/>
            <a:ext cx="11074400" cy="12700"/>
          </a:xfrm>
          <a:prstGeom prst="rect">
            <a:avLst/>
          </a:prstGeom>
          <a:solidFill>
            <a:srgbClr val="BFC7D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8FCF2EB-8E1A-9C05-360D-9882D154F015}"/>
              </a:ext>
            </a:extLst>
          </p:cNvPr>
          <p:cNvSpPr/>
          <p:nvPr/>
        </p:nvSpPr>
        <p:spPr>
          <a:xfrm>
            <a:off x="558800" y="1270000"/>
            <a:ext cx="2413000" cy="406400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3A0962-2DC4-DD5B-C485-7E287B50AC8E}"/>
              </a:ext>
            </a:extLst>
          </p:cNvPr>
          <p:cNvSpPr txBox="1"/>
          <p:nvPr/>
        </p:nvSpPr>
        <p:spPr>
          <a:xfrm>
            <a:off x="685800" y="1358900"/>
            <a:ext cx="215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FFFFFF"/>
                </a:solidFill>
                <a:latin typeface="Times New Roman" panose="02020603050405020304" pitchFamily="18" charset="0"/>
              </a:rPr>
              <a:t>Роль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6C623701-DD89-0940-B860-29659D365A51}"/>
              </a:ext>
            </a:extLst>
          </p:cNvPr>
          <p:cNvSpPr/>
          <p:nvPr/>
        </p:nvSpPr>
        <p:spPr>
          <a:xfrm>
            <a:off x="2971800" y="1270000"/>
            <a:ext cx="5969000" cy="406400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CC82AD-DA3D-D333-306F-9216FD443B9A}"/>
              </a:ext>
            </a:extLst>
          </p:cNvPr>
          <p:cNvSpPr txBox="1"/>
          <p:nvPr/>
        </p:nvSpPr>
        <p:spPr>
          <a:xfrm>
            <a:off x="3098800" y="1358900"/>
            <a:ext cx="571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FFFFFF"/>
                </a:solidFill>
                <a:latin typeface="Times New Roman" panose="02020603050405020304" pitchFamily="18" charset="0"/>
              </a:rPr>
              <a:t>Возможности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4F3F1A98-CF51-EF44-CCAF-8EEB81D6493A}"/>
              </a:ext>
            </a:extLst>
          </p:cNvPr>
          <p:cNvSpPr/>
          <p:nvPr/>
        </p:nvSpPr>
        <p:spPr>
          <a:xfrm>
            <a:off x="8940800" y="1270000"/>
            <a:ext cx="2692400" cy="406400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56C8D2-0DB0-DA56-B260-3FEC03E79DA4}"/>
              </a:ext>
            </a:extLst>
          </p:cNvPr>
          <p:cNvSpPr txBox="1"/>
          <p:nvPr/>
        </p:nvSpPr>
        <p:spPr>
          <a:xfrm>
            <a:off x="9067800" y="1358900"/>
            <a:ext cx="2438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FFFFFF"/>
                </a:solidFill>
                <a:latin typeface="Times New Roman" panose="02020603050405020304" pitchFamily="18" charset="0"/>
              </a:rPr>
              <a:t>Ограничения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0B9C168-2980-4F4C-3510-194A6C63991F}"/>
              </a:ext>
            </a:extLst>
          </p:cNvPr>
          <p:cNvSpPr/>
          <p:nvPr/>
        </p:nvSpPr>
        <p:spPr>
          <a:xfrm>
            <a:off x="558800" y="1676400"/>
            <a:ext cx="2413000" cy="1016000"/>
          </a:xfrm>
          <a:prstGeom prst="rect">
            <a:avLst/>
          </a:prstGeom>
          <a:solidFill>
            <a:srgbClr val="FFFFFF"/>
          </a:solidFill>
          <a:ln>
            <a:solidFill>
              <a:srgbClr val="BFC7D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9E07CF-88D7-A6A7-3B64-E3C77898738E}"/>
              </a:ext>
            </a:extLst>
          </p:cNvPr>
          <p:cNvSpPr txBox="1"/>
          <p:nvPr/>
        </p:nvSpPr>
        <p:spPr>
          <a:xfrm>
            <a:off x="685800" y="1790700"/>
            <a:ext cx="215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b="1">
                <a:solidFill>
                  <a:srgbClr val="262626"/>
                </a:solidFill>
                <a:latin typeface="Times New Roman" panose="02020603050405020304" pitchFamily="18" charset="0"/>
              </a:rPr>
              <a:t>Администратор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58E217D-651A-A6B4-2BBE-942D8B72E3D4}"/>
              </a:ext>
            </a:extLst>
          </p:cNvPr>
          <p:cNvSpPr/>
          <p:nvPr/>
        </p:nvSpPr>
        <p:spPr>
          <a:xfrm>
            <a:off x="2971800" y="1676400"/>
            <a:ext cx="5969000" cy="1016000"/>
          </a:xfrm>
          <a:prstGeom prst="rect">
            <a:avLst/>
          </a:prstGeom>
          <a:solidFill>
            <a:srgbClr val="FFFFFF"/>
          </a:solidFill>
          <a:ln>
            <a:solidFill>
              <a:srgbClr val="BFC7D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01759D-9969-8686-24CF-F2A802338A2B}"/>
              </a:ext>
            </a:extLst>
          </p:cNvPr>
          <p:cNvSpPr txBox="1"/>
          <p:nvPr/>
        </p:nvSpPr>
        <p:spPr>
          <a:xfrm>
            <a:off x="3098800" y="1790700"/>
            <a:ext cx="571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Ведение справочников: пользователи, группы, дисциплины, преподаватели, курсы. Блокировка и удаление учётных записей. Импорт данных из XML. Загрузка изображений курсов.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B2ADA65-7704-A496-B26F-CD336CED6F8E}"/>
              </a:ext>
            </a:extLst>
          </p:cNvPr>
          <p:cNvSpPr/>
          <p:nvPr/>
        </p:nvSpPr>
        <p:spPr>
          <a:xfrm>
            <a:off x="8940800" y="1676400"/>
            <a:ext cx="2692400" cy="1016000"/>
          </a:xfrm>
          <a:prstGeom prst="rect">
            <a:avLst/>
          </a:prstGeom>
          <a:solidFill>
            <a:srgbClr val="FFFFFF"/>
          </a:solidFill>
          <a:ln>
            <a:solidFill>
              <a:srgbClr val="BFC7D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BCE921-0F0E-D39E-1231-50AB02203508}"/>
              </a:ext>
            </a:extLst>
          </p:cNvPr>
          <p:cNvSpPr txBox="1"/>
          <p:nvPr/>
        </p:nvSpPr>
        <p:spPr>
          <a:xfrm>
            <a:off x="9067800" y="1790700"/>
            <a:ext cx="2438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Полный доступ ко всем функциям системы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CD2ED0D3-888E-4D41-81FB-933BCB616964}"/>
              </a:ext>
            </a:extLst>
          </p:cNvPr>
          <p:cNvSpPr/>
          <p:nvPr/>
        </p:nvSpPr>
        <p:spPr>
          <a:xfrm>
            <a:off x="558800" y="2692400"/>
            <a:ext cx="2413000" cy="1016000"/>
          </a:xfrm>
          <a:prstGeom prst="rect">
            <a:avLst/>
          </a:prstGeom>
          <a:solidFill>
            <a:srgbClr val="FFFFFF"/>
          </a:solidFill>
          <a:ln>
            <a:solidFill>
              <a:srgbClr val="BFC7D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E763D6-D775-C592-C635-16EC0BEA283B}"/>
              </a:ext>
            </a:extLst>
          </p:cNvPr>
          <p:cNvSpPr txBox="1"/>
          <p:nvPr/>
        </p:nvSpPr>
        <p:spPr>
          <a:xfrm>
            <a:off x="685800" y="2806700"/>
            <a:ext cx="215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b="1">
                <a:solidFill>
                  <a:srgbClr val="262626"/>
                </a:solidFill>
                <a:latin typeface="Times New Roman" panose="02020603050405020304" pitchFamily="18" charset="0"/>
              </a:rPr>
              <a:t>Учитель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696B0D35-7550-3950-4F14-88431AB984A1}"/>
              </a:ext>
            </a:extLst>
          </p:cNvPr>
          <p:cNvSpPr/>
          <p:nvPr/>
        </p:nvSpPr>
        <p:spPr>
          <a:xfrm>
            <a:off x="2971800" y="2692400"/>
            <a:ext cx="5969000" cy="1016000"/>
          </a:xfrm>
          <a:prstGeom prst="rect">
            <a:avLst/>
          </a:prstGeom>
          <a:solidFill>
            <a:srgbClr val="FFFFFF"/>
          </a:solidFill>
          <a:ln>
            <a:solidFill>
              <a:srgbClr val="BFC7D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8751587-6B2D-63B1-2B0B-8E242020D693}"/>
              </a:ext>
            </a:extLst>
          </p:cNvPr>
          <p:cNvSpPr txBox="1"/>
          <p:nvPr/>
        </p:nvSpPr>
        <p:spPr>
          <a:xfrm>
            <a:off x="3098800" y="2806700"/>
            <a:ext cx="571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Создание курсов и заданий, назначение сроков сдачи и максимального балла, проверка работ, выставление оценок с комментарием, формирование ведомости успеваемости.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F43DF1BE-41DE-C3E3-92AE-11F7785EBC34}"/>
              </a:ext>
            </a:extLst>
          </p:cNvPr>
          <p:cNvSpPr/>
          <p:nvPr/>
        </p:nvSpPr>
        <p:spPr>
          <a:xfrm>
            <a:off x="8940800" y="2692400"/>
            <a:ext cx="2692400" cy="1016000"/>
          </a:xfrm>
          <a:prstGeom prst="rect">
            <a:avLst/>
          </a:prstGeom>
          <a:solidFill>
            <a:srgbClr val="FFFFFF"/>
          </a:solidFill>
          <a:ln>
            <a:solidFill>
              <a:srgbClr val="BFC7D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586AA7-1581-5757-F247-1789766D9B3F}"/>
              </a:ext>
            </a:extLst>
          </p:cNvPr>
          <p:cNvSpPr txBox="1"/>
          <p:nvPr/>
        </p:nvSpPr>
        <p:spPr>
          <a:xfrm>
            <a:off x="9067800" y="2806700"/>
            <a:ext cx="2438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Работа только со своими курсами и работами учеников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441A33D3-C2CB-E5C1-344D-4E149DF6DE60}"/>
              </a:ext>
            </a:extLst>
          </p:cNvPr>
          <p:cNvSpPr/>
          <p:nvPr/>
        </p:nvSpPr>
        <p:spPr>
          <a:xfrm>
            <a:off x="558800" y="3708400"/>
            <a:ext cx="2413000" cy="1016000"/>
          </a:xfrm>
          <a:prstGeom prst="rect">
            <a:avLst/>
          </a:prstGeom>
          <a:solidFill>
            <a:srgbClr val="FFFFFF"/>
          </a:solidFill>
          <a:ln>
            <a:solidFill>
              <a:srgbClr val="BFC7D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B764E3-1216-1863-60C3-FE77DDAFF18C}"/>
              </a:ext>
            </a:extLst>
          </p:cNvPr>
          <p:cNvSpPr txBox="1"/>
          <p:nvPr/>
        </p:nvSpPr>
        <p:spPr>
          <a:xfrm>
            <a:off x="685800" y="3822700"/>
            <a:ext cx="215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b="1">
                <a:solidFill>
                  <a:srgbClr val="262626"/>
                </a:solidFill>
                <a:latin typeface="Times New Roman" panose="02020603050405020304" pitchFamily="18" charset="0"/>
              </a:rPr>
              <a:t>Ученик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CE8DF351-5829-9952-A2C1-A3D8F83F7953}"/>
              </a:ext>
            </a:extLst>
          </p:cNvPr>
          <p:cNvSpPr/>
          <p:nvPr/>
        </p:nvSpPr>
        <p:spPr>
          <a:xfrm>
            <a:off x="2971800" y="3708400"/>
            <a:ext cx="5969000" cy="1016000"/>
          </a:xfrm>
          <a:prstGeom prst="rect">
            <a:avLst/>
          </a:prstGeom>
          <a:solidFill>
            <a:srgbClr val="FFFFFF"/>
          </a:solidFill>
          <a:ln>
            <a:solidFill>
              <a:srgbClr val="BFC7D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DD06F6-8751-A9DD-9514-C8D1B4679442}"/>
              </a:ext>
            </a:extLst>
          </p:cNvPr>
          <p:cNvSpPr txBox="1"/>
          <p:nvPr/>
        </p:nvSpPr>
        <p:spPr>
          <a:xfrm>
            <a:off x="3098800" y="3822700"/>
            <a:ext cx="571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Просмотр доступных курсов, запись на курсы, выполнение заданий и отправка работ, просмотр собственных оценок и статуса проверки.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3CC4246A-3072-A156-D454-98B4D3E7798D}"/>
              </a:ext>
            </a:extLst>
          </p:cNvPr>
          <p:cNvSpPr/>
          <p:nvPr/>
        </p:nvSpPr>
        <p:spPr>
          <a:xfrm>
            <a:off x="8940800" y="3708400"/>
            <a:ext cx="2692400" cy="1016000"/>
          </a:xfrm>
          <a:prstGeom prst="rect">
            <a:avLst/>
          </a:prstGeom>
          <a:solidFill>
            <a:srgbClr val="FFFFFF"/>
          </a:solidFill>
          <a:ln>
            <a:solidFill>
              <a:srgbClr val="BFC7D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2671F16-5537-9F93-B64D-98D5E8480A78}"/>
              </a:ext>
            </a:extLst>
          </p:cNvPr>
          <p:cNvSpPr txBox="1"/>
          <p:nvPr/>
        </p:nvSpPr>
        <p:spPr>
          <a:xfrm>
            <a:off x="9067800" y="3822700"/>
            <a:ext cx="2438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Доступ только к своим данным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4952C87-8781-D604-39F9-DBFA0230BE0F}"/>
              </a:ext>
            </a:extLst>
          </p:cNvPr>
          <p:cNvSpPr txBox="1"/>
          <p:nvPr/>
        </p:nvSpPr>
        <p:spPr>
          <a:xfrm>
            <a:off x="558800" y="5080000"/>
            <a:ext cx="11074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595959"/>
                </a:solidFill>
                <a:latin typeface="Times New Roman" panose="02020603050405020304" pitchFamily="18" charset="0"/>
              </a:rPr>
              <a:t>Разграничение доступа реализовано на трёх уровнях: проверка учётных данных и активности записи при входе, определение роли и открытие соответствующего окна, ограничение набора доступных данных.</a:t>
            </a:r>
          </a:p>
        </p:txBody>
      </p:sp>
    </p:spTree>
    <p:extLst>
      <p:ext uri="{BB962C8B-B14F-4D97-AF65-F5344CB8AC3E}">
        <p14:creationId xmlns:p14="http://schemas.microsoft.com/office/powerpoint/2010/main" val="4018327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19CFA9C-1410-3348-4F79-4F784406DEF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7EA45EF-836C-DC96-14ED-FD38DA4076BE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DB6B29-8211-13A9-6001-7E7AE2597656}"/>
              </a:ext>
            </a:extLst>
          </p:cNvPr>
          <p:cNvSpPr txBox="1"/>
          <p:nvPr/>
        </p:nvSpPr>
        <p:spPr>
          <a:xfrm>
            <a:off x="558800" y="3302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500" b="1">
                <a:solidFill>
                  <a:srgbClr val="1F3864"/>
                </a:solidFill>
                <a:latin typeface="Times New Roman" panose="02020603050405020304" pitchFamily="18" charset="0"/>
              </a:rPr>
              <a:t>Используемые технологии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DA24BF-1E6F-D60E-A621-1912C57B862B}"/>
              </a:ext>
            </a:extLst>
          </p:cNvPr>
          <p:cNvSpPr txBox="1"/>
          <p:nvPr/>
        </p:nvSpPr>
        <p:spPr>
          <a:xfrm>
            <a:off x="10617200" y="4191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>
                <a:solidFill>
                  <a:srgbClr val="595959"/>
                </a:solidFill>
                <a:latin typeface="Times New Roman" panose="02020603050405020304" pitchFamily="18" charset="0"/>
              </a:rPr>
              <a:t>7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602A781-94F7-AEEF-FAB1-254B000C4D09}"/>
              </a:ext>
            </a:extLst>
          </p:cNvPr>
          <p:cNvSpPr/>
          <p:nvPr/>
        </p:nvSpPr>
        <p:spPr>
          <a:xfrm>
            <a:off x="558800" y="939800"/>
            <a:ext cx="11074400" cy="12700"/>
          </a:xfrm>
          <a:prstGeom prst="rect">
            <a:avLst/>
          </a:prstGeom>
          <a:solidFill>
            <a:srgbClr val="BFC7D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A51CF48-1F5B-99DE-E5D7-3AEEE91FDEB0}"/>
              </a:ext>
            </a:extLst>
          </p:cNvPr>
          <p:cNvSpPr/>
          <p:nvPr/>
        </p:nvSpPr>
        <p:spPr>
          <a:xfrm>
            <a:off x="558800" y="1346200"/>
            <a:ext cx="34925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6AD61D-B216-DFAD-ABBD-B31FEA07B754}"/>
              </a:ext>
            </a:extLst>
          </p:cNvPr>
          <p:cNvSpPr txBox="1"/>
          <p:nvPr/>
        </p:nvSpPr>
        <p:spPr>
          <a:xfrm>
            <a:off x="584200" y="1549400"/>
            <a:ext cx="3327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1F3864"/>
                </a:solidFill>
                <a:latin typeface="Times New Roman" panose="02020603050405020304" pitchFamily="18" charset="0"/>
              </a:rPr>
              <a:t>C#</a:t>
            </a:r>
            <a:endParaRPr lang="ru-RU" sz="190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8550EB-4D6F-D286-37A9-94251BC4CC68}"/>
              </a:ext>
            </a:extLst>
          </p:cNvPr>
          <p:cNvSpPr txBox="1"/>
          <p:nvPr/>
        </p:nvSpPr>
        <p:spPr>
          <a:xfrm>
            <a:off x="584200" y="2159000"/>
            <a:ext cx="3327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95959"/>
                </a:solidFill>
                <a:latin typeface="Times New Roman" panose="02020603050405020304" pitchFamily="18" charset="0"/>
              </a:rPr>
              <a:t>Объектно-ориентированный язык, платформа .NET Framework 4.7.2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943FAA0-465C-F4A6-1648-1B457D210180}"/>
              </a:ext>
            </a:extLst>
          </p:cNvPr>
          <p:cNvSpPr/>
          <p:nvPr/>
        </p:nvSpPr>
        <p:spPr>
          <a:xfrm>
            <a:off x="4305300" y="1346200"/>
            <a:ext cx="34925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5F8439-1F6B-32C4-7ADD-5CFF4507E555}"/>
              </a:ext>
            </a:extLst>
          </p:cNvPr>
          <p:cNvSpPr txBox="1"/>
          <p:nvPr/>
        </p:nvSpPr>
        <p:spPr>
          <a:xfrm>
            <a:off x="4330700" y="1549400"/>
            <a:ext cx="3327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1F3864"/>
                </a:solidFill>
                <a:latin typeface="Times New Roman" panose="02020603050405020304" pitchFamily="18" charset="0"/>
              </a:rPr>
              <a:t>WPF (XAML)</a:t>
            </a:r>
            <a:endParaRPr lang="ru-RU" sz="190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CE94E3-BD35-D35E-0C01-BB6BA5DC860E}"/>
              </a:ext>
            </a:extLst>
          </p:cNvPr>
          <p:cNvSpPr txBox="1"/>
          <p:nvPr/>
        </p:nvSpPr>
        <p:spPr>
          <a:xfrm>
            <a:off x="4330700" y="2159000"/>
            <a:ext cx="3327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95959"/>
                </a:solidFill>
                <a:latin typeface="Times New Roman" panose="02020603050405020304" pitchFamily="18" charset="0"/>
              </a:rPr>
              <a:t>Разработка настольного интерфейса Windows, разделение разметки и логики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B356B52-092D-FC40-C8A7-A1547F66E006}"/>
              </a:ext>
            </a:extLst>
          </p:cNvPr>
          <p:cNvSpPr/>
          <p:nvPr/>
        </p:nvSpPr>
        <p:spPr>
          <a:xfrm>
            <a:off x="8051800" y="1346200"/>
            <a:ext cx="34925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CDD383-C38B-23FF-56E8-8123791BC7E8}"/>
              </a:ext>
            </a:extLst>
          </p:cNvPr>
          <p:cNvSpPr txBox="1"/>
          <p:nvPr/>
        </p:nvSpPr>
        <p:spPr>
          <a:xfrm>
            <a:off x="8077200" y="1549400"/>
            <a:ext cx="3327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1F3864"/>
                </a:solidFill>
                <a:latin typeface="Times New Roman" panose="02020603050405020304" pitchFamily="18" charset="0"/>
              </a:rPr>
              <a:t>ADO.NET</a:t>
            </a:r>
            <a:endParaRPr lang="ru-RU" sz="190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601E48-7ECE-D3D8-BD71-2C1EBEF7220F}"/>
              </a:ext>
            </a:extLst>
          </p:cNvPr>
          <p:cNvSpPr txBox="1"/>
          <p:nvPr/>
        </p:nvSpPr>
        <p:spPr>
          <a:xfrm>
            <a:off x="8077200" y="2159000"/>
            <a:ext cx="3327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95959"/>
                </a:solidFill>
                <a:latin typeface="Times New Roman" panose="02020603050405020304" pitchFamily="18" charset="0"/>
              </a:rPr>
              <a:t>Доступ к данным через провайдер System.Data.SqlClient, параметризованные запросы и транзакции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F930949-0AF0-FCB9-DF62-0A1B319E0050}"/>
              </a:ext>
            </a:extLst>
          </p:cNvPr>
          <p:cNvSpPr/>
          <p:nvPr/>
        </p:nvSpPr>
        <p:spPr>
          <a:xfrm>
            <a:off x="558800" y="3378200"/>
            <a:ext cx="34925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DE80A5-8593-DC7E-B0F4-B8EE6FA922D4}"/>
              </a:ext>
            </a:extLst>
          </p:cNvPr>
          <p:cNvSpPr txBox="1"/>
          <p:nvPr/>
        </p:nvSpPr>
        <p:spPr>
          <a:xfrm>
            <a:off x="584200" y="3581400"/>
            <a:ext cx="3327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1F3864"/>
                </a:solidFill>
                <a:latin typeface="Times New Roman" panose="02020603050405020304" pitchFamily="18" charset="0"/>
              </a:rPr>
              <a:t>Microsoft SQL Server</a:t>
            </a:r>
            <a:endParaRPr lang="ru-RU" sz="190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D97867-5C09-C6FA-6333-05DA786EF73F}"/>
              </a:ext>
            </a:extLst>
          </p:cNvPr>
          <p:cNvSpPr txBox="1"/>
          <p:nvPr/>
        </p:nvSpPr>
        <p:spPr>
          <a:xfrm>
            <a:off x="584200" y="4191000"/>
            <a:ext cx="3327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95959"/>
                </a:solidFill>
                <a:latin typeface="Times New Roman" panose="02020603050405020304" pitchFamily="18" charset="0"/>
              </a:rPr>
              <a:t>Хранение данных: внешние ключи, ограничения CHECK, транзакции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9B8553B7-A666-311B-D685-8FF5C57D435A}"/>
              </a:ext>
            </a:extLst>
          </p:cNvPr>
          <p:cNvSpPr/>
          <p:nvPr/>
        </p:nvSpPr>
        <p:spPr>
          <a:xfrm>
            <a:off x="4305300" y="3378200"/>
            <a:ext cx="34925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084122-E026-C3CF-3248-C6344E5013BF}"/>
              </a:ext>
            </a:extLst>
          </p:cNvPr>
          <p:cNvSpPr txBox="1"/>
          <p:nvPr/>
        </p:nvSpPr>
        <p:spPr>
          <a:xfrm>
            <a:off x="4330700" y="3581400"/>
            <a:ext cx="3327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1F3864"/>
                </a:solidFill>
                <a:latin typeface="Times New Roman" panose="02020603050405020304" pitchFamily="18" charset="0"/>
              </a:rPr>
              <a:t>Microsoft Visual Studio 2019</a:t>
            </a:r>
            <a:endParaRPr lang="ru-RU" sz="150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A2CD7D3-781E-98AA-F182-99BE6FA184C0}"/>
              </a:ext>
            </a:extLst>
          </p:cNvPr>
          <p:cNvSpPr txBox="1"/>
          <p:nvPr/>
        </p:nvSpPr>
        <p:spPr>
          <a:xfrm>
            <a:off x="4330700" y="4191000"/>
            <a:ext cx="3327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95959"/>
                </a:solidFill>
                <a:latin typeface="Times New Roman" panose="02020603050405020304" pitchFamily="18" charset="0"/>
              </a:rPr>
              <a:t>Среда разработки и сопровождения программного продукта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6E08C4B-392B-DCDC-4A1E-5F7D9325497B}"/>
              </a:ext>
            </a:extLst>
          </p:cNvPr>
          <p:cNvSpPr/>
          <p:nvPr/>
        </p:nvSpPr>
        <p:spPr>
          <a:xfrm>
            <a:off x="8051800" y="3378200"/>
            <a:ext cx="34925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E6BAB85-E6F5-0F65-EABD-367D40D0EAA5}"/>
              </a:ext>
            </a:extLst>
          </p:cNvPr>
          <p:cNvSpPr txBox="1"/>
          <p:nvPr/>
        </p:nvSpPr>
        <p:spPr>
          <a:xfrm>
            <a:off x="8077200" y="3581400"/>
            <a:ext cx="3327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1F3864"/>
                </a:solidFill>
                <a:latin typeface="Times New Roman" panose="02020603050405020304" pitchFamily="18" charset="0"/>
              </a:rPr>
              <a:t>PBKDF2-HMAC-SHA256</a:t>
            </a:r>
            <a:endParaRPr lang="ru-RU" sz="190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42B28CB-4570-06C1-D4D8-F6624119C804}"/>
              </a:ext>
            </a:extLst>
          </p:cNvPr>
          <p:cNvSpPr txBox="1"/>
          <p:nvPr/>
        </p:nvSpPr>
        <p:spPr>
          <a:xfrm>
            <a:off x="8077200" y="4191000"/>
            <a:ext cx="3327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95959"/>
                </a:solidFill>
                <a:latin typeface="Times New Roman" panose="02020603050405020304" pitchFamily="18" charset="0"/>
              </a:rPr>
              <a:t>Хеширование паролей с индивидуальной солью, 100 000 итераций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4E89E0F-15C7-DC05-893F-439E00E01F8A}"/>
              </a:ext>
            </a:extLst>
          </p:cNvPr>
          <p:cNvSpPr txBox="1"/>
          <p:nvPr/>
        </p:nvSpPr>
        <p:spPr>
          <a:xfrm>
            <a:off x="558800" y="5486400"/>
            <a:ext cx="11074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595959"/>
                </a:solidFill>
                <a:latin typeface="Times New Roman" panose="02020603050405020304" pitchFamily="18" charset="0"/>
              </a:rPr>
              <a:t>Архитектура приложения — трёхуровневая: уровень представления (окна WPF), уровень логики (обработчики событий), уровень данных (компоненты доступа к СУБД).</a:t>
            </a:r>
          </a:p>
        </p:txBody>
      </p:sp>
    </p:spTree>
    <p:extLst>
      <p:ext uri="{BB962C8B-B14F-4D97-AF65-F5344CB8AC3E}">
        <p14:creationId xmlns:p14="http://schemas.microsoft.com/office/powerpoint/2010/main" val="30140315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EF385382-F579-5B34-0680-A5F5E3D4C02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099FE9C-C8AE-114E-130C-6A1F84CB23AA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82BC70-9620-0471-4A49-86B31BDAFBB0}"/>
              </a:ext>
            </a:extLst>
          </p:cNvPr>
          <p:cNvSpPr txBox="1"/>
          <p:nvPr/>
        </p:nvSpPr>
        <p:spPr>
          <a:xfrm>
            <a:off x="558800" y="3302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500" b="1">
                <a:solidFill>
                  <a:srgbClr val="1F3864"/>
                </a:solidFill>
                <a:latin typeface="Times New Roman" panose="02020603050405020304" pitchFamily="18" charset="0"/>
              </a:rPr>
              <a:t>Видео приложения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F371FE-D259-FE2D-5172-448D0360D367}"/>
              </a:ext>
            </a:extLst>
          </p:cNvPr>
          <p:cNvSpPr txBox="1"/>
          <p:nvPr/>
        </p:nvSpPr>
        <p:spPr>
          <a:xfrm>
            <a:off x="10617200" y="4191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>
                <a:solidFill>
                  <a:srgbClr val="595959"/>
                </a:solidFill>
                <a:latin typeface="Times New Roman" panose="02020603050405020304" pitchFamily="18" charset="0"/>
              </a:rPr>
              <a:t>8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0B05F4F-AD6D-84D4-4A5B-E283B26AFDE3}"/>
              </a:ext>
            </a:extLst>
          </p:cNvPr>
          <p:cNvSpPr/>
          <p:nvPr/>
        </p:nvSpPr>
        <p:spPr>
          <a:xfrm>
            <a:off x="558800" y="939800"/>
            <a:ext cx="11074400" cy="12700"/>
          </a:xfrm>
          <a:prstGeom prst="rect">
            <a:avLst/>
          </a:prstGeom>
          <a:solidFill>
            <a:srgbClr val="BFC7D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" name="Демонстрация приложения">
            <a:hlinkClick r:id="" action="ppaction://media"/>
            <a:extLst>
              <a:ext uri="{FF2B5EF4-FFF2-40B4-BE49-F238E27FC236}">
                <a16:creationId xmlns:a16="http://schemas.microsoft.com/office/drawing/2014/main" id="{8D441C64-A811-86F1-6845-B4DBC619B45C}"/>
              </a:ext>
            </a:extLst>
          </p:cNvPr>
          <p:cNvPicPr>
            <a:picLocks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58800" y="1676400"/>
            <a:ext cx="7112000" cy="4000500"/>
          </a:xfrm>
          <a:prstGeom prst="rect">
            <a:avLst/>
          </a:prstGeom>
          <a:ln w="12700">
            <a:solidFill>
              <a:srgbClr val="1F3864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374F320-0D3F-CFF8-1C76-A1E9BBA36BC0}"/>
              </a:ext>
            </a:extLst>
          </p:cNvPr>
          <p:cNvSpPr txBox="1"/>
          <p:nvPr/>
        </p:nvSpPr>
        <p:spPr>
          <a:xfrm>
            <a:off x="558800" y="5816600"/>
            <a:ext cx="711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595959"/>
                </a:solidFill>
                <a:latin typeface="Times New Roman" panose="02020603050405020304" pitchFamily="18" charset="0"/>
              </a:rPr>
              <a:t>Демонстрация занимает около 25 секунд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33DAAC-6AB1-E72A-DDCC-193FF4C3A054}"/>
              </a:ext>
            </a:extLst>
          </p:cNvPr>
          <p:cNvSpPr txBox="1"/>
          <p:nvPr/>
        </p:nvSpPr>
        <p:spPr>
          <a:xfrm>
            <a:off x="8001000" y="1727200"/>
            <a:ext cx="3632200" cy="369332"/>
          </a:xfrm>
          <a:prstGeom prst="rect">
            <a:avLst/>
          </a:prstGeom>
          <a:noFill/>
        </p:spPr>
        <p:txBody>
          <a:bodyPr vert="horz" wrap="square" lIns="0" rIns="0" rtlCol="0">
            <a:noAutofit/>
          </a:bodyPr>
          <a:lstStyle/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500">
                <a:solidFill>
                  <a:srgbClr val="262626"/>
                </a:solidFill>
                <a:latin typeface="Times New Roman" panose="02020603050405020304" pitchFamily="18" charset="0"/>
              </a:rPr>
              <a:t>Вход в систему под учётной записью ученика student1 (пароль 12345)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500">
                <a:solidFill>
                  <a:srgbClr val="262626"/>
                </a:solidFill>
                <a:latin typeface="Times New Roman" panose="02020603050405020304" pitchFamily="18" charset="0"/>
              </a:rPr>
              <a:t>Запись на курс, просмотр заданий, отправка работы преподавателю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500">
                <a:solidFill>
                  <a:srgbClr val="262626"/>
                </a:solidFill>
                <a:latin typeface="Times New Roman" panose="02020603050405020304" pitchFamily="18" charset="0"/>
              </a:rPr>
              <a:t>Проверка работы учителем, выставление балла и комментария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500">
                <a:solidFill>
                  <a:srgbClr val="262626"/>
                </a:solidFill>
                <a:latin typeface="Times New Roman" panose="02020603050405020304" pitchFamily="18" charset="0"/>
              </a:rPr>
              <a:t>Формирование ведомости успеваемости по курсу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500">
                <a:solidFill>
                  <a:srgbClr val="262626"/>
                </a:solidFill>
                <a:latin typeface="Times New Roman" panose="02020603050405020304" pitchFamily="18" charset="0"/>
              </a:rPr>
              <a:t>Просмотр полученной оценки в личном кабинете ученика</a:t>
            </a:r>
          </a:p>
          <a:p>
            <a:pPr marL="342900" indent="-342900">
              <a:spcAft>
                <a:spcPts val="1000"/>
              </a:spcAft>
              <a:buSzPct val="90000"/>
              <a:buFont typeface="+mj-lt"/>
              <a:buChar char="•"/>
            </a:pPr>
            <a:endParaRPr lang="ru-RU" sz="1500">
              <a:solidFill>
                <a:srgbClr val="262626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700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4123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showWhenStopped="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D493A26-05C9-B280-42FC-1BC05335E1A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8A5F4BC-B8DD-4D31-351C-3936F55628CD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D9B29F-E274-04E7-B610-2B5CFE546544}"/>
              </a:ext>
            </a:extLst>
          </p:cNvPr>
          <p:cNvSpPr txBox="1"/>
          <p:nvPr/>
        </p:nvSpPr>
        <p:spPr>
          <a:xfrm>
            <a:off x="762000" y="22352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400" b="1">
                <a:solidFill>
                  <a:srgbClr val="1F3864"/>
                </a:solidFill>
                <a:latin typeface="Times New Roman" panose="02020603050405020304" pitchFamily="18" charset="0"/>
              </a:rPr>
              <a:t>СПАСИБО ЗА ВНИМАНИЕ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97F994D6-B9F2-6048-2773-30F9092D65B0}"/>
              </a:ext>
            </a:extLst>
          </p:cNvPr>
          <p:cNvSpPr/>
          <p:nvPr/>
        </p:nvSpPr>
        <p:spPr>
          <a:xfrm>
            <a:off x="762000" y="2971800"/>
            <a:ext cx="10668000" cy="12700"/>
          </a:xfrm>
          <a:prstGeom prst="rect">
            <a:avLst/>
          </a:prstGeom>
          <a:solidFill>
            <a:srgbClr val="BFC7D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DA76E6-2F04-F03F-E994-CFC324E4FB0A}"/>
              </a:ext>
            </a:extLst>
          </p:cNvPr>
          <p:cNvSpPr txBox="1"/>
          <p:nvPr/>
        </p:nvSpPr>
        <p:spPr>
          <a:xfrm>
            <a:off x="762000" y="32004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>
                <a:solidFill>
                  <a:srgbClr val="262626"/>
                </a:solidFill>
                <a:latin typeface="Times New Roman" panose="02020603050405020304" pitchFamily="18" charset="0"/>
              </a:rPr>
              <a:t>Готов ответить на вопросы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8C82A99-16EA-4FB5-EC99-B814010BB29D}"/>
              </a:ext>
            </a:extLst>
          </p:cNvPr>
          <p:cNvSpPr/>
          <p:nvPr/>
        </p:nvSpPr>
        <p:spPr>
          <a:xfrm>
            <a:off x="762000" y="4064000"/>
            <a:ext cx="10668000" cy="12700"/>
          </a:xfrm>
          <a:prstGeom prst="rect">
            <a:avLst/>
          </a:prstGeom>
          <a:solidFill>
            <a:srgbClr val="BFC7D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477843-4F0B-AA22-8F75-426273F6E6D5}"/>
              </a:ext>
            </a:extLst>
          </p:cNvPr>
          <p:cNvSpPr txBox="1"/>
          <p:nvPr/>
        </p:nvSpPr>
        <p:spPr>
          <a:xfrm>
            <a:off x="762000" y="42672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595959"/>
                </a:solidFill>
                <a:latin typeface="Times New Roman" panose="02020603050405020304" pitchFamily="18" charset="0"/>
              </a:rPr>
              <a:t>Тема: Разработка информационной системы «Учебные курсы» для удалённого обучения школьников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54C66D-C9C3-2FF8-7736-4EAE1F7C98D3}"/>
              </a:ext>
            </a:extLst>
          </p:cNvPr>
          <p:cNvSpPr txBox="1"/>
          <p:nvPr/>
        </p:nvSpPr>
        <p:spPr>
          <a:xfrm>
            <a:off x="762000" y="45974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595959"/>
                </a:solidFill>
                <a:latin typeface="Times New Roman" panose="02020603050405020304" pitchFamily="18" charset="0"/>
              </a:rPr>
              <a:t>Выполнил: Матулов А. А., группа ИС1-45        Руководитель: Васильченко М. О.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0E117D-75DA-555D-F79E-9A570A226795}"/>
              </a:ext>
            </a:extLst>
          </p:cNvPr>
          <p:cNvSpPr txBox="1"/>
          <p:nvPr/>
        </p:nvSpPr>
        <p:spPr>
          <a:xfrm>
            <a:off x="762000" y="57404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595959"/>
                </a:solidFill>
                <a:latin typeface="Times New Roman" panose="02020603050405020304" pitchFamily="18" charset="0"/>
              </a:rPr>
              <a:t>Ярославль, 2026</a:t>
            </a:r>
          </a:p>
        </p:txBody>
      </p:sp>
    </p:spTree>
    <p:extLst>
      <p:ext uri="{BB962C8B-B14F-4D97-AF65-F5344CB8AC3E}">
        <p14:creationId xmlns:p14="http://schemas.microsoft.com/office/powerpoint/2010/main" val="252616676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693</Words>
  <Application>Microsoft Office PowerPoint</Application>
  <PresentationFormat>Широкоэкранный</PresentationFormat>
  <Paragraphs>88</Paragraphs>
  <Slides>9</Slides>
  <Notes>0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sashahikilrety@gmail.com</dc:creator>
  <cp:lastModifiedBy>sashahikilrety@gmail.com</cp:lastModifiedBy>
  <cp:revision>1</cp:revision>
  <dcterms:created xsi:type="dcterms:W3CDTF">2026-10-27T16:18:56Z</dcterms:created>
  <dcterms:modified xsi:type="dcterms:W3CDTF">2026-10-27T16:18:56Z</dcterms:modified>
</cp:coreProperties>
</file>