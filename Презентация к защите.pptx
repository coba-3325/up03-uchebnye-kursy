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79F873-883E-485C-708A-310CA3AD2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DDEF493-AB9D-9291-815A-F125B0089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A88E01-D889-2E7E-5613-5AAE6D66B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084225-7991-A0B1-CB96-FF06E9F8A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3E3FDD2-6EB7-3EA4-2CE8-101F19288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424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A916DB-EF19-AB56-FF28-F250ABF59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B59425-66A1-7709-53C7-8A8A086D1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54CE85-0BD7-15FB-E3D0-76C09AC07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EDA04E-25A7-B9DD-3C70-44E2A0F52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3C1AB1-199E-A41C-B325-445C3C570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0315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1F66E3-0F37-4F34-49AB-4A953BD1A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A92A951-F7F4-65C4-72C1-9960D52A3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C03E25-6C34-ACBC-C7CB-F55878BE2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55FB39-133D-9500-F772-53040359B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39D8F1-D2ED-717A-4699-DE4A57E6D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49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E13A2E-7127-B9E7-7A94-D35CDEB98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B139C2-DF83-9413-14BE-7478676140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EF847C0-F169-7F92-813B-AB3E01DF5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6D3FDB-8DD8-991D-A878-2E2D33940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6E3094-DB93-FE5C-E3CB-DB2B3378F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1C4EDA-D720-C041-D0DC-24011319B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02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57275-A928-67BD-1813-C0D59F86F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A118B0F-3A44-8890-698E-6982ED78E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A32894-04F6-1181-E281-1CDBFB5186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7885DF0-9878-C966-7C7C-5613E0B369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2AEBB0C-E368-4435-CAAE-D791B75534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135DFD5-0CDF-0FA2-1FAF-A39B1776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CF761D8-7809-B73B-0C34-C2FE9C054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7EB007E-262A-67E9-83D2-73BCB3E58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58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C72D41-EACF-1826-55B8-E723BFE17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A24B9C-E603-40C3-D4F9-46B6798AA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62A5803-806E-A7C2-6297-209E162EA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2FB734-705C-FB27-6F46-9B06B5D72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9919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72DFA6D-E27D-B31F-ACEE-80DB9C02F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A6AB2DE-8042-2523-B619-821CDA6AB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5F3D64-74A3-14F4-9AFE-11A98BDE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7765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5033D0-A31B-C3A4-2E8E-2C232EEF1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422EDC-8062-2FBD-61B7-22A55F3E5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21ED69D-500C-02B7-2764-8C88AEA1CC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4AA9CE-42C4-23B8-DAD7-36996CF39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223E49-75BC-9E72-DD8C-62389332F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22847B9-3991-5D9D-4647-683A4C87C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111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3FD904-37D3-655C-E7BC-C5923C174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F543B67-4834-A374-D34D-0430907C3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20C7B7-DDC8-BA3C-A2A5-A10C461E86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CEE315-579A-657B-C262-BFA5AAE3F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24AFC0-2824-C03C-F48D-3EFE87EF0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238166-31DB-0D85-44F2-BBC7C4AA3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914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F3ED70-51D8-6810-5DF4-370E7D65C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CDFC2BB-AE05-645A-B68A-65201002C8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184022-30E6-5C76-15B4-C0300F557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F3FF1-0A22-58C0-5499-D6B877B1E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22BCC3-8E8A-1AED-42E0-DF8ECE096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8260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5752D4-CC9B-9193-254C-66020494AA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E239AC2-7A2F-92A6-789D-E0A0DA1D75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92CAB0-9FD4-F1A1-D4B1-4F8BCB4E1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1557AD-A424-E438-32BC-57F5EAED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1C3701-3FF1-4A0A-EEFF-CEFDEF590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5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7A0A5C-3BB7-5143-2B28-1B6106BFE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6513AD-0CC9-9C30-CC58-066F97DA17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243EF6-967A-E677-0652-DFACD4B19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AD6063-D66D-4F58-8A32-E44A0675CB33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44ABB9-DDF5-B7A4-647F-2DD2923DB7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DD0BD4-806A-5205-A277-8BB405EE21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9F79FB-524D-4E7F-9693-17EA8D6F72F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6143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7ABD040-2CB7-7815-80BF-F023F9DBE6F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31FD4B1-F228-C6D1-8302-FB7294B544FE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0A5457-889F-A012-26B9-3A5381D6C49E}"/>
              </a:ext>
            </a:extLst>
          </p:cNvPr>
          <p:cNvSpPr txBox="1"/>
          <p:nvPr/>
        </p:nvSpPr>
        <p:spPr>
          <a:xfrm>
            <a:off x="762000" y="558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C63049-6752-E687-DE63-2F32270C8D9C}"/>
              </a:ext>
            </a:extLst>
          </p:cNvPr>
          <p:cNvSpPr txBox="1"/>
          <p:nvPr/>
        </p:nvSpPr>
        <p:spPr>
          <a:xfrm>
            <a:off x="762000" y="812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1F3864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7056D-B54A-43A3-337E-6160AA5FDE2D}"/>
              </a:ext>
            </a:extLst>
          </p:cNvPr>
          <p:cNvSpPr txBox="1"/>
          <p:nvPr/>
        </p:nvSpPr>
        <p:spPr>
          <a:xfrm>
            <a:off x="762000" y="1168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930C3-E4C2-742B-431A-ADF62C5DC4DC}"/>
              </a:ext>
            </a:extLst>
          </p:cNvPr>
          <p:cNvSpPr txBox="1"/>
          <p:nvPr/>
        </p:nvSpPr>
        <p:spPr>
          <a:xfrm>
            <a:off x="762000" y="17272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 b="1">
                <a:solidFill>
                  <a:srgbClr val="8FA3BC"/>
                </a:solidFill>
                <a:latin typeface="Times New Roman" panose="02020603050405020304" pitchFamily="18" charset="0"/>
              </a:rPr>
              <a:t>ПРОЕКТНАЯ РАБОТА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91489-BB2E-7EF7-F239-BA80AB6F84C0}"/>
              </a:ext>
            </a:extLst>
          </p:cNvPr>
          <p:cNvSpPr txBox="1"/>
          <p:nvPr/>
        </p:nvSpPr>
        <p:spPr>
          <a:xfrm>
            <a:off x="762000" y="2006600"/>
            <a:ext cx="939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4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FF1B20-D738-F9EF-30BE-3760682022F3}"/>
              </a:ext>
            </a:extLst>
          </p:cNvPr>
          <p:cNvSpPr txBox="1"/>
          <p:nvPr/>
        </p:nvSpPr>
        <p:spPr>
          <a:xfrm>
            <a:off x="762000" y="24130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3200" b="1">
                <a:solidFill>
                  <a:srgbClr val="1F3864"/>
                </a:solidFill>
                <a:latin typeface="Times New Roman" panose="02020603050405020304" pitchFamily="18" charset="0"/>
              </a:rPr>
              <a:t>«Учебные курсы»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FF21C3-E52E-9F09-BB0D-58B9DEB5D52A}"/>
              </a:ext>
            </a:extLst>
          </p:cNvPr>
          <p:cNvSpPr txBox="1"/>
          <p:nvPr/>
        </p:nvSpPr>
        <p:spPr>
          <a:xfrm>
            <a:off x="762000" y="30480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>
                <a:solidFill>
                  <a:srgbClr val="262626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EBC2102-736E-3AD9-C3EF-8A7D4846FCC8}"/>
              </a:ext>
            </a:extLst>
          </p:cNvPr>
          <p:cNvSpPr/>
          <p:nvPr/>
        </p:nvSpPr>
        <p:spPr>
          <a:xfrm>
            <a:off x="762000" y="3657600"/>
            <a:ext cx="13970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896652-0166-D836-3253-1C7A3FC6E9C4}"/>
              </a:ext>
            </a:extLst>
          </p:cNvPr>
          <p:cNvSpPr txBox="1"/>
          <p:nvPr/>
        </p:nvSpPr>
        <p:spPr>
          <a:xfrm>
            <a:off x="762000" y="38862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50">
                <a:solidFill>
                  <a:srgbClr val="5F6672"/>
                </a:solidFill>
                <a:latin typeface="Times New Roman" panose="02020603050405020304" pitchFamily="18" charset="0"/>
              </a:rPr>
              <a:t>Выполнил студент группы ИС1-45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97A5E4-3ED1-319A-1BD2-D91AD3E578D0}"/>
              </a:ext>
            </a:extLst>
          </p:cNvPr>
          <p:cNvSpPr txBox="1"/>
          <p:nvPr/>
        </p:nvSpPr>
        <p:spPr>
          <a:xfrm>
            <a:off x="762000" y="40894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700" b="1">
                <a:solidFill>
                  <a:srgbClr val="1F3864"/>
                </a:solidFill>
                <a:latin typeface="Times New Roman" panose="02020603050405020304" pitchFamily="18" charset="0"/>
              </a:rPr>
              <a:t>Матулов А. А.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0BF1AE-4DCA-CB73-B734-D352081B092F}"/>
              </a:ext>
            </a:extLst>
          </p:cNvPr>
          <p:cNvSpPr txBox="1"/>
          <p:nvPr/>
        </p:nvSpPr>
        <p:spPr>
          <a:xfrm>
            <a:off x="5969000" y="38862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50">
                <a:solidFill>
                  <a:srgbClr val="5F6672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9CF232-DC68-582E-C086-25FB72CFB57C}"/>
              </a:ext>
            </a:extLst>
          </p:cNvPr>
          <p:cNvSpPr txBox="1"/>
          <p:nvPr/>
        </p:nvSpPr>
        <p:spPr>
          <a:xfrm>
            <a:off x="5969000" y="40894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700" b="1">
                <a:solidFill>
                  <a:srgbClr val="1F3864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340E7E-EB9A-3722-3C38-7E6AECD6E652}"/>
              </a:ext>
            </a:extLst>
          </p:cNvPr>
          <p:cNvSpPr/>
          <p:nvPr/>
        </p:nvSpPr>
        <p:spPr>
          <a:xfrm>
            <a:off x="0" y="5029200"/>
            <a:ext cx="12192000" cy="18288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51A41-F7A6-4BEB-E01D-C6CB9D27379F}"/>
              </a:ext>
            </a:extLst>
          </p:cNvPr>
          <p:cNvSpPr txBox="1"/>
          <p:nvPr/>
        </p:nvSpPr>
        <p:spPr>
          <a:xfrm>
            <a:off x="762000" y="5740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>
                <a:solidFill>
                  <a:srgbClr val="FFFFFF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765B02-92B3-A35A-775C-95C75745C787}"/>
              </a:ext>
            </a:extLst>
          </p:cNvPr>
          <p:cNvSpPr txBox="1"/>
          <p:nvPr/>
        </p:nvSpPr>
        <p:spPr>
          <a:xfrm>
            <a:off x="8890000" y="57785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D6DEE8"/>
                </a:solidFill>
                <a:latin typeface="Times New Roman" panose="02020603050405020304" pitchFamily="18" charset="0"/>
              </a:rPr>
              <a:t>МДК 06.03</a:t>
            </a:r>
          </a:p>
        </p:txBody>
      </p:sp>
    </p:spTree>
    <p:extLst>
      <p:ext uri="{BB962C8B-B14F-4D97-AF65-F5344CB8AC3E}">
        <p14:creationId xmlns:p14="http://schemas.microsoft.com/office/powerpoint/2010/main" val="2876839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7686E66-ACC7-225C-0A0E-8903516EAA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998B50F-8B26-C61F-5027-8CBF7D17112B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553CB6-814A-92C9-ACD5-82A741965D4B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Цель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51A935-12CE-FB3A-EB5F-4B3256078AEE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02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1B67F06-ED63-DF8F-7C8C-15623C01622A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F4C0030-74B5-9E8B-13F4-D143AFB3D46C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4D99E-43E3-F450-EA8B-69E44394FB6B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E076FE-39BF-2E1C-6E63-48CB5871B31B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BC71E1-5DD3-6424-754B-44E83C13FC6D}"/>
              </a:ext>
            </a:extLst>
          </p:cNvPr>
          <p:cNvSpPr txBox="1"/>
          <p:nvPr/>
        </p:nvSpPr>
        <p:spPr>
          <a:xfrm>
            <a:off x="762000" y="13208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9F872EA-B3D0-4938-0A7D-46D7FD7086CA}"/>
              </a:ext>
            </a:extLst>
          </p:cNvPr>
          <p:cNvSpPr/>
          <p:nvPr/>
        </p:nvSpPr>
        <p:spPr>
          <a:xfrm>
            <a:off x="7620000" y="1320800"/>
            <a:ext cx="12700" cy="41910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A09AC6-9D86-1BB9-EB62-80995D1DCF8A}"/>
              </a:ext>
            </a:extLst>
          </p:cNvPr>
          <p:cNvSpPr txBox="1"/>
          <p:nvPr/>
        </p:nvSpPr>
        <p:spPr>
          <a:xfrm>
            <a:off x="8026400" y="1320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7DED89-68C0-D958-69DF-365B5002C52E}"/>
              </a:ext>
            </a:extLst>
          </p:cNvPr>
          <p:cNvSpPr txBox="1"/>
          <p:nvPr/>
        </p:nvSpPr>
        <p:spPr>
          <a:xfrm>
            <a:off x="8585200" y="13462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Снижение трудоёмкости подготовки курсов и заданий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AF5A3C-748A-1D3B-C040-C466F7D900F9}"/>
              </a:ext>
            </a:extLst>
          </p:cNvPr>
          <p:cNvSpPr/>
          <p:nvPr/>
        </p:nvSpPr>
        <p:spPr>
          <a:xfrm>
            <a:off x="8026400" y="22098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6D7A90-83B0-112D-F74A-76C143A1C303}"/>
              </a:ext>
            </a:extLst>
          </p:cNvPr>
          <p:cNvSpPr txBox="1"/>
          <p:nvPr/>
        </p:nvSpPr>
        <p:spPr>
          <a:xfrm>
            <a:off x="8026400" y="2387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E4BC86-9A95-7FB4-BF42-ED0B8CF32524}"/>
              </a:ext>
            </a:extLst>
          </p:cNvPr>
          <p:cNvSpPr txBox="1"/>
          <p:nvPr/>
        </p:nvSpPr>
        <p:spPr>
          <a:xfrm>
            <a:off x="8585200" y="24130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Контроль сроков выполнения и ведомость успеваемости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C3D287F-B198-02A5-0515-2E90C054C505}"/>
              </a:ext>
            </a:extLst>
          </p:cNvPr>
          <p:cNvSpPr/>
          <p:nvPr/>
        </p:nvSpPr>
        <p:spPr>
          <a:xfrm>
            <a:off x="8026400" y="32766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1CEF0A-798F-C45D-0659-6D7A5104D385}"/>
              </a:ext>
            </a:extLst>
          </p:cNvPr>
          <p:cNvSpPr txBox="1"/>
          <p:nvPr/>
        </p:nvSpPr>
        <p:spPr>
          <a:xfrm>
            <a:off x="8026400" y="3454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52EB43-6DC2-35AC-83CA-471DEADA246C}"/>
              </a:ext>
            </a:extLst>
          </p:cNvPr>
          <p:cNvSpPr txBox="1"/>
          <p:nvPr/>
        </p:nvSpPr>
        <p:spPr>
          <a:xfrm>
            <a:off x="8585200" y="34798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Разграничение прав: администратор, учитель, ученик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AEE0BB-E421-01F2-096C-7ECB2FAF7384}"/>
              </a:ext>
            </a:extLst>
          </p:cNvPr>
          <p:cNvSpPr/>
          <p:nvPr/>
        </p:nvSpPr>
        <p:spPr>
          <a:xfrm>
            <a:off x="8026400" y="4343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577542-53A4-D318-6C48-56A6A88CED5C}"/>
              </a:ext>
            </a:extLst>
          </p:cNvPr>
          <p:cNvSpPr txBox="1"/>
          <p:nvPr/>
        </p:nvSpPr>
        <p:spPr>
          <a:xfrm>
            <a:off x="8026400" y="4521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390AF2-21CC-74D6-C699-E4A60133F342}"/>
              </a:ext>
            </a:extLst>
          </p:cNvPr>
          <p:cNvSpPr txBox="1"/>
          <p:nvPr/>
        </p:nvSpPr>
        <p:spPr>
          <a:xfrm>
            <a:off x="8585200" y="45466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Безопасное хранение учётных данных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89C1A37-EBA0-867A-094E-3E718BA91E17}"/>
              </a:ext>
            </a:extLst>
          </p:cNvPr>
          <p:cNvSpPr/>
          <p:nvPr/>
        </p:nvSpPr>
        <p:spPr>
          <a:xfrm>
            <a:off x="8026400" y="54102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4010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DCAD5B1-DE7C-AA50-4CAF-7545F901DF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AA1F780-F748-881D-A073-2A926B7A339E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C79FF-7EE8-5DF8-4CCE-61FC716D079A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Задачи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1A3DD4-0AFA-0550-E322-B3C39F9D1FE3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03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20A7A34-0DC5-7711-9178-70A1F8C81C95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D2D08F5-5097-2723-CEC8-BF05AE5C3399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4802B6-E447-76E0-88CD-0FE04434E98C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453753-41D2-6B19-4283-460B8C48345E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F67C412-09E8-B989-97C5-CB34F0D37DF7}"/>
              </a:ext>
            </a:extLst>
          </p:cNvPr>
          <p:cNvSpPr/>
          <p:nvPr/>
        </p:nvSpPr>
        <p:spPr>
          <a:xfrm>
            <a:off x="7620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419-EBFF-955F-06C5-49254E8A9F2D}"/>
              </a:ext>
            </a:extLst>
          </p:cNvPr>
          <p:cNvSpPr txBox="1"/>
          <p:nvPr/>
        </p:nvSpPr>
        <p:spPr>
          <a:xfrm>
            <a:off x="7620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CE0E1C-3657-91B4-EB88-17DEE320B05E}"/>
              </a:ext>
            </a:extLst>
          </p:cNvPr>
          <p:cNvSpPr txBox="1"/>
          <p:nvPr/>
        </p:nvSpPr>
        <p:spPr>
          <a:xfrm>
            <a:off x="7620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Анализ предметной области и бизнес-процессов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8D3F668-B64C-E1F1-0395-F352002EFAD1}"/>
              </a:ext>
            </a:extLst>
          </p:cNvPr>
          <p:cNvSpPr/>
          <p:nvPr/>
        </p:nvSpPr>
        <p:spPr>
          <a:xfrm>
            <a:off x="7620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9B98A14-3CAE-062B-83A6-A03DC05366DF}"/>
              </a:ext>
            </a:extLst>
          </p:cNvPr>
          <p:cNvSpPr/>
          <p:nvPr/>
        </p:nvSpPr>
        <p:spPr>
          <a:xfrm>
            <a:off x="34925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7BC9B9-4D23-7D06-3715-779F37152620}"/>
              </a:ext>
            </a:extLst>
          </p:cNvPr>
          <p:cNvSpPr txBox="1"/>
          <p:nvPr/>
        </p:nvSpPr>
        <p:spPr>
          <a:xfrm>
            <a:off x="34925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FF00FD-06B7-7499-A18D-7892057B2C47}"/>
              </a:ext>
            </a:extLst>
          </p:cNvPr>
          <p:cNvSpPr txBox="1"/>
          <p:nvPr/>
        </p:nvSpPr>
        <p:spPr>
          <a:xfrm>
            <a:off x="34925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Обзор и анализ существующих аналогов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78A3307-E9BA-53E0-6C6C-B21DC92A7B8D}"/>
              </a:ext>
            </a:extLst>
          </p:cNvPr>
          <p:cNvSpPr/>
          <p:nvPr/>
        </p:nvSpPr>
        <p:spPr>
          <a:xfrm>
            <a:off x="34925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73DEFB-A472-9A29-E745-E4C3CBAACF41}"/>
              </a:ext>
            </a:extLst>
          </p:cNvPr>
          <p:cNvSpPr/>
          <p:nvPr/>
        </p:nvSpPr>
        <p:spPr>
          <a:xfrm>
            <a:off x="62230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1F5032-AD84-25CC-E977-08F588FCB703}"/>
              </a:ext>
            </a:extLst>
          </p:cNvPr>
          <p:cNvSpPr txBox="1"/>
          <p:nvPr/>
        </p:nvSpPr>
        <p:spPr>
          <a:xfrm>
            <a:off x="62230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83A5FF-D43E-32E3-6183-B5E68F60716A}"/>
              </a:ext>
            </a:extLst>
          </p:cNvPr>
          <p:cNvSpPr txBox="1"/>
          <p:nvPr/>
        </p:nvSpPr>
        <p:spPr>
          <a:xfrm>
            <a:off x="62230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Проектирование архитектуры и модели данных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A39C95A-B1C7-517C-D853-BA78228D444A}"/>
              </a:ext>
            </a:extLst>
          </p:cNvPr>
          <p:cNvSpPr/>
          <p:nvPr/>
        </p:nvSpPr>
        <p:spPr>
          <a:xfrm>
            <a:off x="62230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F124301-4A55-43BE-ACC0-E053663A7243}"/>
              </a:ext>
            </a:extLst>
          </p:cNvPr>
          <p:cNvSpPr/>
          <p:nvPr/>
        </p:nvSpPr>
        <p:spPr>
          <a:xfrm>
            <a:off x="89535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F931AF-E61D-1B64-36BC-99CD0824AA50}"/>
              </a:ext>
            </a:extLst>
          </p:cNvPr>
          <p:cNvSpPr txBox="1"/>
          <p:nvPr/>
        </p:nvSpPr>
        <p:spPr>
          <a:xfrm>
            <a:off x="89535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8E7AB-FDEF-3793-7DF3-20E0A9D20891}"/>
              </a:ext>
            </a:extLst>
          </p:cNvPr>
          <p:cNvSpPr txBox="1"/>
          <p:nvPr/>
        </p:nvSpPr>
        <p:spPr>
          <a:xfrm>
            <a:off x="89535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Разработка структуры и программирование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4547AB3-F3BD-9463-CFC1-1EE4DC541B42}"/>
              </a:ext>
            </a:extLst>
          </p:cNvPr>
          <p:cNvSpPr/>
          <p:nvPr/>
        </p:nvSpPr>
        <p:spPr>
          <a:xfrm>
            <a:off x="89535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673099A-0B5C-A8A2-0855-A1148E9797FE}"/>
              </a:ext>
            </a:extLst>
          </p:cNvPr>
          <p:cNvSpPr/>
          <p:nvPr/>
        </p:nvSpPr>
        <p:spPr>
          <a:xfrm>
            <a:off x="7620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351132-9826-C162-45A9-329B02A6C649}"/>
              </a:ext>
            </a:extLst>
          </p:cNvPr>
          <p:cNvSpPr txBox="1"/>
          <p:nvPr/>
        </p:nvSpPr>
        <p:spPr>
          <a:xfrm>
            <a:off x="7620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C612AB-5655-CD6A-C4C8-0CB80FD295C2}"/>
              </a:ext>
            </a:extLst>
          </p:cNvPr>
          <p:cNvSpPr txBox="1"/>
          <p:nvPr/>
        </p:nvSpPr>
        <p:spPr>
          <a:xfrm>
            <a:off x="7620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Обеспечение безопасности информации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3A1EE1B-E966-95AF-B936-38456229B14B}"/>
              </a:ext>
            </a:extLst>
          </p:cNvPr>
          <p:cNvSpPr/>
          <p:nvPr/>
        </p:nvSpPr>
        <p:spPr>
          <a:xfrm>
            <a:off x="7620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3D02844-BC61-1D35-F3EA-FA80719F9980}"/>
              </a:ext>
            </a:extLst>
          </p:cNvPr>
          <p:cNvSpPr/>
          <p:nvPr/>
        </p:nvSpPr>
        <p:spPr>
          <a:xfrm>
            <a:off x="34925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6169BA-B03E-0348-3659-74B8F19CFF08}"/>
              </a:ext>
            </a:extLst>
          </p:cNvPr>
          <p:cNvSpPr txBox="1"/>
          <p:nvPr/>
        </p:nvSpPr>
        <p:spPr>
          <a:xfrm>
            <a:off x="34925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71422D-1590-25AE-A503-A96E8FDBDD11}"/>
              </a:ext>
            </a:extLst>
          </p:cNvPr>
          <p:cNvSpPr txBox="1"/>
          <p:nvPr/>
        </p:nvSpPr>
        <p:spPr>
          <a:xfrm>
            <a:off x="34925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Тестирование программного продукта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6FE07E8-0036-81D7-88CB-D6CD410DC8CA}"/>
              </a:ext>
            </a:extLst>
          </p:cNvPr>
          <p:cNvSpPr/>
          <p:nvPr/>
        </p:nvSpPr>
        <p:spPr>
          <a:xfrm>
            <a:off x="34925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A5254D7-E299-D98D-EE84-68EE0C684E8E}"/>
              </a:ext>
            </a:extLst>
          </p:cNvPr>
          <p:cNvSpPr/>
          <p:nvPr/>
        </p:nvSpPr>
        <p:spPr>
          <a:xfrm>
            <a:off x="62230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3147AC-C326-9669-48FE-9643839F65B5}"/>
              </a:ext>
            </a:extLst>
          </p:cNvPr>
          <p:cNvSpPr txBox="1"/>
          <p:nvPr/>
        </p:nvSpPr>
        <p:spPr>
          <a:xfrm>
            <a:off x="62230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E62622-4A95-5A20-3187-15958D711985}"/>
              </a:ext>
            </a:extLst>
          </p:cNvPr>
          <p:cNvSpPr txBox="1"/>
          <p:nvPr/>
        </p:nvSpPr>
        <p:spPr>
          <a:xfrm>
            <a:off x="62230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Описание аппаратных и программных средств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E150510-9003-F58E-F16A-7291FC8CC1AD}"/>
              </a:ext>
            </a:extLst>
          </p:cNvPr>
          <p:cNvSpPr/>
          <p:nvPr/>
        </p:nvSpPr>
        <p:spPr>
          <a:xfrm>
            <a:off x="62230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B4ACC07-8248-6952-875D-7C69B33290EF}"/>
              </a:ext>
            </a:extLst>
          </p:cNvPr>
          <p:cNvSpPr/>
          <p:nvPr/>
        </p:nvSpPr>
        <p:spPr>
          <a:xfrm>
            <a:off x="89535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8AA0B3-F0E9-97E2-2667-FDF72AE18E83}"/>
              </a:ext>
            </a:extLst>
          </p:cNvPr>
          <p:cNvSpPr txBox="1"/>
          <p:nvPr/>
        </p:nvSpPr>
        <p:spPr>
          <a:xfrm>
            <a:off x="89535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5934CB-A92C-4466-C352-6D9DC8E20FD7}"/>
              </a:ext>
            </a:extLst>
          </p:cNvPr>
          <p:cNvSpPr txBox="1"/>
          <p:nvPr/>
        </p:nvSpPr>
        <p:spPr>
          <a:xfrm>
            <a:off x="89535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Инструкции для пользователей и администратора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BFBEB746-EF5B-7924-6572-78953F4F61F2}"/>
              </a:ext>
            </a:extLst>
          </p:cNvPr>
          <p:cNvSpPr/>
          <p:nvPr/>
        </p:nvSpPr>
        <p:spPr>
          <a:xfrm>
            <a:off x="89535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063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094F67-A68C-79B3-3985-8CC8172D978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E88B63-8D98-A4EE-A66D-0C59F1CF8A3A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62C8E-B357-C6AA-F9B0-9559EE6D64FA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Аналоги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752C8-D7D5-BFD7-22AB-DA809FA5254A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04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704496-170F-92D3-C553-CA9B7B4F7F7C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20A6027-D660-5FFB-A29A-8D0F47DA0CBE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A3919D-1839-A9E5-08D4-A904A91ACF87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268AD-774C-370F-BB16-1AF2EED65D24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9D1D6EE-4DF8-644F-BEC0-1446F6350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270000"/>
            <a:ext cx="911857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92F7822-6676-C213-DB8F-BCC17C384CD4}"/>
              </a:ext>
            </a:extLst>
          </p:cNvPr>
          <p:cNvSpPr txBox="1"/>
          <p:nvPr/>
        </p:nvSpPr>
        <p:spPr>
          <a:xfrm>
            <a:off x="2667000" y="124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Moodle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61D67-20B1-711F-E1C7-24E214BCCD88}"/>
              </a:ext>
            </a:extLst>
          </p:cNvPr>
          <p:cNvSpPr txBox="1"/>
          <p:nvPr/>
        </p:nvSpPr>
        <p:spPr>
          <a:xfrm>
            <a:off x="2667000" y="15240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Открытый код, большое сообщество, множество модулей; сложная настройка.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C4931F4-9930-1313-449D-419C783D2C2D}"/>
              </a:ext>
            </a:extLst>
          </p:cNvPr>
          <p:cNvSpPr/>
          <p:nvPr/>
        </p:nvSpPr>
        <p:spPr>
          <a:xfrm>
            <a:off x="762000" y="2184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5FD45C3-A755-6AD8-9A43-D6EE6F8754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798043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2D450D-1D8D-627E-29DB-61AADABF0E11}"/>
              </a:ext>
            </a:extLst>
          </p:cNvPr>
          <p:cNvSpPr txBox="1"/>
          <p:nvPr/>
        </p:nvSpPr>
        <p:spPr>
          <a:xfrm>
            <a:off x="2667000" y="2286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Google Classroom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A6BC36-AF5C-1B13-0B33-1AA89C803A12}"/>
              </a:ext>
            </a:extLst>
          </p:cNvPr>
          <p:cNvSpPr txBox="1"/>
          <p:nvPr/>
        </p:nvSpPr>
        <p:spPr>
          <a:xfrm>
            <a:off x="2667000" y="25654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Простота освоения, интеграция с документами; мало функций и отчётов.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C3B2593-C402-E67F-68AB-9EA7070992DC}"/>
              </a:ext>
            </a:extLst>
          </p:cNvPr>
          <p:cNvSpPr/>
          <p:nvPr/>
        </p:nvSpPr>
        <p:spPr>
          <a:xfrm>
            <a:off x="762000" y="3225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48B0AFE-17D3-188E-AE82-4E81AA6408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52800"/>
            <a:ext cx="798654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022DA22-74D2-81EF-2C7F-A07852B10E31}"/>
              </a:ext>
            </a:extLst>
          </p:cNvPr>
          <p:cNvSpPr txBox="1"/>
          <p:nvPr/>
        </p:nvSpPr>
        <p:spPr>
          <a:xfrm>
            <a:off x="2667000" y="3327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iSpring Learn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F4316B-B5E1-79DC-82B3-3AFBCC94D9A2}"/>
              </a:ext>
            </a:extLst>
          </p:cNvPr>
          <p:cNvSpPr txBox="1"/>
          <p:nvPr/>
        </p:nvSpPr>
        <p:spPr>
          <a:xfrm>
            <a:off x="2667000" y="36068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аналитика; платная, только облако.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668ABBC-7F0C-60D2-6E54-4D9CCA055A19}"/>
              </a:ext>
            </a:extLst>
          </p:cNvPr>
          <p:cNvSpPr/>
          <p:nvPr/>
        </p:nvSpPr>
        <p:spPr>
          <a:xfrm>
            <a:off x="762000" y="42672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6662040-CA8F-0391-BF40-CDAC81DB54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394200"/>
            <a:ext cx="807278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8617B4C-3365-96D4-6AF7-C0E1308E9D3B}"/>
              </a:ext>
            </a:extLst>
          </p:cNvPr>
          <p:cNvSpPr txBox="1"/>
          <p:nvPr/>
        </p:nvSpPr>
        <p:spPr>
          <a:xfrm>
            <a:off x="2667000" y="4368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LMS «</a:t>
            </a:r>
            <a:r>
              <a:rPr lang="ru-RU" sz="1400" b="1">
                <a:solidFill>
                  <a:srgbClr val="1F3864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BFC8A7-77DF-7574-AF06-4747936DCA53}"/>
              </a:ext>
            </a:extLst>
          </p:cNvPr>
          <p:cNvSpPr txBox="1"/>
          <p:nvPr/>
        </p:nvSpPr>
        <p:spPr>
          <a:xfrm>
            <a:off x="2667000" y="46482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развёртывание; дорогая лицензия.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02EF78A-D9C0-85C9-7473-58BB9F567C13}"/>
              </a:ext>
            </a:extLst>
          </p:cNvPr>
          <p:cNvSpPr/>
          <p:nvPr/>
        </p:nvSpPr>
        <p:spPr>
          <a:xfrm>
            <a:off x="762000" y="5308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7EFE62-2806-AFA3-86F3-35E2F7959DC7}"/>
              </a:ext>
            </a:extLst>
          </p:cNvPr>
          <p:cNvSpPr txBox="1"/>
          <p:nvPr/>
        </p:nvSpPr>
        <p:spPr>
          <a:xfrm>
            <a:off x="762000" y="5486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Вывод: универсального решения «просто и недорого» на рынке нет — разработана собственная система с импортом из XML, разграничением прав и ведомостью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102981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CE874EB-4C31-4404-8A30-BFD2E6BD7E5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AE3624-D074-B83F-AA29-AB823A90E02C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E7FB8-85B4-E7E4-F5C6-4AE7B021F3A3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91FBCE-4061-79C9-9EA6-1EF5266660A4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05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C95B2FB-965E-80D4-8F9F-CE13F5EC23BC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57BE95C-37E1-CB77-A29F-D0F136240AD7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CFFE05-B37A-A810-0BC2-BE0C5CDEEB38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AEC8CF-8E7C-3312-73AB-41566C20E201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3E91B8-EC52-7361-A636-997C25E65A37}"/>
              </a:ext>
            </a:extLst>
          </p:cNvPr>
          <p:cNvSpPr txBox="1"/>
          <p:nvPr/>
        </p:nvSpPr>
        <p:spPr>
          <a:xfrm>
            <a:off x="762000" y="12192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859628-C43E-E4C3-0711-F02AF5A250B9}"/>
              </a:ext>
            </a:extLst>
          </p:cNvPr>
          <p:cNvSpPr txBox="1"/>
          <p:nvPr/>
        </p:nvSpPr>
        <p:spPr>
          <a:xfrm>
            <a:off x="762000" y="1549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связанных таблиц: пользователи, группы, ученики, преподаватели, дисциплины, курсы, задания, записи, работы, оценки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C140A68-99DF-115E-A250-4CD6C7E22C11}"/>
              </a:ext>
            </a:extLst>
          </p:cNvPr>
          <p:cNvSpPr/>
          <p:nvPr/>
        </p:nvSpPr>
        <p:spPr>
          <a:xfrm>
            <a:off x="762000" y="22352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6A1F0F-C894-E7D2-17D0-797D2FC6B5B6}"/>
              </a:ext>
            </a:extLst>
          </p:cNvPr>
          <p:cNvSpPr txBox="1"/>
          <p:nvPr/>
        </p:nvSpPr>
        <p:spPr>
          <a:xfrm>
            <a:off x="762000" y="23368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600" b="1">
                <a:solidFill>
                  <a:srgbClr val="1F3864"/>
                </a:solidFill>
                <a:latin typeface="Times New Roman" panose="02020603050405020304" pitchFamily="18" charset="0"/>
              </a:rPr>
              <a:t>FK</a:t>
            </a:r>
            <a:endParaRPr lang="ru-RU" sz="16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52309-3FDB-56A6-535D-DE2EB66AD633}"/>
              </a:ext>
            </a:extLst>
          </p:cNvPr>
          <p:cNvSpPr txBox="1"/>
          <p:nvPr/>
        </p:nvSpPr>
        <p:spPr>
          <a:xfrm>
            <a:off x="762000" y="2667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все связи заданы внешними ключами; удаление проверяется на зависимые записи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582355C-3591-E9E0-62E3-9D4307427B5C}"/>
              </a:ext>
            </a:extLst>
          </p:cNvPr>
          <p:cNvSpPr/>
          <p:nvPr/>
        </p:nvSpPr>
        <p:spPr>
          <a:xfrm>
            <a:off x="762000" y="33528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07C8C0-9D60-C584-8CD3-6D8A0D530599}"/>
              </a:ext>
            </a:extLst>
          </p:cNvPr>
          <p:cNvSpPr txBox="1"/>
          <p:nvPr/>
        </p:nvSpPr>
        <p:spPr>
          <a:xfrm>
            <a:off x="762000" y="34544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600" b="1">
                <a:solidFill>
                  <a:srgbClr val="1F3864"/>
                </a:solidFill>
                <a:latin typeface="Times New Roman" panose="02020603050405020304" pitchFamily="18" charset="0"/>
              </a:rPr>
              <a:t>CHECK</a:t>
            </a:r>
            <a:endParaRPr lang="ru-RU" sz="16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142988-7A84-2BCE-1A91-B69DAEFA5C41}"/>
              </a:ext>
            </a:extLst>
          </p:cNvPr>
          <p:cNvSpPr txBox="1"/>
          <p:nvPr/>
        </p:nvSpPr>
        <p:spPr>
          <a:xfrm>
            <a:off x="762000" y="37846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 на роль, статусы, номер класса, максимальный и выставленный балл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7BEBB24-658F-7AC8-91A9-481A69A7C4E0}"/>
              </a:ext>
            </a:extLst>
          </p:cNvPr>
          <p:cNvSpPr/>
          <p:nvPr/>
        </p:nvSpPr>
        <p:spPr>
          <a:xfrm>
            <a:off x="762000" y="44704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9637B-4A81-0239-C8C7-FDF172E82075}"/>
              </a:ext>
            </a:extLst>
          </p:cNvPr>
          <p:cNvSpPr txBox="1"/>
          <p:nvPr/>
        </p:nvSpPr>
        <p:spPr>
          <a:xfrm>
            <a:off x="762000" y="45720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3НФ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2C94E5-ED07-E4F0-BD3D-3826D3E470C4}"/>
              </a:ext>
            </a:extLst>
          </p:cNvPr>
          <p:cNvSpPr txBox="1"/>
          <p:nvPr/>
        </p:nvSpPr>
        <p:spPr>
          <a:xfrm>
            <a:off x="762000" y="4902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модель приведена к третьей нормальной форме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BAD9078-1FF7-518F-E6DA-EE3960CEA1B0}"/>
              </a:ext>
            </a:extLst>
          </p:cNvPr>
          <p:cNvSpPr/>
          <p:nvPr/>
        </p:nvSpPr>
        <p:spPr>
          <a:xfrm>
            <a:off x="762000" y="55880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84902D82-6771-7FBD-0F31-E99924E91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219200"/>
            <a:ext cx="6858000" cy="50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396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E5055FF-2BD6-B244-D522-4C16B7A2B0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0D4E66E-CE90-1473-AE9A-081181E52410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ED050-6547-3125-6636-632BC7D60B99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4EAC2-A5E7-A147-90A9-0AB350804805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06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86518C8-5613-58A2-2FF5-846D56501F62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5735C05-44D5-D2BE-E76A-C5AFC23FBF53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F67348-7517-8008-74AC-34BBCB3B7B2F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453450-5D65-0D46-06A2-FDB43B265940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92B144-4B45-C926-41F4-6CFD152FB13B}"/>
              </a:ext>
            </a:extLst>
          </p:cNvPr>
          <p:cNvSpPr/>
          <p:nvPr/>
        </p:nvSpPr>
        <p:spPr>
          <a:xfrm>
            <a:off x="7620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DBDDB9-5C81-4826-B80B-12064F4E6CC5}"/>
              </a:ext>
            </a:extLst>
          </p:cNvPr>
          <p:cNvSpPr txBox="1"/>
          <p:nvPr/>
        </p:nvSpPr>
        <p:spPr>
          <a:xfrm>
            <a:off x="7620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Администратор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625B4E-23D3-21D9-6BAB-D3AB9DFCFD2F}"/>
              </a:ext>
            </a:extLst>
          </p:cNvPr>
          <p:cNvSpPr txBox="1"/>
          <p:nvPr/>
        </p:nvSpPr>
        <p:spPr>
          <a:xfrm>
            <a:off x="7620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00D9D2-6219-9B81-C8E8-203C3D2E32C2}"/>
              </a:ext>
            </a:extLst>
          </p:cNvPr>
          <p:cNvSpPr txBox="1"/>
          <p:nvPr/>
        </p:nvSpPr>
        <p:spPr>
          <a:xfrm>
            <a:off x="7620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Справочники: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9F3D46E-0CB6-E8C5-8E69-A7188C54EAA0}"/>
              </a:ext>
            </a:extLst>
          </p:cNvPr>
          <p:cNvSpPr/>
          <p:nvPr/>
        </p:nvSpPr>
        <p:spPr>
          <a:xfrm>
            <a:off x="7620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A9244C-7FD6-AFE5-594A-37DD874744BD}"/>
              </a:ext>
            </a:extLst>
          </p:cNvPr>
          <p:cNvSpPr txBox="1"/>
          <p:nvPr/>
        </p:nvSpPr>
        <p:spPr>
          <a:xfrm>
            <a:off x="7620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D85B3E-F9CA-8A73-849D-3A4F88CAFC73}"/>
              </a:ext>
            </a:extLst>
          </p:cNvPr>
          <p:cNvSpPr txBox="1"/>
          <p:nvPr/>
        </p:nvSpPr>
        <p:spPr>
          <a:xfrm>
            <a:off x="7620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Полный доступ ко всем функциям системы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D7384CE-BAC0-FAD9-B6FB-73F62FEFE530}"/>
              </a:ext>
            </a:extLst>
          </p:cNvPr>
          <p:cNvSpPr/>
          <p:nvPr/>
        </p:nvSpPr>
        <p:spPr>
          <a:xfrm>
            <a:off x="43942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C5685-2137-18D0-B162-AAE9DF986D00}"/>
              </a:ext>
            </a:extLst>
          </p:cNvPr>
          <p:cNvSpPr txBox="1"/>
          <p:nvPr/>
        </p:nvSpPr>
        <p:spPr>
          <a:xfrm>
            <a:off x="43942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Учитель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08788F-F79D-686F-5926-2FA46AC4D5A5}"/>
              </a:ext>
            </a:extLst>
          </p:cNvPr>
          <p:cNvSpPr txBox="1"/>
          <p:nvPr/>
        </p:nvSpPr>
        <p:spPr>
          <a:xfrm>
            <a:off x="43942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5C853F-3B47-AF51-F234-3BFA69DEBEAE}"/>
              </a:ext>
            </a:extLst>
          </p:cNvPr>
          <p:cNvSpPr txBox="1"/>
          <p:nvPr/>
        </p:nvSpPr>
        <p:spPr>
          <a:xfrm>
            <a:off x="43942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Создание курсов и заданий, назначение сроков и максимального балла, проверка работ, выставление оценок с комментарием, ведомость успеваемости.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5F6702-A664-69D6-1C5B-100A96BC526B}"/>
              </a:ext>
            </a:extLst>
          </p:cNvPr>
          <p:cNvSpPr/>
          <p:nvPr/>
        </p:nvSpPr>
        <p:spPr>
          <a:xfrm>
            <a:off x="43942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AC3E6-AA6E-1A75-5750-703217ADD65E}"/>
              </a:ext>
            </a:extLst>
          </p:cNvPr>
          <p:cNvSpPr txBox="1"/>
          <p:nvPr/>
        </p:nvSpPr>
        <p:spPr>
          <a:xfrm>
            <a:off x="43942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07608B-D13A-348F-922D-048C90373228}"/>
              </a:ext>
            </a:extLst>
          </p:cNvPr>
          <p:cNvSpPr txBox="1"/>
          <p:nvPr/>
        </p:nvSpPr>
        <p:spPr>
          <a:xfrm>
            <a:off x="43942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Только свои курсы и работы учеников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41068527-09FF-407E-EACB-B9C404712EB9}"/>
              </a:ext>
            </a:extLst>
          </p:cNvPr>
          <p:cNvSpPr/>
          <p:nvPr/>
        </p:nvSpPr>
        <p:spPr>
          <a:xfrm>
            <a:off x="80264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F6C63D-81FE-B0BD-4EE0-55041F2C4C03}"/>
              </a:ext>
            </a:extLst>
          </p:cNvPr>
          <p:cNvSpPr txBox="1"/>
          <p:nvPr/>
        </p:nvSpPr>
        <p:spPr>
          <a:xfrm>
            <a:off x="80264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Ученик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027B4B-1A3B-9ADB-A0EF-14CF91233AEF}"/>
              </a:ext>
            </a:extLst>
          </p:cNvPr>
          <p:cNvSpPr txBox="1"/>
          <p:nvPr/>
        </p:nvSpPr>
        <p:spPr>
          <a:xfrm>
            <a:off x="80264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16FE13-F7AE-C8F2-EA06-B61A77A60EB2}"/>
              </a:ext>
            </a:extLst>
          </p:cNvPr>
          <p:cNvSpPr txBox="1"/>
          <p:nvPr/>
        </p:nvSpPr>
        <p:spPr>
          <a:xfrm>
            <a:off x="80264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доступных курсов, запись на курсы, выполнение заданий и отправка работ, просмотр собственных оценок и статуса проверки.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5CEA1B5-FFF2-2696-9CBF-E0E2AEB84BAD}"/>
              </a:ext>
            </a:extLst>
          </p:cNvPr>
          <p:cNvSpPr/>
          <p:nvPr/>
        </p:nvSpPr>
        <p:spPr>
          <a:xfrm>
            <a:off x="80264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D1C346-B518-66DB-5498-07E74F6FA3DC}"/>
              </a:ext>
            </a:extLst>
          </p:cNvPr>
          <p:cNvSpPr txBox="1"/>
          <p:nvPr/>
        </p:nvSpPr>
        <p:spPr>
          <a:xfrm>
            <a:off x="80264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9F5EF20-3D97-5CDB-046D-7F9B93A139AE}"/>
              </a:ext>
            </a:extLst>
          </p:cNvPr>
          <p:cNvSpPr txBox="1"/>
          <p:nvPr/>
        </p:nvSpPr>
        <p:spPr>
          <a:xfrm>
            <a:off x="80264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Только свои данные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2DFF72-8829-B720-B8D5-2ABB310B347C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Доступ ограничен на трёх уровнях: проверка учётных данных при входе, определение роли и открытие окна, фильтрация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2973692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B505B95-77DE-E223-B97C-D42A16D65C2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1CCF37-92FE-09AF-1000-240AC4D4B189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AD9F8-B639-9AF1-2B47-E0946D1BFB93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55BF47-3394-9480-5B69-105CE1D03FAE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07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2F857A4-FB5D-427E-5F46-19DBFA8C5001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4C6D37E-D134-B826-A8ED-7A8EF5D2FFFE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85683A-01B2-41A4-4A15-CD3CF34BFAC5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36DA4E-9CF9-8772-1347-586A738C52BB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567771-186F-1E62-514F-71F2E9EFABBC}"/>
              </a:ext>
            </a:extLst>
          </p:cNvPr>
          <p:cNvSpPr txBox="1"/>
          <p:nvPr/>
        </p:nvSpPr>
        <p:spPr>
          <a:xfrm>
            <a:off x="762000" y="1219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C#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3B76B7-128A-9491-8CF9-5D10D51BDE48}"/>
              </a:ext>
            </a:extLst>
          </p:cNvPr>
          <p:cNvSpPr txBox="1"/>
          <p:nvPr/>
        </p:nvSpPr>
        <p:spPr>
          <a:xfrm>
            <a:off x="4191000" y="12446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06BEA15-4483-F4B8-79E9-860E528A83D1}"/>
              </a:ext>
            </a:extLst>
          </p:cNvPr>
          <p:cNvSpPr/>
          <p:nvPr/>
        </p:nvSpPr>
        <p:spPr>
          <a:xfrm>
            <a:off x="762000" y="1803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3281D7-65BD-3801-D731-5ACF40CCD898}"/>
              </a:ext>
            </a:extLst>
          </p:cNvPr>
          <p:cNvSpPr txBox="1"/>
          <p:nvPr/>
        </p:nvSpPr>
        <p:spPr>
          <a:xfrm>
            <a:off x="762000" y="1955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WPF (XAML)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DC627-7531-40A2-B06F-002D7070B52F}"/>
              </a:ext>
            </a:extLst>
          </p:cNvPr>
          <p:cNvSpPr txBox="1"/>
          <p:nvPr/>
        </p:nvSpPr>
        <p:spPr>
          <a:xfrm>
            <a:off x="4191000" y="19812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настольный интерфейс Windows, разделение разметки и логики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9822AAA-37C4-FA30-021B-3D99703F453C}"/>
              </a:ext>
            </a:extLst>
          </p:cNvPr>
          <p:cNvSpPr/>
          <p:nvPr/>
        </p:nvSpPr>
        <p:spPr>
          <a:xfrm>
            <a:off x="762000" y="25400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1EACE1-1368-A1ED-21C2-811563197EAC}"/>
              </a:ext>
            </a:extLst>
          </p:cNvPr>
          <p:cNvSpPr txBox="1"/>
          <p:nvPr/>
        </p:nvSpPr>
        <p:spPr>
          <a:xfrm>
            <a:off x="762000" y="2692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ADO.NET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EF8B10-1E9B-5FDD-6CC6-0CF35AF4E624}"/>
              </a:ext>
            </a:extLst>
          </p:cNvPr>
          <p:cNvSpPr txBox="1"/>
          <p:nvPr/>
        </p:nvSpPr>
        <p:spPr>
          <a:xfrm>
            <a:off x="4191000" y="27178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провайдер System.Data.SqlClient, параметризованные запросы, транзакции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2456198-916B-62D5-FBA5-AFA592898E6C}"/>
              </a:ext>
            </a:extLst>
          </p:cNvPr>
          <p:cNvSpPr/>
          <p:nvPr/>
        </p:nvSpPr>
        <p:spPr>
          <a:xfrm>
            <a:off x="762000" y="3276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015B91-52E2-482D-AE7D-C842B89506F0}"/>
              </a:ext>
            </a:extLst>
          </p:cNvPr>
          <p:cNvSpPr txBox="1"/>
          <p:nvPr/>
        </p:nvSpPr>
        <p:spPr>
          <a:xfrm>
            <a:off x="762000" y="3429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SQL Server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08FD0B-1AAD-D8BD-90A4-D08801C2EE31}"/>
              </a:ext>
            </a:extLst>
          </p:cNvPr>
          <p:cNvSpPr txBox="1"/>
          <p:nvPr/>
        </p:nvSpPr>
        <p:spPr>
          <a:xfrm>
            <a:off x="4191000" y="34544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внешние ключи, ограничения CHECK, транзакции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8F198D2-7494-96B9-2073-41BB3AE52F30}"/>
              </a:ext>
            </a:extLst>
          </p:cNvPr>
          <p:cNvSpPr/>
          <p:nvPr/>
        </p:nvSpPr>
        <p:spPr>
          <a:xfrm>
            <a:off x="762000" y="40132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BFD186-ED7E-1CA5-400D-EA4A03F41CED}"/>
              </a:ext>
            </a:extLst>
          </p:cNvPr>
          <p:cNvSpPr txBox="1"/>
          <p:nvPr/>
        </p:nvSpPr>
        <p:spPr>
          <a:xfrm>
            <a:off x="7620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724FE4-4AEC-9E10-DDA2-6A6537F1CF68}"/>
              </a:ext>
            </a:extLst>
          </p:cNvPr>
          <p:cNvSpPr txBox="1"/>
          <p:nvPr/>
        </p:nvSpPr>
        <p:spPr>
          <a:xfrm>
            <a:off x="4191000" y="41910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среда разработки и сопровождения продукта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432329FA-D514-0B46-F959-BBD8DF340F6B}"/>
              </a:ext>
            </a:extLst>
          </p:cNvPr>
          <p:cNvSpPr/>
          <p:nvPr/>
        </p:nvSpPr>
        <p:spPr>
          <a:xfrm>
            <a:off x="762000" y="474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2D9B30-E0E9-A6A7-F50E-21C7B3AC6010}"/>
              </a:ext>
            </a:extLst>
          </p:cNvPr>
          <p:cNvSpPr txBox="1"/>
          <p:nvPr/>
        </p:nvSpPr>
        <p:spPr>
          <a:xfrm>
            <a:off x="762000" y="4902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PBKDF2-HMAC-SHA256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F10C03-D468-B3FE-4185-5ED388066C98}"/>
              </a:ext>
            </a:extLst>
          </p:cNvPr>
          <p:cNvSpPr txBox="1"/>
          <p:nvPr/>
        </p:nvSpPr>
        <p:spPr>
          <a:xfrm>
            <a:off x="4191000" y="49276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хеширование паролей, индивидуальная соль, 100 000 итераций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D518D6A-539D-ECA2-EA20-AD00721C03C0}"/>
              </a:ext>
            </a:extLst>
          </p:cNvPr>
          <p:cNvSpPr/>
          <p:nvPr/>
        </p:nvSpPr>
        <p:spPr>
          <a:xfrm>
            <a:off x="762000" y="5486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5E64BC-0987-D1A5-2140-257020FCEAF4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Архитектура трёхуровневая: представление (окна WPF) — логика (обработчики) — данные (доступ к СУБД).</a:t>
            </a:r>
          </a:p>
        </p:txBody>
      </p:sp>
    </p:spTree>
    <p:extLst>
      <p:ext uri="{BB962C8B-B14F-4D97-AF65-F5344CB8AC3E}">
        <p14:creationId xmlns:p14="http://schemas.microsoft.com/office/powerpoint/2010/main" val="2008971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B878C6-9AFC-8BE6-2CCA-989972600A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E2FBED2-2834-1596-4D3C-08E21E104C56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109CF5-7AEF-2F48-01D1-288BCFF50207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E18DE-9E77-92ED-5808-119B742B1DB7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08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BC58D34-756D-4098-B6C0-300BA3E7D882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225CC7-534E-5FF5-6D68-EA9E707B72A5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383344-AF46-4F51-5A74-B49939E17191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565C4A-5CA1-EF03-6F40-153118D45EFB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6CD37-C759-49CA-6641-AF16C9F1EB22}"/>
              </a:ext>
            </a:extLst>
          </p:cNvPr>
          <p:cNvSpPr txBox="1"/>
          <p:nvPr/>
        </p:nvSpPr>
        <p:spPr>
          <a:xfrm>
            <a:off x="762000" y="1270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B72AC5-0947-C05A-B9D7-B34A81089427}"/>
              </a:ext>
            </a:extLst>
          </p:cNvPr>
          <p:cNvSpPr txBox="1"/>
          <p:nvPr/>
        </p:nvSpPr>
        <p:spPr>
          <a:xfrm>
            <a:off x="1270000" y="12827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Вход под учётной записью ученика student1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310BA22-5B38-9801-3726-1FF3B316D7DD}"/>
              </a:ext>
            </a:extLst>
          </p:cNvPr>
          <p:cNvSpPr/>
          <p:nvPr/>
        </p:nvSpPr>
        <p:spPr>
          <a:xfrm>
            <a:off x="1270000" y="18796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83EF33-BA37-FA6F-9F53-5DB0A0AA68C9}"/>
              </a:ext>
            </a:extLst>
          </p:cNvPr>
          <p:cNvSpPr txBox="1"/>
          <p:nvPr/>
        </p:nvSpPr>
        <p:spPr>
          <a:xfrm>
            <a:off x="762000" y="2057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4E411-E1B8-9211-A754-00FD45BCC55D}"/>
              </a:ext>
            </a:extLst>
          </p:cNvPr>
          <p:cNvSpPr txBox="1"/>
          <p:nvPr/>
        </p:nvSpPr>
        <p:spPr>
          <a:xfrm>
            <a:off x="1270000" y="20701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Запись на курс и просмотр заданий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7139481-26D7-031E-9884-BADE3773A33C}"/>
              </a:ext>
            </a:extLst>
          </p:cNvPr>
          <p:cNvSpPr/>
          <p:nvPr/>
        </p:nvSpPr>
        <p:spPr>
          <a:xfrm>
            <a:off x="1270000" y="26670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35CE52-D962-159E-920B-5E7D052390D4}"/>
              </a:ext>
            </a:extLst>
          </p:cNvPr>
          <p:cNvSpPr txBox="1"/>
          <p:nvPr/>
        </p:nvSpPr>
        <p:spPr>
          <a:xfrm>
            <a:off x="762000" y="2844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9DFE0C-DBA7-FC4B-9D06-EBDD902451CD}"/>
              </a:ext>
            </a:extLst>
          </p:cNvPr>
          <p:cNvSpPr txBox="1"/>
          <p:nvPr/>
        </p:nvSpPr>
        <p:spPr>
          <a:xfrm>
            <a:off x="1270000" y="28575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Отправка работы преподавателю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4B3EDD3-A0F0-075B-CABC-8A8D14859642}"/>
              </a:ext>
            </a:extLst>
          </p:cNvPr>
          <p:cNvSpPr/>
          <p:nvPr/>
        </p:nvSpPr>
        <p:spPr>
          <a:xfrm>
            <a:off x="1270000" y="34544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7886E-F649-F557-61D4-4C225E91583E}"/>
              </a:ext>
            </a:extLst>
          </p:cNvPr>
          <p:cNvSpPr txBox="1"/>
          <p:nvPr/>
        </p:nvSpPr>
        <p:spPr>
          <a:xfrm>
            <a:off x="762000" y="3632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3588CA-6C76-BA6A-5D14-E008C1CAF87F}"/>
              </a:ext>
            </a:extLst>
          </p:cNvPr>
          <p:cNvSpPr txBox="1"/>
          <p:nvPr/>
        </p:nvSpPr>
        <p:spPr>
          <a:xfrm>
            <a:off x="1270000" y="36449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Проверка работы, балл и комментарий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4A23E24-E2CB-83F9-8FC8-889B01BC3D9A}"/>
              </a:ext>
            </a:extLst>
          </p:cNvPr>
          <p:cNvSpPr/>
          <p:nvPr/>
        </p:nvSpPr>
        <p:spPr>
          <a:xfrm>
            <a:off x="1270000" y="42418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998A79-5D4E-DCC1-3777-19C4046B9889}"/>
              </a:ext>
            </a:extLst>
          </p:cNvPr>
          <p:cNvSpPr txBox="1"/>
          <p:nvPr/>
        </p:nvSpPr>
        <p:spPr>
          <a:xfrm>
            <a:off x="762000" y="4419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B85636-8A75-97F4-B599-DB33091EE52A}"/>
              </a:ext>
            </a:extLst>
          </p:cNvPr>
          <p:cNvSpPr txBox="1"/>
          <p:nvPr/>
        </p:nvSpPr>
        <p:spPr>
          <a:xfrm>
            <a:off x="1270000" y="44323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оценки в личном кабинете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29E8976-7FB1-2A54-D289-D252A6E36400}"/>
              </a:ext>
            </a:extLst>
          </p:cNvPr>
          <p:cNvSpPr/>
          <p:nvPr/>
        </p:nvSpPr>
        <p:spPr>
          <a:xfrm>
            <a:off x="1270000" y="50292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Демонстрация приложения">
            <a:hlinkClick r:id="" action="ppaction://media"/>
            <a:extLst>
              <a:ext uri="{FF2B5EF4-FFF2-40B4-BE49-F238E27FC236}">
                <a16:creationId xmlns:a16="http://schemas.microsoft.com/office/drawing/2014/main" id="{5983C752-6277-ED95-D3D4-F5F69A52FD96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61000" y="1270000"/>
            <a:ext cx="5969000" cy="3352800"/>
          </a:xfrm>
          <a:prstGeom prst="rect">
            <a:avLst/>
          </a:prstGeom>
          <a:ln w="12700">
            <a:solidFill>
              <a:srgbClr val="1F3864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D3855CA-B0CF-76CC-CC9B-2AFFF4001085}"/>
              </a:ext>
            </a:extLst>
          </p:cNvPr>
          <p:cNvSpPr txBox="1"/>
          <p:nvPr/>
        </p:nvSpPr>
        <p:spPr>
          <a:xfrm>
            <a:off x="54610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Продолжительность — около 25 секунд</a:t>
            </a:r>
          </a:p>
        </p:txBody>
      </p:sp>
    </p:spTree>
    <p:extLst>
      <p:ext uri="{BB962C8B-B14F-4D97-AF65-F5344CB8AC3E}">
        <p14:creationId xmlns:p14="http://schemas.microsoft.com/office/powerpoint/2010/main" val="262181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123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F406BEC-4351-69E3-89E8-71F68C241F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7A9A91-CB53-C6FE-1244-412DBA48E82A}"/>
              </a:ext>
            </a:extLst>
          </p:cNvPr>
          <p:cNvSpPr txBox="1"/>
          <p:nvPr/>
        </p:nvSpPr>
        <p:spPr>
          <a:xfrm>
            <a:off x="762000" y="1905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4000" b="1">
                <a:solidFill>
                  <a:srgbClr val="FFFFFF"/>
                </a:solidFill>
                <a:latin typeface="Times New Roman" panose="02020603050405020304" pitchFamily="18" charset="0"/>
              </a:rPr>
              <a:t>СПАСИБО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1B43A-1ACD-2987-59A4-CDC6BA038430}"/>
              </a:ext>
            </a:extLst>
          </p:cNvPr>
          <p:cNvSpPr txBox="1"/>
          <p:nvPr/>
        </p:nvSpPr>
        <p:spPr>
          <a:xfrm>
            <a:off x="762000" y="26416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4000" b="1">
                <a:solidFill>
                  <a:srgbClr val="FFFFFF"/>
                </a:solidFill>
                <a:latin typeface="Times New Roman" panose="02020603050405020304" pitchFamily="18" charset="0"/>
              </a:rPr>
              <a:t>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B13215E-AB0E-981A-8707-8AC28704F206}"/>
              </a:ext>
            </a:extLst>
          </p:cNvPr>
          <p:cNvSpPr/>
          <p:nvPr/>
        </p:nvSpPr>
        <p:spPr>
          <a:xfrm>
            <a:off x="762000" y="3708400"/>
            <a:ext cx="1778000" cy="25400"/>
          </a:xfrm>
          <a:prstGeom prst="rect">
            <a:avLst/>
          </a:prstGeom>
          <a:solidFill>
            <a:srgbClr val="D6D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D571F-05A0-F4B2-698D-6BB352C46CAC}"/>
              </a:ext>
            </a:extLst>
          </p:cNvPr>
          <p:cNvSpPr txBox="1"/>
          <p:nvPr/>
        </p:nvSpPr>
        <p:spPr>
          <a:xfrm>
            <a:off x="762000" y="3937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>
                <a:solidFill>
                  <a:srgbClr val="D6DEE8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E18CF2-0A9C-CE3C-77B9-379E95465B1B}"/>
              </a:ext>
            </a:extLst>
          </p:cNvPr>
          <p:cNvSpPr txBox="1"/>
          <p:nvPr/>
        </p:nvSpPr>
        <p:spPr>
          <a:xfrm>
            <a:off x="762000" y="4978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FE6440-9FB9-19ED-51F0-54DF104402E4}"/>
              </a:ext>
            </a:extLst>
          </p:cNvPr>
          <p:cNvSpPr txBox="1"/>
          <p:nvPr/>
        </p:nvSpPr>
        <p:spPr>
          <a:xfrm>
            <a:off x="762000" y="52578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Выполнил: Матулов А. А., группа ИС1-45 · Руководитель: Васильченко М. О.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867FC-750C-5037-39FE-38871E98FD3F}"/>
              </a:ext>
            </a:extLst>
          </p:cNvPr>
          <p:cNvSpPr txBox="1"/>
          <p:nvPr/>
        </p:nvSpPr>
        <p:spPr>
          <a:xfrm>
            <a:off x="762000" y="5867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299712881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700</Words>
  <Application>Microsoft Office PowerPoint</Application>
  <PresentationFormat>Широкоэкранный</PresentationFormat>
  <Paragraphs>129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2026-10-27T16:31:33Z</dcterms:created>
  <dcterms:modified xsi:type="dcterms:W3CDTF">2026-10-27T16:31:33Z</dcterms:modified>
</cp:coreProperties>
</file>