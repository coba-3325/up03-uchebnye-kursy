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94B20A-B01F-21FA-E836-7D6BB49EA4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578432F-DB23-4B23-719D-54E4671423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47C741E-FEDF-EBD2-854F-FCE642255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AD547-0098-4F95-A3E6-B35FDCDAFEB6}" type="datetimeFigureOut">
              <a:rPr lang="ru-RU" smtClean="0"/>
              <a:t>22.10.2026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F337277-ED54-A559-296C-2FFA8A5AF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FA792D4-1D6E-BD80-D41E-CE700217E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248956-2374-48B4-B20B-A1021DAEFE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1829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2D4BFD-C2DC-275B-4294-D81A3522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8D04246-4F6C-0F05-221A-567A323BF6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4065619-40D9-3706-DC43-82098FAAC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AD547-0098-4F95-A3E6-B35FDCDAFEB6}" type="datetimeFigureOut">
              <a:rPr lang="ru-RU" smtClean="0"/>
              <a:t>22.10.2026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0A27328-30F0-89AB-53A7-06676921D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A50D9C9-3F7A-13A3-940D-2F36A68CB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248956-2374-48B4-B20B-A1021DAEFE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604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EDF6B5-24D2-76A1-854B-C309BF0A2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2FFB05D-6BBB-0B1D-51A9-8E74225A0C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37F1CF9-2F23-C988-9E9C-32B39923D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AD547-0098-4F95-A3E6-B35FDCDAFEB6}" type="datetimeFigureOut">
              <a:rPr lang="ru-RU" smtClean="0"/>
              <a:t>22.10.2026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2AFEEAF-BF07-E308-7B51-B21074B3E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8B75AD9-7F0E-5AAF-5C27-3FBB83B01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248956-2374-48B4-B20B-A1021DAEFE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19013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DE49E3-1C07-198B-A641-AB00A6092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B8A60D2-5845-27EC-2188-58703EE0D0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DC8DFD1-056A-F35B-1223-EBECFCADCE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4CA2D5A-4CDB-435D-B9A0-AB913AE15F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AD547-0098-4F95-A3E6-B35FDCDAFEB6}" type="datetimeFigureOut">
              <a:rPr lang="ru-RU" smtClean="0"/>
              <a:t>22.10.2026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BCC97E0-023C-86E8-8D0E-ED20AD7B5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40C13D7-5D83-2213-C4B0-6EF9EED9D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248956-2374-48B4-B20B-A1021DAEFE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1029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04B867-A03B-5101-7638-442572CF5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079F521-870D-3A3C-3AD7-A2A082970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A4884EF-C7D6-EF74-E88F-4FCD81E201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E7B92C6-F640-34F3-F32E-89AF6A4DC8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E9C10694-0DC2-78C8-5036-832921F0D9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D494726-431A-700A-A9BE-B1A6DDF856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AD547-0098-4F95-A3E6-B35FDCDAFEB6}" type="datetimeFigureOut">
              <a:rPr lang="ru-RU" smtClean="0"/>
              <a:t>22.10.2026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266C023-72A8-15D0-792D-7119458DE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69700F1C-5A3E-C93F-51B6-676A2F13A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248956-2374-48B4-B20B-A1021DAEFE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4870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283DB1-7DB4-7F33-CDD7-9CEED3292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0FC06F1-4C81-93D3-24B6-B6391D0E0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AD547-0098-4F95-A3E6-B35FDCDAFEB6}" type="datetimeFigureOut">
              <a:rPr lang="ru-RU" smtClean="0"/>
              <a:t>22.10.2026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A30F401A-A942-2FAD-6DEF-2AE49CAC5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DC91934-5B27-BEAA-64F9-C18DC9533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248956-2374-48B4-B20B-A1021DAEFE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8596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8BF4F305-DF00-9237-67B5-749A0CEB2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AD547-0098-4F95-A3E6-B35FDCDAFEB6}" type="datetimeFigureOut">
              <a:rPr lang="ru-RU" smtClean="0"/>
              <a:t>22.10.2026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EABC8274-FF22-F942-6F1F-B77240049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D8D32A2-D60B-F554-9D6E-CF1467961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248956-2374-48B4-B20B-A1021DAEFE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164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0A5FD7-4A18-508A-FFF9-6ABB891E6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DC83CE2-1B0B-8E84-8F96-B1D94D62D4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D492F47-04AC-287A-E2BE-6968902D1C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E20D621-7CB6-70D8-8BB0-20A169C8E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AD547-0098-4F95-A3E6-B35FDCDAFEB6}" type="datetimeFigureOut">
              <a:rPr lang="ru-RU" smtClean="0"/>
              <a:t>22.10.2026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46CAA40-3AF4-539C-1896-B514540EC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6572272-55E7-DBE8-1501-9210A55F2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248956-2374-48B4-B20B-A1021DAEFE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07733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C708DA-3DCE-0BAA-4ECD-89C680ABD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42938E84-07FA-3750-EA71-F6FC74E4BA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2ADF9FA-B65B-85C6-6AB5-8DFD3700DB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2FA9EFC-EC0B-6302-F593-209B23751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AD547-0098-4F95-A3E6-B35FDCDAFEB6}" type="datetimeFigureOut">
              <a:rPr lang="ru-RU" smtClean="0"/>
              <a:t>22.10.2026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029CF42-5A97-CAC6-6580-7CE6E7843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117878A-FCDA-B547-2897-0C175066C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248956-2374-48B4-B20B-A1021DAEFE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3000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EE9AF7F-CDE3-E01A-70F3-33BAD59B0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7EA22BC-7755-9735-3C1C-1847B3A8C3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B03F557-D6B8-B4CA-D5B3-A40779BFA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AD547-0098-4F95-A3E6-B35FDCDAFEB6}" type="datetimeFigureOut">
              <a:rPr lang="ru-RU" smtClean="0"/>
              <a:t>22.10.2026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F1D34D3-F6F8-A691-4E6C-62519F96B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40DE742-0379-3B64-0771-C8D4F32EB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248956-2374-48B4-B20B-A1021DAEFE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8382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70455D2-9415-313D-B5A1-729324D5CD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60FB949-6E09-56BD-86B9-21A39907DB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D34B6E7-54AD-2DBA-E641-F6EE7A7285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AD547-0098-4F95-A3E6-B35FDCDAFEB6}" type="datetimeFigureOut">
              <a:rPr lang="ru-RU" smtClean="0"/>
              <a:t>22.10.2026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D5E8A28-3292-AA4A-A9FF-FD41BB7FD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BB35B90-9B41-D63E-4361-A2141E343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248956-2374-48B4-B20B-A1021DAEFE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79694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2F54835-A4C5-B2CA-EC34-F7FF1DC53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834371C-9D98-8075-0551-B425FA7338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7CB833D-E313-2110-A3CB-01BF873F6F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CAD547-0098-4F95-A3E6-B35FDCDAFEB6}" type="datetimeFigureOut">
              <a:rPr lang="ru-RU" smtClean="0"/>
              <a:t>22.10.2026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D0A2E83-E5AF-0EB3-958F-5FFD5BF9BE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B53B29B-37EC-7ADE-1BB2-BB9B889DD8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248956-2374-48B4-B20B-A1021DAEFE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0260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F5BEB85-AEC1-366B-069D-096A8E4CB90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EF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49DC070-7F2B-6FB8-2265-4E6098203005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5B4B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4065CA6-1321-A3EE-FC52-9D057D8DB114}"/>
              </a:ext>
            </a:extLst>
          </p:cNvPr>
          <p:cNvSpPr/>
          <p:nvPr/>
        </p:nvSpPr>
        <p:spPr>
          <a:xfrm>
            <a:off x="0" y="6756400"/>
            <a:ext cx="12192000" cy="101600"/>
          </a:xfrm>
          <a:prstGeom prst="rect">
            <a:avLst/>
          </a:prstGeom>
          <a:solidFill>
            <a:srgbClr val="5B4B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360FAD-3AB8-7959-7BD2-3E952459A4FB}"/>
              </a:ext>
            </a:extLst>
          </p:cNvPr>
          <p:cNvSpPr txBox="1"/>
          <p:nvPr/>
        </p:nvSpPr>
        <p:spPr>
          <a:xfrm>
            <a:off x="762000" y="5842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>
                <a:solidFill>
                  <a:srgbClr val="6B6472"/>
                </a:solidFill>
                <a:latin typeface="Times New Roman" panose="02020603050405020304" pitchFamily="18" charset="0"/>
              </a:rPr>
              <a:t>Государственное профессиональное образовательное учреждение Ярославской области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7B28FB-A636-26C4-A550-F5D65D83164E}"/>
              </a:ext>
            </a:extLst>
          </p:cNvPr>
          <p:cNvSpPr txBox="1"/>
          <p:nvPr/>
        </p:nvSpPr>
        <p:spPr>
          <a:xfrm>
            <a:off x="762000" y="889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b="1">
                <a:solidFill>
                  <a:srgbClr val="2B2233"/>
                </a:solidFill>
                <a:latin typeface="Times New Roman" panose="02020603050405020304" pitchFamily="18" charset="0"/>
              </a:rPr>
              <a:t>«Ярославский градостроительный колледж»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54CAED-A2E1-F185-B36D-660F55DA12F3}"/>
              </a:ext>
            </a:extLst>
          </p:cNvPr>
          <p:cNvSpPr txBox="1"/>
          <p:nvPr/>
        </p:nvSpPr>
        <p:spPr>
          <a:xfrm>
            <a:off x="762000" y="13208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>
                <a:solidFill>
                  <a:srgbClr val="6B6472"/>
                </a:solidFill>
                <a:latin typeface="Times New Roman" panose="02020603050405020304" pitchFamily="18" charset="0"/>
              </a:rPr>
              <a:t>МДК 06.03 «Устройство и функционирование информационной системы»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545C19-D375-A779-3D27-D40842666C78}"/>
              </a:ext>
            </a:extLst>
          </p:cNvPr>
          <p:cNvSpPr txBox="1"/>
          <p:nvPr/>
        </p:nvSpPr>
        <p:spPr>
          <a:xfrm>
            <a:off x="762000" y="1930400"/>
            <a:ext cx="10668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b="1">
                <a:solidFill>
                  <a:srgbClr val="5B4B6E"/>
                </a:solidFill>
                <a:latin typeface="Times New Roman" panose="02020603050405020304" pitchFamily="18" charset="0"/>
              </a:rPr>
              <a:t>ПРОЕКТНАЯ РАБОТА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073DBC-E3D7-FA20-9F45-E9B5F7DD85BE}"/>
              </a:ext>
            </a:extLst>
          </p:cNvPr>
          <p:cNvSpPr txBox="1"/>
          <p:nvPr/>
        </p:nvSpPr>
        <p:spPr>
          <a:xfrm>
            <a:off x="762000" y="23622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700" b="1">
                <a:solidFill>
                  <a:srgbClr val="2B2233"/>
                </a:solidFill>
                <a:latin typeface="Times New Roman" panose="02020603050405020304" pitchFamily="18" charset="0"/>
              </a:rPr>
              <a:t>Разработка информационной системы «Учебные курсы»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3A0312-075F-CE99-7A61-AC789AD8F0DA}"/>
              </a:ext>
            </a:extLst>
          </p:cNvPr>
          <p:cNvSpPr txBox="1"/>
          <p:nvPr/>
        </p:nvSpPr>
        <p:spPr>
          <a:xfrm>
            <a:off x="762000" y="2794000"/>
            <a:ext cx="10668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200">
                <a:solidFill>
                  <a:srgbClr val="2B2233"/>
                </a:solidFill>
                <a:latin typeface="Times New Roman" panose="02020603050405020304" pitchFamily="18" charset="0"/>
              </a:rPr>
              <a:t>для удалённого обучения школьников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11F0877-5EDE-830B-415B-6AF88F80C526}"/>
              </a:ext>
            </a:extLst>
          </p:cNvPr>
          <p:cNvSpPr/>
          <p:nvPr/>
        </p:nvSpPr>
        <p:spPr>
          <a:xfrm>
            <a:off x="762000" y="3581400"/>
            <a:ext cx="10668000" cy="381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112DA3-CB48-3690-106B-ADEEAEDF290C}"/>
              </a:ext>
            </a:extLst>
          </p:cNvPr>
          <p:cNvSpPr txBox="1"/>
          <p:nvPr/>
        </p:nvSpPr>
        <p:spPr>
          <a:xfrm>
            <a:off x="762000" y="39370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>
                <a:solidFill>
                  <a:srgbClr val="6B6472"/>
                </a:solidFill>
                <a:latin typeface="Times New Roman" panose="02020603050405020304" pitchFamily="18" charset="0"/>
              </a:rPr>
              <a:t>Выполнил студент группы ИС1-45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DDB76F-9CBB-5FD1-15D5-039AEB4C4C60}"/>
              </a:ext>
            </a:extLst>
          </p:cNvPr>
          <p:cNvSpPr txBox="1"/>
          <p:nvPr/>
        </p:nvSpPr>
        <p:spPr>
          <a:xfrm>
            <a:off x="762000" y="4216400"/>
            <a:ext cx="5080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200" b="1">
                <a:solidFill>
                  <a:srgbClr val="2B2233"/>
                </a:solidFill>
                <a:latin typeface="Times New Roman" panose="02020603050405020304" pitchFamily="18" charset="0"/>
              </a:rPr>
              <a:t>Матулов А. А.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96EA565-F5D7-C706-5CDA-51DA29F481D5}"/>
              </a:ext>
            </a:extLst>
          </p:cNvPr>
          <p:cNvSpPr txBox="1"/>
          <p:nvPr/>
        </p:nvSpPr>
        <p:spPr>
          <a:xfrm>
            <a:off x="6604000" y="39370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>
                <a:solidFill>
                  <a:srgbClr val="6B6472"/>
                </a:solidFill>
                <a:latin typeface="Times New Roman" panose="02020603050405020304" pitchFamily="18" charset="0"/>
              </a:rPr>
              <a:t>Руководитель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9ABBC0A-3D7E-1ACB-79C2-E73A8B6DD67D}"/>
              </a:ext>
            </a:extLst>
          </p:cNvPr>
          <p:cNvSpPr txBox="1"/>
          <p:nvPr/>
        </p:nvSpPr>
        <p:spPr>
          <a:xfrm>
            <a:off x="6604000" y="4216400"/>
            <a:ext cx="5080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200" b="1">
                <a:solidFill>
                  <a:srgbClr val="2B2233"/>
                </a:solidFill>
                <a:latin typeface="Times New Roman" panose="02020603050405020304" pitchFamily="18" charset="0"/>
              </a:rPr>
              <a:t>Васильченко М. О.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7B9B7C-0685-9702-062D-BDB1C8B17AEA}"/>
              </a:ext>
            </a:extLst>
          </p:cNvPr>
          <p:cNvSpPr txBox="1"/>
          <p:nvPr/>
        </p:nvSpPr>
        <p:spPr>
          <a:xfrm>
            <a:off x="762000" y="60452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600">
                <a:solidFill>
                  <a:srgbClr val="6B6472"/>
                </a:solidFill>
                <a:latin typeface="Times New Roman" panose="02020603050405020304" pitchFamily="18" charset="0"/>
              </a:rPr>
              <a:t>Ярославль, 2026</a:t>
            </a:r>
          </a:p>
        </p:txBody>
      </p:sp>
    </p:spTree>
    <p:extLst>
      <p:ext uri="{BB962C8B-B14F-4D97-AF65-F5344CB8AC3E}">
        <p14:creationId xmlns:p14="http://schemas.microsoft.com/office/powerpoint/2010/main" val="4470905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6A84E295-B90C-2758-3AA4-6487A9FA588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99E128A-399D-F99D-3657-F47AF6B408DA}"/>
              </a:ext>
            </a:extLst>
          </p:cNvPr>
          <p:cNvSpPr/>
          <p:nvPr/>
        </p:nvSpPr>
        <p:spPr>
          <a:xfrm>
            <a:off x="0" y="0"/>
            <a:ext cx="12192000" cy="965200"/>
          </a:xfrm>
          <a:prstGeom prst="rect">
            <a:avLst/>
          </a:prstGeom>
          <a:solidFill>
            <a:srgbClr val="5B4B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331EC8-EF84-D107-6047-822799D39D01}"/>
              </a:ext>
            </a:extLst>
          </p:cNvPr>
          <p:cNvSpPr txBox="1"/>
          <p:nvPr/>
        </p:nvSpPr>
        <p:spPr>
          <a:xfrm>
            <a:off x="558800" y="2286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800" b="1">
                <a:solidFill>
                  <a:srgbClr val="FFFFFF"/>
                </a:solidFill>
                <a:latin typeface="Times New Roman" panose="02020603050405020304" pitchFamily="18" charset="0"/>
              </a:rPr>
              <a:t>Цель дипломного проекта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4CFA31-C249-75EC-B9AB-4EE762D104F9}"/>
              </a:ext>
            </a:extLst>
          </p:cNvPr>
          <p:cNvSpPr txBox="1"/>
          <p:nvPr/>
        </p:nvSpPr>
        <p:spPr>
          <a:xfrm>
            <a:off x="10617200" y="304800"/>
            <a:ext cx="1041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500">
                <a:solidFill>
                  <a:srgbClr val="C9BBDA"/>
                </a:solidFill>
                <a:latin typeface="Times New Roman" panose="02020603050405020304" pitchFamily="18" charset="0"/>
              </a:rPr>
              <a:t>2 / 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C4FA9851-6B26-9335-1BDC-D034E3DF52F4}"/>
              </a:ext>
            </a:extLst>
          </p:cNvPr>
          <p:cNvSpPr/>
          <p:nvPr/>
        </p:nvSpPr>
        <p:spPr>
          <a:xfrm>
            <a:off x="0" y="965200"/>
            <a:ext cx="121920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7709913-6AAF-705F-EA3E-439507B8F3CE}"/>
              </a:ext>
            </a:extLst>
          </p:cNvPr>
          <p:cNvSpPr/>
          <p:nvPr/>
        </p:nvSpPr>
        <p:spPr>
          <a:xfrm>
            <a:off x="558800" y="1346200"/>
            <a:ext cx="11074400" cy="1625600"/>
          </a:xfrm>
          <a:prstGeom prst="rect">
            <a:avLst/>
          </a:prstGeom>
          <a:solidFill>
            <a:srgbClr val="EDE8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5C7733-A35B-ED21-0699-68A5BCDB4B3E}"/>
              </a:ext>
            </a:extLst>
          </p:cNvPr>
          <p:cNvSpPr txBox="1"/>
          <p:nvPr/>
        </p:nvSpPr>
        <p:spPr>
          <a:xfrm>
            <a:off x="863600" y="1600200"/>
            <a:ext cx="10464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100" b="1">
                <a:solidFill>
                  <a:srgbClr val="2B2233"/>
                </a:solidFill>
                <a:latin typeface="Times New Roman" panose="02020603050405020304" pitchFamily="18" charset="0"/>
              </a:rPr>
              <a:t>Разработка информационной системы, обеспечивающей автоматизацию создания, сопровождения и прохождения учебных курсов для удалённого обучения школьников, а также ведение учёта учащихся, учебных групп, преподавателей, дисциплин и успеваемости.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F806FA-C107-AE53-38E3-2FC3F3A74165}"/>
              </a:ext>
            </a:extLst>
          </p:cNvPr>
          <p:cNvSpPr txBox="1"/>
          <p:nvPr/>
        </p:nvSpPr>
        <p:spPr>
          <a:xfrm>
            <a:off x="812800" y="3327400"/>
            <a:ext cx="10668000" cy="369332"/>
          </a:xfrm>
          <a:prstGeom prst="rect">
            <a:avLst/>
          </a:prstGeom>
          <a:noFill/>
        </p:spPr>
        <p:txBody>
          <a:bodyPr vert="horz" wrap="square" lIns="0" rIns="0" rtlCol="0">
            <a:noAutofit/>
          </a:bodyPr>
          <a:lstStyle/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900">
                <a:solidFill>
                  <a:srgbClr val="2B2233"/>
                </a:solidFill>
                <a:latin typeface="Times New Roman" panose="02020603050405020304" pitchFamily="18" charset="0"/>
              </a:rPr>
              <a:t>Снижение трудоёмкости подготовки учебных курсов и заданий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900">
                <a:solidFill>
                  <a:srgbClr val="2B2233"/>
                </a:solidFill>
                <a:latin typeface="Times New Roman" panose="02020603050405020304" pitchFamily="18" charset="0"/>
              </a:rPr>
              <a:t>Прозрачный контроль сроков выполнения работ и формирование ведомости успеваемости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900">
                <a:solidFill>
                  <a:srgbClr val="2B2233"/>
                </a:solidFill>
                <a:latin typeface="Times New Roman" panose="02020603050405020304" pitchFamily="18" charset="0"/>
              </a:rPr>
              <a:t>Разграничение прав доступа между администратором, учителем и учеником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900">
                <a:solidFill>
                  <a:srgbClr val="2B2233"/>
                </a:solidFill>
                <a:latin typeface="Times New Roman" panose="02020603050405020304" pitchFamily="18" charset="0"/>
              </a:rPr>
              <a:t>Безопасное хранение учётных данных пользователей</a:t>
            </a:r>
          </a:p>
          <a:p>
            <a:pPr marL="457200" indent="-457200">
              <a:spcAft>
                <a:spcPts val="1000"/>
              </a:spcAft>
              <a:buSzPct val="90000"/>
              <a:buFont typeface="+mj-lt"/>
              <a:buChar char="•"/>
            </a:pPr>
            <a:endParaRPr lang="ru-RU" sz="1900">
              <a:solidFill>
                <a:srgbClr val="2B2233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45833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E2DBD48E-8F87-DAE1-9C03-1665401EBBA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9DA11DE9-3B17-A053-7AA7-1BAC1F8212EF}"/>
              </a:ext>
            </a:extLst>
          </p:cNvPr>
          <p:cNvSpPr/>
          <p:nvPr/>
        </p:nvSpPr>
        <p:spPr>
          <a:xfrm>
            <a:off x="0" y="0"/>
            <a:ext cx="12192000" cy="965200"/>
          </a:xfrm>
          <a:prstGeom prst="rect">
            <a:avLst/>
          </a:prstGeom>
          <a:solidFill>
            <a:srgbClr val="5B4B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1E7C10-0D44-8C77-B8CE-D67B4DE85144}"/>
              </a:ext>
            </a:extLst>
          </p:cNvPr>
          <p:cNvSpPr txBox="1"/>
          <p:nvPr/>
        </p:nvSpPr>
        <p:spPr>
          <a:xfrm>
            <a:off x="558800" y="2286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800" b="1">
                <a:solidFill>
                  <a:srgbClr val="FFFFFF"/>
                </a:solidFill>
                <a:latin typeface="Times New Roman" panose="02020603050405020304" pitchFamily="18" charset="0"/>
              </a:rPr>
              <a:t>Задачи дипломного проекта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C50EAB-2443-451F-187A-33BE4194E931}"/>
              </a:ext>
            </a:extLst>
          </p:cNvPr>
          <p:cNvSpPr txBox="1"/>
          <p:nvPr/>
        </p:nvSpPr>
        <p:spPr>
          <a:xfrm>
            <a:off x="10617200" y="304800"/>
            <a:ext cx="1041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500">
                <a:solidFill>
                  <a:srgbClr val="C9BBDA"/>
                </a:solidFill>
                <a:latin typeface="Times New Roman" panose="02020603050405020304" pitchFamily="18" charset="0"/>
              </a:rPr>
              <a:t>3 / 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7977D09-AC97-EFB9-7EA2-7238283DFAD8}"/>
              </a:ext>
            </a:extLst>
          </p:cNvPr>
          <p:cNvSpPr/>
          <p:nvPr/>
        </p:nvSpPr>
        <p:spPr>
          <a:xfrm>
            <a:off x="0" y="965200"/>
            <a:ext cx="121920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02688B-87C3-238C-1C91-C59D23896CA6}"/>
              </a:ext>
            </a:extLst>
          </p:cNvPr>
          <p:cNvSpPr txBox="1"/>
          <p:nvPr/>
        </p:nvSpPr>
        <p:spPr>
          <a:xfrm>
            <a:off x="914400" y="14224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700">
                <a:solidFill>
                  <a:srgbClr val="2B2233"/>
                </a:solidFill>
                <a:latin typeface="Times New Roman" panose="02020603050405020304" pitchFamily="18" charset="0"/>
              </a:rPr>
              <a:t>1. Анализ предметной области и существующих бизнес-процессов</a:t>
            </a:r>
          </a:p>
          <a:p>
            <a:r>
              <a:rPr lang="ru-RU" sz="1700">
                <a:solidFill>
                  <a:srgbClr val="2B2233"/>
                </a:solidFill>
                <a:latin typeface="Times New Roman" panose="02020603050405020304" pitchFamily="18" charset="0"/>
              </a:rPr>
              <a:t>3. Проектирование архитектуры, модели данных и интерфейса системы</a:t>
            </a:r>
          </a:p>
          <a:p>
            <a:r>
              <a:rPr lang="ru-RU" sz="1700">
                <a:solidFill>
                  <a:srgbClr val="2B2233"/>
                </a:solidFill>
                <a:latin typeface="Times New Roman" panose="02020603050405020304" pitchFamily="18" charset="0"/>
              </a:rPr>
              <a:t>5. Обеспечение безопасности информации и разграничения прав доступа</a:t>
            </a:r>
          </a:p>
          <a:p>
            <a:r>
              <a:rPr lang="ru-RU" sz="1700">
                <a:solidFill>
                  <a:srgbClr val="2B2233"/>
                </a:solidFill>
                <a:latin typeface="Times New Roman" panose="02020603050405020304" pitchFamily="18" charset="0"/>
              </a:rPr>
              <a:t>7. Описание аппаратных и программных средств функционирования системы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6256E4-44A6-FE50-C67B-107688A398C6}"/>
              </a:ext>
            </a:extLst>
          </p:cNvPr>
          <p:cNvSpPr txBox="1"/>
          <p:nvPr/>
        </p:nvSpPr>
        <p:spPr>
          <a:xfrm>
            <a:off x="6451600" y="14224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700">
                <a:solidFill>
                  <a:srgbClr val="2B2233"/>
                </a:solidFill>
                <a:latin typeface="Times New Roman" panose="02020603050405020304" pitchFamily="18" charset="0"/>
              </a:rPr>
              <a:t>2. Обзор и анализ существующих аналогов информационных систем</a:t>
            </a:r>
          </a:p>
          <a:p>
            <a:r>
              <a:rPr lang="ru-RU" sz="1700">
                <a:solidFill>
                  <a:srgbClr val="2B2233"/>
                </a:solidFill>
                <a:latin typeface="Times New Roman" panose="02020603050405020304" pitchFamily="18" charset="0"/>
              </a:rPr>
              <a:t>4. Разработка внутренней структуры и программирование приложения</a:t>
            </a:r>
          </a:p>
          <a:p>
            <a:r>
              <a:rPr lang="ru-RU" sz="1700">
                <a:solidFill>
                  <a:srgbClr val="2B2233"/>
                </a:solidFill>
                <a:latin typeface="Times New Roman" panose="02020603050405020304" pitchFamily="18" charset="0"/>
              </a:rPr>
              <a:t>6. Тестирование разработанного программного продукта</a:t>
            </a:r>
          </a:p>
          <a:p>
            <a:r>
              <a:rPr lang="ru-RU" sz="1700">
                <a:solidFill>
                  <a:srgbClr val="2B2233"/>
                </a:solidFill>
                <a:latin typeface="Times New Roman" panose="02020603050405020304" pitchFamily="18" charset="0"/>
              </a:rPr>
              <a:t>8. Составление инструкций для пользователей, преподавателей и администратора</a:t>
            </a:r>
          </a:p>
        </p:txBody>
      </p:sp>
    </p:spTree>
    <p:extLst>
      <p:ext uri="{BB962C8B-B14F-4D97-AF65-F5344CB8AC3E}">
        <p14:creationId xmlns:p14="http://schemas.microsoft.com/office/powerpoint/2010/main" val="41706896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D89CA07-C99A-982F-24ED-C22A7AD00AB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71A4BBA-4248-0CBE-C6F4-13C58093E3B5}"/>
              </a:ext>
            </a:extLst>
          </p:cNvPr>
          <p:cNvSpPr/>
          <p:nvPr/>
        </p:nvSpPr>
        <p:spPr>
          <a:xfrm>
            <a:off x="0" y="0"/>
            <a:ext cx="12192000" cy="965200"/>
          </a:xfrm>
          <a:prstGeom prst="rect">
            <a:avLst/>
          </a:prstGeom>
          <a:solidFill>
            <a:srgbClr val="5B4B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10E07B-B826-F0AF-88A5-F6C5B99CAA66}"/>
              </a:ext>
            </a:extLst>
          </p:cNvPr>
          <p:cNvSpPr txBox="1"/>
          <p:nvPr/>
        </p:nvSpPr>
        <p:spPr>
          <a:xfrm>
            <a:off x="558800" y="2286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800" b="1">
                <a:solidFill>
                  <a:srgbClr val="FFFFFF"/>
                </a:solidFill>
                <a:latin typeface="Times New Roman" panose="02020603050405020304" pitchFamily="18" charset="0"/>
              </a:rPr>
              <a:t>Аналоги информационных систем дистанционного обучения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D15CAC-20D6-CF0F-6C03-4843055A840F}"/>
              </a:ext>
            </a:extLst>
          </p:cNvPr>
          <p:cNvSpPr txBox="1"/>
          <p:nvPr/>
        </p:nvSpPr>
        <p:spPr>
          <a:xfrm>
            <a:off x="10617200" y="304800"/>
            <a:ext cx="1041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500">
                <a:solidFill>
                  <a:srgbClr val="C9BBDA"/>
                </a:solidFill>
                <a:latin typeface="Times New Roman" panose="02020603050405020304" pitchFamily="18" charset="0"/>
              </a:rPr>
              <a:t>4 / 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FB395B3-92CE-814B-6EFE-FE3CEFF8866B}"/>
              </a:ext>
            </a:extLst>
          </p:cNvPr>
          <p:cNvSpPr/>
          <p:nvPr/>
        </p:nvSpPr>
        <p:spPr>
          <a:xfrm>
            <a:off x="0" y="965200"/>
            <a:ext cx="121920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60CD6E7-25F2-B40D-796B-727226119D26}"/>
              </a:ext>
            </a:extLst>
          </p:cNvPr>
          <p:cNvSpPr/>
          <p:nvPr/>
        </p:nvSpPr>
        <p:spPr>
          <a:xfrm>
            <a:off x="558800" y="1270000"/>
            <a:ext cx="2616200" cy="3810000"/>
          </a:xfrm>
          <a:prstGeom prst="rect">
            <a:avLst/>
          </a:prstGeom>
          <a:solidFill>
            <a:srgbClr val="EDE8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51EA827-46CA-C19F-C8EA-6E56983316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1346200"/>
            <a:ext cx="2463800" cy="24892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042B211-622A-BE1A-184B-5A9F459E0BF9}"/>
              </a:ext>
            </a:extLst>
          </p:cNvPr>
          <p:cNvSpPr txBox="1"/>
          <p:nvPr/>
        </p:nvSpPr>
        <p:spPr>
          <a:xfrm>
            <a:off x="660400" y="3911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5B4B6E"/>
                </a:solidFill>
                <a:latin typeface="Times New Roman" panose="02020603050405020304" pitchFamily="18" charset="0"/>
              </a:rPr>
              <a:t>Moodle</a:t>
            </a:r>
            <a:endParaRPr lang="ru-RU" sz="1600" b="1">
              <a:solidFill>
                <a:srgbClr val="5B4B6E"/>
              </a:solidFill>
              <a:latin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185420-278B-DAD1-D565-C90055ABF66F}"/>
              </a:ext>
            </a:extLst>
          </p:cNvPr>
          <p:cNvSpPr txBox="1"/>
          <p:nvPr/>
        </p:nvSpPr>
        <p:spPr>
          <a:xfrm>
            <a:off x="660400" y="42418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B2233"/>
                </a:solidFill>
                <a:latin typeface="Times New Roman" panose="02020603050405020304" pitchFamily="18" charset="0"/>
              </a:rPr>
              <a:t>Открытый исходный код, большое сообщество, множество модулей. Сложная настройка.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65654F6-098D-AEDE-E7BE-6458D5BE9540}"/>
              </a:ext>
            </a:extLst>
          </p:cNvPr>
          <p:cNvSpPr/>
          <p:nvPr/>
        </p:nvSpPr>
        <p:spPr>
          <a:xfrm>
            <a:off x="3378200" y="1270000"/>
            <a:ext cx="2616200" cy="3810000"/>
          </a:xfrm>
          <a:prstGeom prst="rect">
            <a:avLst/>
          </a:prstGeom>
          <a:solidFill>
            <a:srgbClr val="EDE8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B75AE2C5-2A04-77EA-FCFF-25BA1AFBFB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4400" y="1346200"/>
            <a:ext cx="2463800" cy="24892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956D0FA-62A9-1393-7E4B-18B6B7FB315F}"/>
              </a:ext>
            </a:extLst>
          </p:cNvPr>
          <p:cNvSpPr txBox="1"/>
          <p:nvPr/>
        </p:nvSpPr>
        <p:spPr>
          <a:xfrm>
            <a:off x="3479800" y="3911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5B4B6E"/>
                </a:solidFill>
                <a:latin typeface="Times New Roman" panose="02020603050405020304" pitchFamily="18" charset="0"/>
              </a:rPr>
              <a:t>Google Classroom</a:t>
            </a:r>
            <a:endParaRPr lang="ru-RU" sz="1600" b="1">
              <a:solidFill>
                <a:srgbClr val="5B4B6E"/>
              </a:solidFill>
              <a:latin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E00D510-CC7E-6DB9-734E-57764A55C81B}"/>
              </a:ext>
            </a:extLst>
          </p:cNvPr>
          <p:cNvSpPr txBox="1"/>
          <p:nvPr/>
        </p:nvSpPr>
        <p:spPr>
          <a:xfrm>
            <a:off x="3479800" y="42418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B2233"/>
                </a:solidFill>
                <a:latin typeface="Times New Roman" panose="02020603050405020304" pitchFamily="18" charset="0"/>
              </a:rPr>
              <a:t>Простота освоения, интеграция с документами. Мало функций и детальных отчётов.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BA2309D4-299C-86F1-B35F-0BAA4B67536E}"/>
              </a:ext>
            </a:extLst>
          </p:cNvPr>
          <p:cNvSpPr/>
          <p:nvPr/>
        </p:nvSpPr>
        <p:spPr>
          <a:xfrm>
            <a:off x="6197600" y="1270000"/>
            <a:ext cx="2616200" cy="3810000"/>
          </a:xfrm>
          <a:prstGeom prst="rect">
            <a:avLst/>
          </a:prstGeom>
          <a:solidFill>
            <a:srgbClr val="EDE8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EE6AEE6B-2B76-6935-5EFB-1FDE267CA5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3800" y="1346200"/>
            <a:ext cx="2463800" cy="24892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B9C8511-C681-BD13-F13F-BD5417B4A44F}"/>
              </a:ext>
            </a:extLst>
          </p:cNvPr>
          <p:cNvSpPr txBox="1"/>
          <p:nvPr/>
        </p:nvSpPr>
        <p:spPr>
          <a:xfrm>
            <a:off x="6299200" y="3911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5B4B6E"/>
                </a:solidFill>
                <a:latin typeface="Times New Roman" panose="02020603050405020304" pitchFamily="18" charset="0"/>
              </a:rPr>
              <a:t>iSpring Learn</a:t>
            </a:r>
            <a:endParaRPr lang="ru-RU" sz="1600" b="1">
              <a:solidFill>
                <a:srgbClr val="5B4B6E"/>
              </a:solidFill>
              <a:latin typeface="Times New Roman" panose="020206030504050203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8D66F2-7649-E214-8E42-80EBB4427E83}"/>
              </a:ext>
            </a:extLst>
          </p:cNvPr>
          <p:cNvSpPr txBox="1"/>
          <p:nvPr/>
        </p:nvSpPr>
        <p:spPr>
          <a:xfrm>
            <a:off x="6299200" y="42418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B2233"/>
                </a:solidFill>
                <a:latin typeface="Times New Roman" panose="02020603050405020304" pitchFamily="18" charset="0"/>
              </a:rPr>
              <a:t>Современный интерфейс, конструктор курсов, аналитика. Платная, только облако.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09500E5-3625-14E4-54C9-B3384FDE0437}"/>
              </a:ext>
            </a:extLst>
          </p:cNvPr>
          <p:cNvSpPr/>
          <p:nvPr/>
        </p:nvSpPr>
        <p:spPr>
          <a:xfrm>
            <a:off x="9017000" y="1270000"/>
            <a:ext cx="2616200" cy="3810000"/>
          </a:xfrm>
          <a:prstGeom prst="rect">
            <a:avLst/>
          </a:prstGeom>
          <a:solidFill>
            <a:srgbClr val="EDE8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70F4EE56-F556-01B3-A2FC-3A18E00B17B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3200" y="1346200"/>
            <a:ext cx="2463800" cy="24892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5E249E43-6F0F-BBEE-3305-FC2A76C6B4DF}"/>
              </a:ext>
            </a:extLst>
          </p:cNvPr>
          <p:cNvSpPr txBox="1"/>
          <p:nvPr/>
        </p:nvSpPr>
        <p:spPr>
          <a:xfrm>
            <a:off x="9118600" y="3911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5B4B6E"/>
                </a:solidFill>
                <a:latin typeface="Times New Roman" panose="02020603050405020304" pitchFamily="18" charset="0"/>
              </a:rPr>
              <a:t>LMS «</a:t>
            </a:r>
            <a:r>
              <a:rPr lang="ru-RU" sz="1600" b="1">
                <a:solidFill>
                  <a:srgbClr val="5B4B6E"/>
                </a:solidFill>
                <a:latin typeface="Times New Roman" panose="02020603050405020304" pitchFamily="18" charset="0"/>
              </a:rPr>
              <a:t>АнтиТренинги»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5F0215-9DD3-4622-F4F4-8CF208D1A000}"/>
              </a:ext>
            </a:extLst>
          </p:cNvPr>
          <p:cNvSpPr txBox="1"/>
          <p:nvPr/>
        </p:nvSpPr>
        <p:spPr>
          <a:xfrm>
            <a:off x="9118600" y="42418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B2233"/>
                </a:solidFill>
                <a:latin typeface="Times New Roman" panose="02020603050405020304" pitchFamily="18" charset="0"/>
              </a:rPr>
              <a:t>Адаптация к российским стандартам, локальное развёртывание. Дорогая лицензия.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01FC0D9-B946-1C0A-20DD-9E9D68763EA3}"/>
              </a:ext>
            </a:extLst>
          </p:cNvPr>
          <p:cNvSpPr txBox="1"/>
          <p:nvPr/>
        </p:nvSpPr>
        <p:spPr>
          <a:xfrm>
            <a:off x="558800" y="5384800"/>
            <a:ext cx="11074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>
                <a:solidFill>
                  <a:srgbClr val="6B6472"/>
                </a:solidFill>
                <a:latin typeface="Times New Roman" panose="02020603050405020304" pitchFamily="18" charset="0"/>
              </a:rPr>
              <a:t>Вывод: универсального решения, одновременно простого, функционального и недорогого, на рынке нет — разработана собственная система с загрузкой данных через XML, разделением прав доступа и формированием ведомости успеваемости.</a:t>
            </a:r>
          </a:p>
        </p:txBody>
      </p:sp>
    </p:spTree>
    <p:extLst>
      <p:ext uri="{BB962C8B-B14F-4D97-AF65-F5344CB8AC3E}">
        <p14:creationId xmlns:p14="http://schemas.microsoft.com/office/powerpoint/2010/main" val="13706881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F36F3507-77F6-6BB4-4D78-B341E54CC4C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72C0A50-6A65-2B16-5B85-5C08602B4833}"/>
              </a:ext>
            </a:extLst>
          </p:cNvPr>
          <p:cNvSpPr/>
          <p:nvPr/>
        </p:nvSpPr>
        <p:spPr>
          <a:xfrm>
            <a:off x="0" y="0"/>
            <a:ext cx="12192000" cy="965200"/>
          </a:xfrm>
          <a:prstGeom prst="rect">
            <a:avLst/>
          </a:prstGeom>
          <a:solidFill>
            <a:srgbClr val="5B4B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774E66-9F1E-4550-0CBB-D192F0493AD9}"/>
              </a:ext>
            </a:extLst>
          </p:cNvPr>
          <p:cNvSpPr txBox="1"/>
          <p:nvPr/>
        </p:nvSpPr>
        <p:spPr>
          <a:xfrm>
            <a:off x="558800" y="2286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800" b="1">
                <a:solidFill>
                  <a:srgbClr val="FFFFFF"/>
                </a:solidFill>
                <a:latin typeface="Times New Roman" panose="02020603050405020304" pitchFamily="18" charset="0"/>
              </a:rPr>
              <a:t>Схема данных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CCC135-0A46-68D5-5DB4-A997E321D843}"/>
              </a:ext>
            </a:extLst>
          </p:cNvPr>
          <p:cNvSpPr txBox="1"/>
          <p:nvPr/>
        </p:nvSpPr>
        <p:spPr>
          <a:xfrm>
            <a:off x="10617200" y="304800"/>
            <a:ext cx="1041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500">
                <a:solidFill>
                  <a:srgbClr val="C9BBDA"/>
                </a:solidFill>
                <a:latin typeface="Times New Roman" panose="02020603050405020304" pitchFamily="18" charset="0"/>
              </a:rPr>
              <a:t>5 / 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DEF9699-DBEA-A8F9-42EE-B3A436A42460}"/>
              </a:ext>
            </a:extLst>
          </p:cNvPr>
          <p:cNvSpPr/>
          <p:nvPr/>
        </p:nvSpPr>
        <p:spPr>
          <a:xfrm>
            <a:off x="0" y="965200"/>
            <a:ext cx="121920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7AE21FE-8002-5DAB-7CF4-E22257D6FE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800" y="1219200"/>
            <a:ext cx="7795260" cy="50292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B4E074C-819E-BD84-38B2-2138A28C09E1}"/>
              </a:ext>
            </a:extLst>
          </p:cNvPr>
          <p:cNvSpPr txBox="1"/>
          <p:nvPr/>
        </p:nvSpPr>
        <p:spPr>
          <a:xfrm>
            <a:off x="8712200" y="1371600"/>
            <a:ext cx="3048000" cy="369332"/>
          </a:xfrm>
          <a:prstGeom prst="rect">
            <a:avLst/>
          </a:prstGeom>
          <a:noFill/>
        </p:spPr>
        <p:txBody>
          <a:bodyPr vert="horz" wrap="square" lIns="0" rIns="0" rtlCol="0">
            <a:noAutofit/>
          </a:bodyPr>
          <a:lstStyle/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400">
                <a:solidFill>
                  <a:srgbClr val="2B2233"/>
                </a:solidFill>
                <a:latin typeface="Times New Roman" panose="02020603050405020304" pitchFamily="18" charset="0"/>
              </a:rPr>
              <a:t>10 связанных таблиц: пользователи, группы, ученики, преподаватели, дисциплины, курсы, задания, записи на курсы, работы и оценки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400">
                <a:solidFill>
                  <a:srgbClr val="2B2233"/>
                </a:solidFill>
                <a:latin typeface="Times New Roman" panose="02020603050405020304" pitchFamily="18" charset="0"/>
              </a:rPr>
              <a:t>Все связи заданы внешними ключами, удаление проверяется на наличие зависимых записей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400">
                <a:solidFill>
                  <a:srgbClr val="2B2233"/>
                </a:solidFill>
                <a:latin typeface="Times New Roman" panose="02020603050405020304" pitchFamily="18" charset="0"/>
              </a:rPr>
              <a:t>Ограничения CHECK на роль пользователя, статус работы, статус записи, номер класса, максимальный и выставленный балл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400">
                <a:solidFill>
                  <a:srgbClr val="2B2233"/>
                </a:solidFill>
                <a:latin typeface="Times New Roman" panose="02020603050405020304" pitchFamily="18" charset="0"/>
              </a:rPr>
              <a:t>Логическое моделирование выполнено для схемы 3-й нормальной формы</a:t>
            </a:r>
          </a:p>
          <a:p>
            <a:pPr marL="342900" indent="-342900">
              <a:spcAft>
                <a:spcPts val="1000"/>
              </a:spcAft>
              <a:buSzPct val="90000"/>
              <a:buFont typeface="+mj-lt"/>
              <a:buChar char="•"/>
            </a:pPr>
            <a:endParaRPr lang="ru-RU" sz="1400">
              <a:solidFill>
                <a:srgbClr val="2B2233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86761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A0A09D0-7DD7-C930-6026-16C4E1A845E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78F1F24-7D81-29E8-D6E7-5B8EFD16FA12}"/>
              </a:ext>
            </a:extLst>
          </p:cNvPr>
          <p:cNvSpPr/>
          <p:nvPr/>
        </p:nvSpPr>
        <p:spPr>
          <a:xfrm>
            <a:off x="0" y="0"/>
            <a:ext cx="12192000" cy="965200"/>
          </a:xfrm>
          <a:prstGeom prst="rect">
            <a:avLst/>
          </a:prstGeom>
          <a:solidFill>
            <a:srgbClr val="5B4B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BB247C-4DB9-B26B-E398-F671345B6ACB}"/>
              </a:ext>
            </a:extLst>
          </p:cNvPr>
          <p:cNvSpPr txBox="1"/>
          <p:nvPr/>
        </p:nvSpPr>
        <p:spPr>
          <a:xfrm>
            <a:off x="558800" y="2286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800" b="1">
                <a:solidFill>
                  <a:srgbClr val="FFFFFF"/>
                </a:solidFill>
                <a:latin typeface="Times New Roman" panose="02020603050405020304" pitchFamily="18" charset="0"/>
              </a:rPr>
              <a:t>Виды пользователей и их возможности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64F03F-7EE9-F6FC-2225-F50EFE0E4FFB}"/>
              </a:ext>
            </a:extLst>
          </p:cNvPr>
          <p:cNvSpPr txBox="1"/>
          <p:nvPr/>
        </p:nvSpPr>
        <p:spPr>
          <a:xfrm>
            <a:off x="10617200" y="304800"/>
            <a:ext cx="1041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500">
                <a:solidFill>
                  <a:srgbClr val="C9BBDA"/>
                </a:solidFill>
                <a:latin typeface="Times New Roman" panose="02020603050405020304" pitchFamily="18" charset="0"/>
              </a:rPr>
              <a:t>6 / 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E0CEA50-CCB1-E4D6-0204-1EC348BC9CB8}"/>
              </a:ext>
            </a:extLst>
          </p:cNvPr>
          <p:cNvSpPr/>
          <p:nvPr/>
        </p:nvSpPr>
        <p:spPr>
          <a:xfrm>
            <a:off x="0" y="965200"/>
            <a:ext cx="121920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111921A2-27CA-7244-35FF-80CE088523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8112676"/>
              </p:ext>
            </p:extLst>
          </p:nvPr>
        </p:nvGraphicFramePr>
        <p:xfrm>
          <a:off x="558800" y="1270000"/>
          <a:ext cx="11074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2886896077"/>
                    </a:ext>
                  </a:extLst>
                </a:gridCol>
                <a:gridCol w="5969000">
                  <a:extLst>
                    <a:ext uri="{9D8B030D-6E8A-4147-A177-3AD203B41FA5}">
                      <a16:colId xmlns:a16="http://schemas.microsoft.com/office/drawing/2014/main" val="1090525714"/>
                    </a:ext>
                  </a:extLst>
                </a:gridCol>
                <a:gridCol w="2692400">
                  <a:extLst>
                    <a:ext uri="{9D8B030D-6E8A-4147-A177-3AD203B41FA5}">
                      <a16:colId xmlns:a16="http://schemas.microsoft.com/office/drawing/2014/main" val="4237194425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r>
                        <a:rPr lang="ru-RU" sz="15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</a:rPr>
                        <a:t>Роль</a:t>
                      </a:r>
                    </a:p>
                  </a:txBody>
                  <a:tcPr>
                    <a:solidFill>
                      <a:srgbClr val="5B4B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5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</a:rPr>
                        <a:t>Возможности</a:t>
                      </a:r>
                    </a:p>
                  </a:txBody>
                  <a:tcPr>
                    <a:solidFill>
                      <a:srgbClr val="5B4B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5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</a:rPr>
                        <a:t>Ограничения</a:t>
                      </a:r>
                    </a:p>
                  </a:txBody>
                  <a:tcPr>
                    <a:solidFill>
                      <a:srgbClr val="5B4B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8988284"/>
                  </a:ext>
                </a:extLst>
              </a:tr>
              <a:tr h="952500">
                <a:tc>
                  <a:txBody>
                    <a:bodyPr/>
                    <a:lstStyle/>
                    <a:p>
                      <a:r>
                        <a:rPr lang="ru-RU" sz="1200" b="1">
                          <a:solidFill>
                            <a:srgbClr val="2B2233"/>
                          </a:solidFill>
                          <a:latin typeface="Times New Roman" panose="02020603050405020304" pitchFamily="18" charset="0"/>
                        </a:rPr>
                        <a:t>Администратор</a:t>
                      </a:r>
                    </a:p>
                  </a:txBody>
                  <a:tcPr>
                    <a:solidFill>
                      <a:srgbClr val="F3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solidFill>
                            <a:srgbClr val="2B2233"/>
                          </a:solidFill>
                          <a:latin typeface="Times New Roman" panose="02020603050405020304" pitchFamily="18" charset="0"/>
                        </a:rPr>
                        <a:t>Ведение справочников: пользователи, группы, дисциплины, преподаватели, курсы. Блокировка и удаление учётных записей. Импорт данных из XML. Загрузка изображений курсов.</a:t>
                      </a:r>
                    </a:p>
                  </a:txBody>
                  <a:tcPr>
                    <a:solidFill>
                      <a:srgbClr val="F3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solidFill>
                            <a:srgbClr val="2B2233"/>
                          </a:solidFill>
                          <a:latin typeface="Times New Roman" panose="02020603050405020304" pitchFamily="18" charset="0"/>
                        </a:rPr>
                        <a:t>Полный доступ ко всем функциям системы</a:t>
                      </a:r>
                    </a:p>
                  </a:txBody>
                  <a:tcPr>
                    <a:solidFill>
                      <a:srgbClr val="F3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698673"/>
                  </a:ext>
                </a:extLst>
              </a:tr>
              <a:tr h="952500">
                <a:tc>
                  <a:txBody>
                    <a:bodyPr/>
                    <a:lstStyle/>
                    <a:p>
                      <a:r>
                        <a:rPr lang="ru-RU" sz="1200" b="1">
                          <a:solidFill>
                            <a:srgbClr val="2B2233"/>
                          </a:solidFill>
                          <a:latin typeface="Times New Roman" panose="02020603050405020304" pitchFamily="18" charset="0"/>
                        </a:rPr>
                        <a:t>Учитель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solidFill>
                            <a:srgbClr val="2B2233"/>
                          </a:solidFill>
                          <a:latin typeface="Times New Roman" panose="02020603050405020304" pitchFamily="18" charset="0"/>
                        </a:rPr>
                        <a:t>Создание курсов и заданий, назначение сроков сдачи и максимального балла, проверка работ, выставление оценок с комментарием, формирование ведомости успеваемости.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solidFill>
                            <a:srgbClr val="2B2233"/>
                          </a:solidFill>
                          <a:latin typeface="Times New Roman" panose="02020603050405020304" pitchFamily="18" charset="0"/>
                        </a:rPr>
                        <a:t>Работа только со своими курсами и работами учеников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2552516"/>
                  </a:ext>
                </a:extLst>
              </a:tr>
              <a:tr h="952500">
                <a:tc>
                  <a:txBody>
                    <a:bodyPr/>
                    <a:lstStyle/>
                    <a:p>
                      <a:r>
                        <a:rPr lang="ru-RU" sz="1200" b="1">
                          <a:solidFill>
                            <a:srgbClr val="2B2233"/>
                          </a:solidFill>
                          <a:latin typeface="Times New Roman" panose="02020603050405020304" pitchFamily="18" charset="0"/>
                        </a:rPr>
                        <a:t>Ученик</a:t>
                      </a:r>
                    </a:p>
                  </a:txBody>
                  <a:tcPr>
                    <a:solidFill>
                      <a:srgbClr val="F3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solidFill>
                            <a:srgbClr val="2B2233"/>
                          </a:solidFill>
                          <a:latin typeface="Times New Roman" panose="02020603050405020304" pitchFamily="18" charset="0"/>
                        </a:rPr>
                        <a:t>Просмотр доступных курсов, запись на курсы, выполнение заданий и отправка работ, просмотр собственных оценок и статуса проверки.</a:t>
                      </a:r>
                    </a:p>
                  </a:txBody>
                  <a:tcPr>
                    <a:solidFill>
                      <a:srgbClr val="F3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solidFill>
                            <a:srgbClr val="2B2233"/>
                          </a:solidFill>
                          <a:latin typeface="Times New Roman" panose="02020603050405020304" pitchFamily="18" charset="0"/>
                        </a:rPr>
                        <a:t>Доступ только к своим данным</a:t>
                      </a:r>
                    </a:p>
                  </a:txBody>
                  <a:tcPr>
                    <a:solidFill>
                      <a:srgbClr val="F3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834097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6FFABBC-FD9C-31C7-7B30-5AE68C428F8F}"/>
              </a:ext>
            </a:extLst>
          </p:cNvPr>
          <p:cNvSpPr txBox="1"/>
          <p:nvPr/>
        </p:nvSpPr>
        <p:spPr>
          <a:xfrm>
            <a:off x="558800" y="5384800"/>
            <a:ext cx="11074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6B6472"/>
                </a:solidFill>
                <a:latin typeface="Times New Roman" panose="02020603050405020304" pitchFamily="18" charset="0"/>
              </a:rPr>
              <a:t>Разграничение доступа реализовано на трёх уровнях: проверка учётных данных и активности записи при входе, определение роли и открытие соответствующего окна, ограничение набора доступных данных.</a:t>
            </a:r>
          </a:p>
        </p:txBody>
      </p:sp>
    </p:spTree>
    <p:extLst>
      <p:ext uri="{BB962C8B-B14F-4D97-AF65-F5344CB8AC3E}">
        <p14:creationId xmlns:p14="http://schemas.microsoft.com/office/powerpoint/2010/main" val="30852782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13E7BF4A-A64A-C762-7F60-C45903C9D3B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E9E813F-89AF-E823-49EA-1BFE4A95FE7C}"/>
              </a:ext>
            </a:extLst>
          </p:cNvPr>
          <p:cNvSpPr/>
          <p:nvPr/>
        </p:nvSpPr>
        <p:spPr>
          <a:xfrm>
            <a:off x="0" y="0"/>
            <a:ext cx="12192000" cy="965200"/>
          </a:xfrm>
          <a:prstGeom prst="rect">
            <a:avLst/>
          </a:prstGeom>
          <a:solidFill>
            <a:srgbClr val="5B4B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556D7E-E34A-35BD-6EDC-23D1471E7B51}"/>
              </a:ext>
            </a:extLst>
          </p:cNvPr>
          <p:cNvSpPr txBox="1"/>
          <p:nvPr/>
        </p:nvSpPr>
        <p:spPr>
          <a:xfrm>
            <a:off x="558800" y="2286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800" b="1">
                <a:solidFill>
                  <a:srgbClr val="FFFFFF"/>
                </a:solidFill>
                <a:latin typeface="Times New Roman" panose="02020603050405020304" pitchFamily="18" charset="0"/>
              </a:rPr>
              <a:t>Используемые технологии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61FAA2-CBFE-BD14-A703-850ADF859146}"/>
              </a:ext>
            </a:extLst>
          </p:cNvPr>
          <p:cNvSpPr txBox="1"/>
          <p:nvPr/>
        </p:nvSpPr>
        <p:spPr>
          <a:xfrm>
            <a:off x="10617200" y="304800"/>
            <a:ext cx="1041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500">
                <a:solidFill>
                  <a:srgbClr val="C9BBDA"/>
                </a:solidFill>
                <a:latin typeface="Times New Roman" panose="02020603050405020304" pitchFamily="18" charset="0"/>
              </a:rPr>
              <a:t>7 / 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276C1427-D4FA-EBA6-D372-D5B536BE52C6}"/>
              </a:ext>
            </a:extLst>
          </p:cNvPr>
          <p:cNvSpPr/>
          <p:nvPr/>
        </p:nvSpPr>
        <p:spPr>
          <a:xfrm>
            <a:off x="0" y="965200"/>
            <a:ext cx="121920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DBCF616-B0ED-BF56-E00C-80E31C222653}"/>
              </a:ext>
            </a:extLst>
          </p:cNvPr>
          <p:cNvSpPr/>
          <p:nvPr/>
        </p:nvSpPr>
        <p:spPr>
          <a:xfrm>
            <a:off x="558800" y="1346200"/>
            <a:ext cx="3492500" cy="1803400"/>
          </a:xfrm>
          <a:prstGeom prst="rect">
            <a:avLst/>
          </a:prstGeom>
          <a:solidFill>
            <a:srgbClr val="EDE8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7859A928-79E2-CEDA-050C-309F16AB6501}"/>
              </a:ext>
            </a:extLst>
          </p:cNvPr>
          <p:cNvSpPr/>
          <p:nvPr/>
        </p:nvSpPr>
        <p:spPr>
          <a:xfrm>
            <a:off x="558800" y="1346200"/>
            <a:ext cx="34925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854BE8-F53F-EC48-3427-8C92CD34EE6B}"/>
              </a:ext>
            </a:extLst>
          </p:cNvPr>
          <p:cNvSpPr txBox="1"/>
          <p:nvPr/>
        </p:nvSpPr>
        <p:spPr>
          <a:xfrm>
            <a:off x="787400" y="1600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5B4B6E"/>
                </a:solidFill>
                <a:latin typeface="Times New Roman" panose="02020603050405020304" pitchFamily="18" charset="0"/>
              </a:rPr>
              <a:t>C#</a:t>
            </a:r>
            <a:endParaRPr lang="ru-RU" sz="2000" b="1">
              <a:solidFill>
                <a:srgbClr val="5B4B6E"/>
              </a:solidFill>
              <a:latin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A3A77A-CA7D-1A49-72BF-87CF3D9291A1}"/>
              </a:ext>
            </a:extLst>
          </p:cNvPr>
          <p:cNvSpPr txBox="1"/>
          <p:nvPr/>
        </p:nvSpPr>
        <p:spPr>
          <a:xfrm>
            <a:off x="787400" y="2260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2B2233"/>
                </a:solidFill>
                <a:latin typeface="Times New Roman" panose="02020603050405020304" pitchFamily="18" charset="0"/>
              </a:rPr>
              <a:t>Объектно-ориентированный язык, платформа .NET Framework 4.7.2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4A7DFDF1-4EEC-4A56-9CCA-5007FD1BB129}"/>
              </a:ext>
            </a:extLst>
          </p:cNvPr>
          <p:cNvSpPr/>
          <p:nvPr/>
        </p:nvSpPr>
        <p:spPr>
          <a:xfrm>
            <a:off x="4305300" y="1346200"/>
            <a:ext cx="3492500" cy="1803400"/>
          </a:xfrm>
          <a:prstGeom prst="rect">
            <a:avLst/>
          </a:prstGeom>
          <a:solidFill>
            <a:srgbClr val="EDE8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F3929414-E7AC-9F72-A788-F978B4C1CA6D}"/>
              </a:ext>
            </a:extLst>
          </p:cNvPr>
          <p:cNvSpPr/>
          <p:nvPr/>
        </p:nvSpPr>
        <p:spPr>
          <a:xfrm>
            <a:off x="4305300" y="1346200"/>
            <a:ext cx="34925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FF5D7B-5A28-959E-5504-48973260D89C}"/>
              </a:ext>
            </a:extLst>
          </p:cNvPr>
          <p:cNvSpPr txBox="1"/>
          <p:nvPr/>
        </p:nvSpPr>
        <p:spPr>
          <a:xfrm>
            <a:off x="4533900" y="1600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5B4B6E"/>
                </a:solidFill>
                <a:latin typeface="Times New Roman" panose="02020603050405020304" pitchFamily="18" charset="0"/>
              </a:rPr>
              <a:t>WPF (XAML)</a:t>
            </a:r>
            <a:endParaRPr lang="ru-RU" sz="2000" b="1">
              <a:solidFill>
                <a:srgbClr val="5B4B6E"/>
              </a:solidFill>
              <a:latin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6BE39A3-B44F-2212-7566-2FBDD25AD764}"/>
              </a:ext>
            </a:extLst>
          </p:cNvPr>
          <p:cNvSpPr txBox="1"/>
          <p:nvPr/>
        </p:nvSpPr>
        <p:spPr>
          <a:xfrm>
            <a:off x="4533900" y="2260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2B2233"/>
                </a:solidFill>
                <a:latin typeface="Times New Roman" panose="02020603050405020304" pitchFamily="18" charset="0"/>
              </a:rPr>
              <a:t>Разработка настольного интерфейса Windows, разделение разметки и логики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BAFC55E1-8A79-A098-7A66-E176613A55ED}"/>
              </a:ext>
            </a:extLst>
          </p:cNvPr>
          <p:cNvSpPr/>
          <p:nvPr/>
        </p:nvSpPr>
        <p:spPr>
          <a:xfrm>
            <a:off x="8051800" y="1346200"/>
            <a:ext cx="3492500" cy="1803400"/>
          </a:xfrm>
          <a:prstGeom prst="rect">
            <a:avLst/>
          </a:prstGeom>
          <a:solidFill>
            <a:srgbClr val="EDE8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88C854E-6AD4-5813-267D-4AB7F4C6DDD2}"/>
              </a:ext>
            </a:extLst>
          </p:cNvPr>
          <p:cNvSpPr/>
          <p:nvPr/>
        </p:nvSpPr>
        <p:spPr>
          <a:xfrm>
            <a:off x="8051800" y="1346200"/>
            <a:ext cx="34925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4767BF-9AD5-CD8F-02FA-F2774D0B8517}"/>
              </a:ext>
            </a:extLst>
          </p:cNvPr>
          <p:cNvSpPr txBox="1"/>
          <p:nvPr/>
        </p:nvSpPr>
        <p:spPr>
          <a:xfrm>
            <a:off x="8280400" y="1600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5B4B6E"/>
                </a:solidFill>
                <a:latin typeface="Times New Roman" panose="02020603050405020304" pitchFamily="18" charset="0"/>
              </a:rPr>
              <a:t>ADO.NET</a:t>
            </a:r>
            <a:endParaRPr lang="ru-RU" sz="2000" b="1">
              <a:solidFill>
                <a:srgbClr val="5B4B6E"/>
              </a:solidFill>
              <a:latin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BEFFCA-9747-B610-765B-912CB77D40CA}"/>
              </a:ext>
            </a:extLst>
          </p:cNvPr>
          <p:cNvSpPr txBox="1"/>
          <p:nvPr/>
        </p:nvSpPr>
        <p:spPr>
          <a:xfrm>
            <a:off x="8280400" y="2260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2B2233"/>
                </a:solidFill>
                <a:latin typeface="Times New Roman" panose="02020603050405020304" pitchFamily="18" charset="0"/>
              </a:rPr>
              <a:t>Доступ к данным через провайдер System.Data.SqlClient, параметризованные запросы и транзакции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8FEF1AF6-C01E-C5F3-6316-AC31391EC2F5}"/>
              </a:ext>
            </a:extLst>
          </p:cNvPr>
          <p:cNvSpPr/>
          <p:nvPr/>
        </p:nvSpPr>
        <p:spPr>
          <a:xfrm>
            <a:off x="558800" y="3378200"/>
            <a:ext cx="3492500" cy="1803400"/>
          </a:xfrm>
          <a:prstGeom prst="rect">
            <a:avLst/>
          </a:prstGeom>
          <a:solidFill>
            <a:srgbClr val="EDE8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D3E535C2-610B-444F-D9E5-E2723BC15E4D}"/>
              </a:ext>
            </a:extLst>
          </p:cNvPr>
          <p:cNvSpPr/>
          <p:nvPr/>
        </p:nvSpPr>
        <p:spPr>
          <a:xfrm>
            <a:off x="558800" y="3378200"/>
            <a:ext cx="34925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E0F5D8-CB79-A6B1-D7EB-D05C3E2A54D0}"/>
              </a:ext>
            </a:extLst>
          </p:cNvPr>
          <p:cNvSpPr txBox="1"/>
          <p:nvPr/>
        </p:nvSpPr>
        <p:spPr>
          <a:xfrm>
            <a:off x="787400" y="3632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5B4B6E"/>
                </a:solidFill>
                <a:latin typeface="Times New Roman" panose="02020603050405020304" pitchFamily="18" charset="0"/>
              </a:rPr>
              <a:t>Microsoft SQL Server</a:t>
            </a:r>
            <a:endParaRPr lang="ru-RU" sz="2000" b="1">
              <a:solidFill>
                <a:srgbClr val="5B4B6E"/>
              </a:solidFill>
              <a:latin typeface="Times New Roman" panose="020206030504050203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55DBB10-38F1-2223-BA62-575BFCE4D869}"/>
              </a:ext>
            </a:extLst>
          </p:cNvPr>
          <p:cNvSpPr txBox="1"/>
          <p:nvPr/>
        </p:nvSpPr>
        <p:spPr>
          <a:xfrm>
            <a:off x="787400" y="4292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2B2233"/>
                </a:solidFill>
                <a:latin typeface="Times New Roman" panose="02020603050405020304" pitchFamily="18" charset="0"/>
              </a:rPr>
              <a:t>Хранение данных: внешние ключи, ограничения CHECK, транзакции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CD924D0F-378F-25CA-9A33-8011781E6A15}"/>
              </a:ext>
            </a:extLst>
          </p:cNvPr>
          <p:cNvSpPr/>
          <p:nvPr/>
        </p:nvSpPr>
        <p:spPr>
          <a:xfrm>
            <a:off x="4305300" y="3378200"/>
            <a:ext cx="3492500" cy="1803400"/>
          </a:xfrm>
          <a:prstGeom prst="rect">
            <a:avLst/>
          </a:prstGeom>
          <a:solidFill>
            <a:srgbClr val="EDE8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8894C5CD-64AC-9ECF-44C5-7FE7E88A825B}"/>
              </a:ext>
            </a:extLst>
          </p:cNvPr>
          <p:cNvSpPr/>
          <p:nvPr/>
        </p:nvSpPr>
        <p:spPr>
          <a:xfrm>
            <a:off x="4305300" y="3378200"/>
            <a:ext cx="34925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560B954-F4D7-C245-342E-4719C58D76B2}"/>
              </a:ext>
            </a:extLst>
          </p:cNvPr>
          <p:cNvSpPr txBox="1"/>
          <p:nvPr/>
        </p:nvSpPr>
        <p:spPr>
          <a:xfrm>
            <a:off x="4533900" y="3632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5B4B6E"/>
                </a:solidFill>
                <a:latin typeface="Times New Roman" panose="02020603050405020304" pitchFamily="18" charset="0"/>
              </a:rPr>
              <a:t>Microsoft Visual Studio 2019</a:t>
            </a:r>
            <a:endParaRPr lang="ru-RU" sz="1600" b="1">
              <a:solidFill>
                <a:srgbClr val="5B4B6E"/>
              </a:solidFill>
              <a:latin typeface="Times New Roman" panose="020206030504050203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2CA4D83-97D1-0323-E818-73EE87266BE4}"/>
              </a:ext>
            </a:extLst>
          </p:cNvPr>
          <p:cNvSpPr txBox="1"/>
          <p:nvPr/>
        </p:nvSpPr>
        <p:spPr>
          <a:xfrm>
            <a:off x="4533900" y="4292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2B2233"/>
                </a:solidFill>
                <a:latin typeface="Times New Roman" panose="02020603050405020304" pitchFamily="18" charset="0"/>
              </a:rPr>
              <a:t>Среда разработки и сопровождения программного продукта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33146872-3693-0BDC-3ADE-8B8832CAEE9B}"/>
              </a:ext>
            </a:extLst>
          </p:cNvPr>
          <p:cNvSpPr/>
          <p:nvPr/>
        </p:nvSpPr>
        <p:spPr>
          <a:xfrm>
            <a:off x="8051800" y="3378200"/>
            <a:ext cx="3492500" cy="1803400"/>
          </a:xfrm>
          <a:prstGeom prst="rect">
            <a:avLst/>
          </a:prstGeom>
          <a:solidFill>
            <a:srgbClr val="EDE8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C6B173DC-A782-056D-1477-02EC8786F7FD}"/>
              </a:ext>
            </a:extLst>
          </p:cNvPr>
          <p:cNvSpPr/>
          <p:nvPr/>
        </p:nvSpPr>
        <p:spPr>
          <a:xfrm>
            <a:off x="8051800" y="3378200"/>
            <a:ext cx="34925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5638315-31B0-39D3-3DE1-5A25B2D910D0}"/>
              </a:ext>
            </a:extLst>
          </p:cNvPr>
          <p:cNvSpPr txBox="1"/>
          <p:nvPr/>
        </p:nvSpPr>
        <p:spPr>
          <a:xfrm>
            <a:off x="8280400" y="3632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5B4B6E"/>
                </a:solidFill>
                <a:latin typeface="Times New Roman" panose="02020603050405020304" pitchFamily="18" charset="0"/>
              </a:rPr>
              <a:t>PBKDF2-HMAC-SHA256</a:t>
            </a:r>
            <a:endParaRPr lang="ru-RU" sz="2000" b="1">
              <a:solidFill>
                <a:srgbClr val="5B4B6E"/>
              </a:solidFill>
              <a:latin typeface="Times New Roman" panose="02020603050405020304" pitchFamily="18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A0782F3-9B21-8A83-E058-EFE3B44BBB92}"/>
              </a:ext>
            </a:extLst>
          </p:cNvPr>
          <p:cNvSpPr txBox="1"/>
          <p:nvPr/>
        </p:nvSpPr>
        <p:spPr>
          <a:xfrm>
            <a:off x="8280400" y="4292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2B2233"/>
                </a:solidFill>
                <a:latin typeface="Times New Roman" panose="02020603050405020304" pitchFamily="18" charset="0"/>
              </a:rPr>
              <a:t>Хеширование паролей с индивидуальной солью, 100 000 итераций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4A9CF8D-0B9E-EDB7-77E8-04BE8F6A069B}"/>
              </a:ext>
            </a:extLst>
          </p:cNvPr>
          <p:cNvSpPr txBox="1"/>
          <p:nvPr/>
        </p:nvSpPr>
        <p:spPr>
          <a:xfrm>
            <a:off x="558800" y="5486400"/>
            <a:ext cx="11074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>
                <a:solidFill>
                  <a:srgbClr val="6B6472"/>
                </a:solidFill>
                <a:latin typeface="Times New Roman" panose="02020603050405020304" pitchFamily="18" charset="0"/>
              </a:rPr>
              <a:t>Архитектура приложения — трёхуровневая: уровень представления (окна WPF), уровень логики (обработчики событий), уровень данных (компоненты доступа к СУБД).</a:t>
            </a:r>
          </a:p>
        </p:txBody>
      </p:sp>
    </p:spTree>
    <p:extLst>
      <p:ext uri="{BB962C8B-B14F-4D97-AF65-F5344CB8AC3E}">
        <p14:creationId xmlns:p14="http://schemas.microsoft.com/office/powerpoint/2010/main" val="4195680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E444FA2B-B923-8064-1B1A-CD74608EB8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E7A3E1F-70D5-2BD1-AB0A-6065ED2510C1}"/>
              </a:ext>
            </a:extLst>
          </p:cNvPr>
          <p:cNvSpPr/>
          <p:nvPr/>
        </p:nvSpPr>
        <p:spPr>
          <a:xfrm>
            <a:off x="0" y="0"/>
            <a:ext cx="12192000" cy="965200"/>
          </a:xfrm>
          <a:prstGeom prst="rect">
            <a:avLst/>
          </a:prstGeom>
          <a:solidFill>
            <a:srgbClr val="5B4B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81033A-1AAC-3AF7-8F6B-C4605426117E}"/>
              </a:ext>
            </a:extLst>
          </p:cNvPr>
          <p:cNvSpPr txBox="1"/>
          <p:nvPr/>
        </p:nvSpPr>
        <p:spPr>
          <a:xfrm>
            <a:off x="558800" y="2286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800" b="1">
                <a:solidFill>
                  <a:srgbClr val="FFFFFF"/>
                </a:solidFill>
                <a:latin typeface="Times New Roman" panose="02020603050405020304" pitchFamily="18" charset="0"/>
              </a:rPr>
              <a:t>Видео приложения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0645F0-4469-6D16-660A-7FFDCD570996}"/>
              </a:ext>
            </a:extLst>
          </p:cNvPr>
          <p:cNvSpPr txBox="1"/>
          <p:nvPr/>
        </p:nvSpPr>
        <p:spPr>
          <a:xfrm>
            <a:off x="10617200" y="304800"/>
            <a:ext cx="1041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500">
                <a:solidFill>
                  <a:srgbClr val="C9BBDA"/>
                </a:solidFill>
                <a:latin typeface="Times New Roman" panose="02020603050405020304" pitchFamily="18" charset="0"/>
              </a:rPr>
              <a:t>8 / 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D19820A-926D-01F2-35D2-8DF9D468A4F3}"/>
              </a:ext>
            </a:extLst>
          </p:cNvPr>
          <p:cNvSpPr/>
          <p:nvPr/>
        </p:nvSpPr>
        <p:spPr>
          <a:xfrm>
            <a:off x="0" y="965200"/>
            <a:ext cx="121920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69C1A4E-6AEF-5EB2-3E48-C522DD5A76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800" y="1270000"/>
            <a:ext cx="3175000" cy="228600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9B5F76C-5ACF-A6BE-CA3C-3B6EC5D749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7000" y="1270000"/>
            <a:ext cx="3175000" cy="228600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6C5989A7-06D9-1F9E-6024-7CB9739DE6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0" y="1270000"/>
            <a:ext cx="3175000" cy="22860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BD38C23-83AB-3B4C-1F1D-35C523D12AE1}"/>
              </a:ext>
            </a:extLst>
          </p:cNvPr>
          <p:cNvSpPr txBox="1"/>
          <p:nvPr/>
        </p:nvSpPr>
        <p:spPr>
          <a:xfrm>
            <a:off x="558800" y="4064000"/>
            <a:ext cx="11074400" cy="369332"/>
          </a:xfrm>
          <a:prstGeom prst="rect">
            <a:avLst/>
          </a:prstGeom>
          <a:noFill/>
        </p:spPr>
        <p:txBody>
          <a:bodyPr vert="horz" wrap="square" lIns="0" rIns="0" rtlCol="0">
            <a:noAutofit/>
          </a:bodyPr>
          <a:lstStyle/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600">
                <a:solidFill>
                  <a:srgbClr val="2B2233"/>
                </a:solidFill>
                <a:latin typeface="Times New Roman" panose="02020603050405020304" pitchFamily="18" charset="0"/>
              </a:rPr>
              <a:t>Вход в систему под учётной записью ученика student1 (пароль 12345)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600">
                <a:solidFill>
                  <a:srgbClr val="2B2233"/>
                </a:solidFill>
                <a:latin typeface="Times New Roman" panose="02020603050405020304" pitchFamily="18" charset="0"/>
              </a:rPr>
              <a:t>Запись на курс, просмотр заданий, отправка работы преподавателю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600">
                <a:solidFill>
                  <a:srgbClr val="2B2233"/>
                </a:solidFill>
                <a:latin typeface="Times New Roman" panose="02020603050405020304" pitchFamily="18" charset="0"/>
              </a:rPr>
              <a:t>Проверка работы учителем, выставление балла и комментария, формирование ведомости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600">
                <a:solidFill>
                  <a:srgbClr val="2B2233"/>
                </a:solidFill>
                <a:latin typeface="Times New Roman" panose="02020603050405020304" pitchFamily="18" charset="0"/>
              </a:rPr>
              <a:t>Просмотр полученной оценки в личном кабинете ученика</a:t>
            </a:r>
          </a:p>
          <a:p>
            <a:pPr marL="342900" indent="-342900">
              <a:spcAft>
                <a:spcPts val="1000"/>
              </a:spcAft>
              <a:buSzPct val="90000"/>
              <a:buFont typeface="+mj-lt"/>
              <a:buChar char="•"/>
            </a:pPr>
            <a:endParaRPr lang="ru-RU" sz="1600">
              <a:solidFill>
                <a:srgbClr val="2B2233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74532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F6BE5FB4-E801-F8EA-2CE6-03D6E6DC1DC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EF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6122630-2942-DA12-28E7-386A8AB41FC5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5B4B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113A6B-8B3E-25E0-FFC3-11E68DC33053}"/>
              </a:ext>
            </a:extLst>
          </p:cNvPr>
          <p:cNvSpPr txBox="1"/>
          <p:nvPr/>
        </p:nvSpPr>
        <p:spPr>
          <a:xfrm>
            <a:off x="762000" y="22352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600" b="1">
                <a:solidFill>
                  <a:srgbClr val="5B4B6E"/>
                </a:solidFill>
                <a:latin typeface="Times New Roman" panose="02020603050405020304" pitchFamily="18" charset="0"/>
              </a:rPr>
              <a:t>СПАСИБО ЗА ВНИМАНИЕ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6B35A9E2-DF2E-97B9-DEC4-7ABF7DB14274}"/>
              </a:ext>
            </a:extLst>
          </p:cNvPr>
          <p:cNvSpPr/>
          <p:nvPr/>
        </p:nvSpPr>
        <p:spPr>
          <a:xfrm>
            <a:off x="762000" y="3048000"/>
            <a:ext cx="2540000" cy="508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6E5247-6872-9B27-1158-C2C44D905039}"/>
              </a:ext>
            </a:extLst>
          </p:cNvPr>
          <p:cNvSpPr txBox="1"/>
          <p:nvPr/>
        </p:nvSpPr>
        <p:spPr>
          <a:xfrm>
            <a:off x="762000" y="33274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900">
                <a:solidFill>
                  <a:srgbClr val="2B2233"/>
                </a:solidFill>
                <a:latin typeface="Times New Roman" panose="02020603050405020304" pitchFamily="18" charset="0"/>
              </a:rPr>
              <a:t>Готов ответить на вопросы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5D625B-9006-DF91-5ECD-1C85E933325E}"/>
              </a:ext>
            </a:extLst>
          </p:cNvPr>
          <p:cNvSpPr txBox="1"/>
          <p:nvPr/>
        </p:nvSpPr>
        <p:spPr>
          <a:xfrm>
            <a:off x="762000" y="4191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6B6472"/>
                </a:solidFill>
                <a:latin typeface="Times New Roman" panose="02020603050405020304" pitchFamily="18" charset="0"/>
              </a:rPr>
              <a:t>Тема: Разработка информационной системы «Учебные курсы» для удалённого обучения школьников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692202-B522-978A-1C6C-8FB42EC87FB5}"/>
              </a:ext>
            </a:extLst>
          </p:cNvPr>
          <p:cNvSpPr txBox="1"/>
          <p:nvPr/>
        </p:nvSpPr>
        <p:spPr>
          <a:xfrm>
            <a:off x="762000" y="45466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6B6472"/>
                </a:solidFill>
                <a:latin typeface="Times New Roman" panose="02020603050405020304" pitchFamily="18" charset="0"/>
              </a:rPr>
              <a:t>Выполнил: Матулов А. А., группа ИС1-45        Руководитель: Васильченко М. О.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9D8D12-BE7E-9CA4-4702-DF2B8B6A7BDB}"/>
              </a:ext>
            </a:extLst>
          </p:cNvPr>
          <p:cNvSpPr txBox="1"/>
          <p:nvPr/>
        </p:nvSpPr>
        <p:spPr>
          <a:xfrm>
            <a:off x="762000" y="57404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6B6472"/>
                </a:solidFill>
                <a:latin typeface="Times New Roman" panose="02020603050405020304" pitchFamily="18" charset="0"/>
              </a:rPr>
              <a:t>Ярославль, 2026</a:t>
            </a:r>
          </a:p>
        </p:txBody>
      </p:sp>
    </p:spTree>
    <p:extLst>
      <p:ext uri="{BB962C8B-B14F-4D97-AF65-F5344CB8AC3E}">
        <p14:creationId xmlns:p14="http://schemas.microsoft.com/office/powerpoint/2010/main" val="179553346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686</Words>
  <Application>Microsoft Office PowerPoint</Application>
  <PresentationFormat>Широкоэкранный</PresentationFormat>
  <Paragraphs>86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sashahikilrety@gmail.com</dc:creator>
  <cp:lastModifiedBy>sashahikilrety@gmail.com</cp:lastModifiedBy>
  <cp:revision>1</cp:revision>
  <dcterms:created xsi:type="dcterms:W3CDTF">2026-10-22T18:05:44Z</dcterms:created>
  <dcterms:modified xsi:type="dcterms:W3CDTF">2026-10-22T18:05:45Z</dcterms:modified>
</cp:coreProperties>
</file>