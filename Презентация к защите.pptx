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864DB7-E98F-D9F8-394F-B9EA673AB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D1047A8-4971-6978-48D2-CF37DA2D6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F6F6E13-72CB-ABAD-6D62-460D5728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EF83C52-4BDA-1F0E-F6D4-4DEDCDBB8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9501A9-8B40-9774-CCD6-A673C12BB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9050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501818-910F-5824-D87B-C0CA78DD7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B113BA4-AC79-0B0B-CB20-8B3008387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AFC3363-7207-F694-339B-3BB835739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FC0A63-03AF-1AF2-948C-69322715B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5BFFF9-7B7E-44F8-D894-3708F0BAF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6247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FAC5E0-7D06-28AF-ED65-65C04BB93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2D3D69-BA85-F4C6-59BD-22A114CB5E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32F69F-B937-4B45-FDA6-EBF72F441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E37508-C4B8-4FD8-FD9A-E2797224B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3010CE-DF61-D97E-0892-42A91086A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9321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5EF820-281C-180B-8413-CD167B13C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89CBAA-D36D-A866-9186-7CFD558B24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9A13E5F-BA73-C561-0CCD-FB2B6E93DA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975FDD0-4E1B-2E0D-89C1-90700E3A9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50AB056-CC98-075F-01C9-233949D59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B8BA3A2-49D8-A8FD-ABFC-CAB197735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9218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2FC62C-B15A-7F24-C6C5-0B451D91E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322477-A139-F3BE-F208-97100283B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D749BD1-BB31-9E1E-5534-896A413B24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D859A5C-3FA8-D704-17D6-6B34D8CDAA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12357F3-6394-C38D-69C5-A90FCF79AF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4723476-D857-B247-994E-FD6AFDFE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34F9D0F-A3E6-A1D3-B8C6-ECB59777F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9373E40-A6EF-8144-E6AF-7EB1A0D7D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0967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63BAED-751A-B115-636C-28869475E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6B9B2BE-07A6-177D-CD09-7D89BE347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90A5570-2C77-C6DE-D41C-EB776A0C3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4DC7563-C00E-1C4A-6020-9BEC0679A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8705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40C98D4-788E-D177-ECC8-036F75A52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77508CB-F06F-92EC-DE74-6CC4C3A5D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026DCF-E3C2-D36D-9939-9736137FC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021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DEDBB0-926C-5F09-3F0C-6EBE567B7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D2CA93-F365-A0D9-4634-B086169F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F7119B-2EFE-7F2E-0E3C-E277EC6646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41066C-FB35-74B0-F8E1-CAB9FF603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A660138-5CD4-4415-5550-8586C4B9C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5BF9895-4457-2936-A66A-D05879647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063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3BB6BB-3577-04A6-2460-B443359F3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625B818-06EA-0B78-ABDD-B707255D6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DC245A2-3457-8A80-D624-5C8A1286DF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B6AD96D-7B7F-81E4-C642-004DF900B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5F0FDF2-287D-EEAC-C983-73009AF13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A270CD3-9E26-3229-CB47-9C21816DA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0457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8F8F2F-7B1C-96A9-C590-927403E78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E0FE6BE-8B1D-F20B-B8A8-C0B5B517B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2078E91-452B-5557-384D-6AD0E431B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6AE841-098D-1B80-1236-E6DCB566E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3689712-C9D9-1082-91DE-5FD482484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868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DF4A3A4-F48E-A682-EEAE-06345F50D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AC8703A-FE9F-AFA7-8C3B-59A16C4CF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2C742A-1036-B588-E8AB-3D15FD8A0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FA12898-EE81-C286-A46E-5AF323E20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B24E85-DAB5-7076-1DE9-751F08B29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0180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EC6701-192D-27F9-AA38-F89203124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8541CC-C5A0-3E98-4643-88F15D0C2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2E44DF3-3729-3162-6991-A8F77A14F6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FE08CB-9F15-41C7-84BD-B8E4C3B377BE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2E852AC-B0F0-D375-419E-DB4182333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2B258F-6C10-E6EC-113F-A8E0DF5950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2D470A-CC0F-47D2-92C2-9A53BE3FE5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5165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192A5E4-3D31-7D82-C6F4-AE88B72F58C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586D8A5-3A94-61F7-8538-2343A8832BB0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7D495DE-979E-DCFF-9D63-D6DB55683CD2}"/>
              </a:ext>
            </a:extLst>
          </p:cNvPr>
          <p:cNvSpPr/>
          <p:nvPr/>
        </p:nvSpPr>
        <p:spPr>
          <a:xfrm>
            <a:off x="9525000" y="0"/>
            <a:ext cx="26670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BF21D6-6B0B-515B-2482-D31EC245BA5D}"/>
              </a:ext>
            </a:extLst>
          </p:cNvPr>
          <p:cNvSpPr txBox="1"/>
          <p:nvPr/>
        </p:nvSpPr>
        <p:spPr>
          <a:xfrm>
            <a:off x="762000" y="5080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00">
                <a:solidFill>
                  <a:srgbClr val="5F6672"/>
                </a:solidFill>
                <a:latin typeface="Times New Roman" panose="02020603050405020304" pitchFamily="18" charset="0"/>
              </a:rPr>
              <a:t>Государственное профессиональное образовательное учреждение Ярославской области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A672B8-72DC-05A3-8F40-0BBB50B41134}"/>
              </a:ext>
            </a:extLst>
          </p:cNvPr>
          <p:cNvSpPr txBox="1"/>
          <p:nvPr/>
        </p:nvSpPr>
        <p:spPr>
          <a:xfrm>
            <a:off x="762000" y="7620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400" b="1">
                <a:solidFill>
                  <a:srgbClr val="1F3864"/>
                </a:solidFill>
                <a:latin typeface="Times New Roman" panose="02020603050405020304" pitchFamily="18" charset="0"/>
              </a:rPr>
              <a:t>«Ярославский градостроительный колледж»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EF6AD8-3C36-B9E2-95F1-C9C206605C65}"/>
              </a:ext>
            </a:extLst>
          </p:cNvPr>
          <p:cNvSpPr txBox="1"/>
          <p:nvPr/>
        </p:nvSpPr>
        <p:spPr>
          <a:xfrm>
            <a:off x="762000" y="11176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00">
                <a:solidFill>
                  <a:srgbClr val="5F6672"/>
                </a:solidFill>
                <a:latin typeface="Times New Roman" panose="02020603050405020304" pitchFamily="18" charset="0"/>
              </a:rPr>
              <a:t>МДК 06.03 «Устройство и функционирование информационной системы»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258C1B9-033F-6B0E-BCF3-E29522D198EA}"/>
              </a:ext>
            </a:extLst>
          </p:cNvPr>
          <p:cNvSpPr/>
          <p:nvPr/>
        </p:nvSpPr>
        <p:spPr>
          <a:xfrm>
            <a:off x="762000" y="1625600"/>
            <a:ext cx="11430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D9ED4E-E668-C086-6154-8CFBA0F1CCCC}"/>
              </a:ext>
            </a:extLst>
          </p:cNvPr>
          <p:cNvSpPr txBox="1"/>
          <p:nvPr/>
        </p:nvSpPr>
        <p:spPr>
          <a:xfrm>
            <a:off x="762000" y="1905000"/>
            <a:ext cx="838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100" b="1">
                <a:solidFill>
                  <a:srgbClr val="1F3864"/>
                </a:solidFill>
                <a:latin typeface="Times New Roman" panose="02020603050405020304" pitchFamily="18" charset="0"/>
              </a:rPr>
              <a:t>Разработка информационной системы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301E6-C36B-1BE2-18DD-817BEE56EEEA}"/>
              </a:ext>
            </a:extLst>
          </p:cNvPr>
          <p:cNvSpPr txBox="1"/>
          <p:nvPr/>
        </p:nvSpPr>
        <p:spPr>
          <a:xfrm>
            <a:off x="762000" y="22860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3400" b="1">
                <a:solidFill>
                  <a:srgbClr val="1F3864"/>
                </a:solidFill>
                <a:latin typeface="Times New Roman" panose="02020603050405020304" pitchFamily="18" charset="0"/>
              </a:rPr>
              <a:t>«Учебные курсы»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F45602-1F10-2A10-08FC-7512E91CDB1A}"/>
              </a:ext>
            </a:extLst>
          </p:cNvPr>
          <p:cNvSpPr txBox="1"/>
          <p:nvPr/>
        </p:nvSpPr>
        <p:spPr>
          <a:xfrm>
            <a:off x="762000" y="3098800"/>
            <a:ext cx="787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>
                <a:solidFill>
                  <a:srgbClr val="262626"/>
                </a:solidFill>
                <a:latin typeface="Times New Roman" panose="02020603050405020304" pitchFamily="18" charset="0"/>
              </a:rPr>
              <a:t>для удалённого обучения школьников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2013411-A52A-A902-071D-94C657367D7D}"/>
              </a:ext>
            </a:extLst>
          </p:cNvPr>
          <p:cNvSpPr/>
          <p:nvPr/>
        </p:nvSpPr>
        <p:spPr>
          <a:xfrm>
            <a:off x="762000" y="4191000"/>
            <a:ext cx="508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2776AE-BA9D-B97F-2946-B55C38CC303C}"/>
              </a:ext>
            </a:extLst>
          </p:cNvPr>
          <p:cNvSpPr txBox="1"/>
          <p:nvPr/>
        </p:nvSpPr>
        <p:spPr>
          <a:xfrm>
            <a:off x="762000" y="4368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900">
                <a:solidFill>
                  <a:srgbClr val="5F6672"/>
                </a:solidFill>
                <a:latin typeface="Times New Roman" panose="02020603050405020304" pitchFamily="18" charset="0"/>
              </a:rPr>
              <a:t>Выполнил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20EFCC-12A1-5F4D-0592-A471B4ABAE0D}"/>
              </a:ext>
            </a:extLst>
          </p:cNvPr>
          <p:cNvSpPr txBox="1"/>
          <p:nvPr/>
        </p:nvSpPr>
        <p:spPr>
          <a:xfrm>
            <a:off x="762000" y="45720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1F3864"/>
                </a:solidFill>
                <a:latin typeface="Times New Roman" panose="02020603050405020304" pitchFamily="18" charset="0"/>
              </a:rPr>
              <a:t>Матулов А. А., группа ИС1-45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EC80C5-925D-F89C-A6E1-765E90501241}"/>
              </a:ext>
            </a:extLst>
          </p:cNvPr>
          <p:cNvSpPr txBox="1"/>
          <p:nvPr/>
        </p:nvSpPr>
        <p:spPr>
          <a:xfrm>
            <a:off x="762000" y="5003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900">
                <a:solidFill>
                  <a:srgbClr val="5F6672"/>
                </a:solidFill>
                <a:latin typeface="Times New Roman" panose="02020603050405020304" pitchFamily="18" charset="0"/>
              </a:rPr>
              <a:t>Руководитель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15EAFB-EE3A-8044-36DB-8844415964DF}"/>
              </a:ext>
            </a:extLst>
          </p:cNvPr>
          <p:cNvSpPr txBox="1"/>
          <p:nvPr/>
        </p:nvSpPr>
        <p:spPr>
          <a:xfrm>
            <a:off x="762000" y="52070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1F3864"/>
                </a:solidFill>
                <a:latin typeface="Times New Roman" panose="02020603050405020304" pitchFamily="18" charset="0"/>
              </a:rPr>
              <a:t>Васильченко М. О.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7D1148-2FDC-70CF-5BCA-A1071CA42644}"/>
              </a:ext>
            </a:extLst>
          </p:cNvPr>
          <p:cNvSpPr txBox="1"/>
          <p:nvPr/>
        </p:nvSpPr>
        <p:spPr>
          <a:xfrm>
            <a:off x="762000" y="6045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00">
                <a:solidFill>
                  <a:srgbClr val="5F6672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252167-D58B-1E34-36D1-E6E04C0056EF}"/>
              </a:ext>
            </a:extLst>
          </p:cNvPr>
          <p:cNvSpPr txBox="1"/>
          <p:nvPr/>
        </p:nvSpPr>
        <p:spPr>
          <a:xfrm rot="16200000">
            <a:off x="8318500" y="3238500"/>
            <a:ext cx="508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 b="1">
                <a:solidFill>
                  <a:srgbClr val="FFFFFF"/>
                </a:solidFill>
                <a:latin typeface="Times New Roman" panose="02020603050405020304" pitchFamily="18" charset="0"/>
              </a:rPr>
              <a:t>ПРОЕКТНАЯ РАБОТА · 2026</a:t>
            </a:r>
          </a:p>
        </p:txBody>
      </p:sp>
    </p:spTree>
    <p:extLst>
      <p:ext uri="{BB962C8B-B14F-4D97-AF65-F5344CB8AC3E}">
        <p14:creationId xmlns:p14="http://schemas.microsoft.com/office/powerpoint/2010/main" val="10148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17AF25E-3A07-B060-57DC-D2775EDF2C9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8C4C895-8FCC-377E-F7DD-C61A29EA335D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927DB4-7054-23A3-CCED-4BF41D037622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Цель проектной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5139F-08C5-92BE-34E7-CF61BCA9445E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02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B997850-8580-38FF-9951-BB7FC5169CEC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EF3BBA4-5E3A-190B-555A-3EE5F59BC707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45AF44-6149-B63B-C3D4-4F3A08C6D8BA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4F100C-D72F-D50B-E832-353E970AFE18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B4B84B-6B21-EBA5-1C60-3C9F7816F9A2}"/>
              </a:ext>
            </a:extLst>
          </p:cNvPr>
          <p:cNvSpPr txBox="1"/>
          <p:nvPr/>
        </p:nvSpPr>
        <p:spPr>
          <a:xfrm>
            <a:off x="762000" y="13208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1F3864"/>
                </a:solidFill>
                <a:latin typeface="Times New Roman" panose="02020603050405020304" pitchFamily="18" charset="0"/>
              </a:rPr>
              <a:t>Разработка информационной системы, обеспечивающей автоматизацию создания, сопровождения и прохождения учебных курсов для удалённого обучения школьников, а также ведение учёта учащихся, учебных групп, преподавателей, дисциплин и успеваемости.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3BC0A39-AA4B-B16F-9151-376E95137A35}"/>
              </a:ext>
            </a:extLst>
          </p:cNvPr>
          <p:cNvSpPr/>
          <p:nvPr/>
        </p:nvSpPr>
        <p:spPr>
          <a:xfrm>
            <a:off x="7620000" y="1320800"/>
            <a:ext cx="12700" cy="41910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61220E-753F-E7AD-4ACA-651E930FCB59}"/>
              </a:ext>
            </a:extLst>
          </p:cNvPr>
          <p:cNvSpPr txBox="1"/>
          <p:nvPr/>
        </p:nvSpPr>
        <p:spPr>
          <a:xfrm>
            <a:off x="8026400" y="1320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B15654-AB93-BC37-015A-08DC4C0B6BB8}"/>
              </a:ext>
            </a:extLst>
          </p:cNvPr>
          <p:cNvSpPr txBox="1"/>
          <p:nvPr/>
        </p:nvSpPr>
        <p:spPr>
          <a:xfrm>
            <a:off x="8585200" y="13462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Снижение трудоёмкости подготовки курсов и заданий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465A046-B7EB-5A4F-46B0-F3FA0A3AFFAE}"/>
              </a:ext>
            </a:extLst>
          </p:cNvPr>
          <p:cNvSpPr/>
          <p:nvPr/>
        </p:nvSpPr>
        <p:spPr>
          <a:xfrm>
            <a:off x="8026400" y="22098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4BE700-FD2B-4D76-187E-10FA652CD10D}"/>
              </a:ext>
            </a:extLst>
          </p:cNvPr>
          <p:cNvSpPr txBox="1"/>
          <p:nvPr/>
        </p:nvSpPr>
        <p:spPr>
          <a:xfrm>
            <a:off x="8026400" y="2387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1CCD20-752F-7E8F-DDB1-4E01EDD0827D}"/>
              </a:ext>
            </a:extLst>
          </p:cNvPr>
          <p:cNvSpPr txBox="1"/>
          <p:nvPr/>
        </p:nvSpPr>
        <p:spPr>
          <a:xfrm>
            <a:off x="8585200" y="24130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Контроль сроков выполнения и ведомость успеваемости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DFA00F43-76B3-CDE1-4410-7461CDD1012B}"/>
              </a:ext>
            </a:extLst>
          </p:cNvPr>
          <p:cNvSpPr/>
          <p:nvPr/>
        </p:nvSpPr>
        <p:spPr>
          <a:xfrm>
            <a:off x="8026400" y="32766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7EF9C0-E957-8BCD-F23F-7F5BAB457DC2}"/>
              </a:ext>
            </a:extLst>
          </p:cNvPr>
          <p:cNvSpPr txBox="1"/>
          <p:nvPr/>
        </p:nvSpPr>
        <p:spPr>
          <a:xfrm>
            <a:off x="8026400" y="3454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72E0C9-FFA5-C4C8-0C8D-FA96AB51ECAC}"/>
              </a:ext>
            </a:extLst>
          </p:cNvPr>
          <p:cNvSpPr txBox="1"/>
          <p:nvPr/>
        </p:nvSpPr>
        <p:spPr>
          <a:xfrm>
            <a:off x="8585200" y="34798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Разграничение прав: администратор, учитель, ученик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8AD8D91-19E6-4D42-50F7-B4BA07042003}"/>
              </a:ext>
            </a:extLst>
          </p:cNvPr>
          <p:cNvSpPr/>
          <p:nvPr/>
        </p:nvSpPr>
        <p:spPr>
          <a:xfrm>
            <a:off x="8026400" y="4343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8FDB2E-E2F0-CFD8-2CD5-D265E8C00EA0}"/>
              </a:ext>
            </a:extLst>
          </p:cNvPr>
          <p:cNvSpPr txBox="1"/>
          <p:nvPr/>
        </p:nvSpPr>
        <p:spPr>
          <a:xfrm>
            <a:off x="8026400" y="4521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3F53DA-8187-1E5B-9202-D797FB39558C}"/>
              </a:ext>
            </a:extLst>
          </p:cNvPr>
          <p:cNvSpPr txBox="1"/>
          <p:nvPr/>
        </p:nvSpPr>
        <p:spPr>
          <a:xfrm>
            <a:off x="8585200" y="45466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Безопасное хранение учётных данных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B7C6F4D1-BCDD-61EB-C7AA-374B98094DED}"/>
              </a:ext>
            </a:extLst>
          </p:cNvPr>
          <p:cNvSpPr/>
          <p:nvPr/>
        </p:nvSpPr>
        <p:spPr>
          <a:xfrm>
            <a:off x="8026400" y="54102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3964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38542D6-1EE9-09F7-535D-5EE6FFEC06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46024DE-C62B-C6E3-DE57-BE9874288EC9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EAE05B-B843-FD2A-1E89-04F87F25FE4A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Задачи проектной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CD1863-D781-5C41-5149-60555E32053E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03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B39F64B-FD3C-B5E1-2E7B-A9B55D041AA5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6CE0FC1-D9A4-868A-350C-6654476BC1C9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613481-44AC-C306-E84B-C9BC326D2C71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674F7E-A882-C373-8FAD-9FA6C508C6CA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8C70C95-F1D6-8213-8E9C-A73080817A61}"/>
              </a:ext>
            </a:extLst>
          </p:cNvPr>
          <p:cNvSpPr/>
          <p:nvPr/>
        </p:nvSpPr>
        <p:spPr>
          <a:xfrm>
            <a:off x="7620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4C0FCA-15F6-1271-2CAE-D6DCBFF7F8BC}"/>
              </a:ext>
            </a:extLst>
          </p:cNvPr>
          <p:cNvSpPr txBox="1"/>
          <p:nvPr/>
        </p:nvSpPr>
        <p:spPr>
          <a:xfrm>
            <a:off x="7620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BEDB8B-7A14-266A-0649-9AC1151A7924}"/>
              </a:ext>
            </a:extLst>
          </p:cNvPr>
          <p:cNvSpPr txBox="1"/>
          <p:nvPr/>
        </p:nvSpPr>
        <p:spPr>
          <a:xfrm>
            <a:off x="7620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Анализ предметной области и бизнес-процессов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AA892D-C1CE-F052-9774-77EFC352B6E5}"/>
              </a:ext>
            </a:extLst>
          </p:cNvPr>
          <p:cNvSpPr/>
          <p:nvPr/>
        </p:nvSpPr>
        <p:spPr>
          <a:xfrm>
            <a:off x="7620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28AB72C-53B6-570C-2E95-C111F23D3801}"/>
              </a:ext>
            </a:extLst>
          </p:cNvPr>
          <p:cNvSpPr/>
          <p:nvPr/>
        </p:nvSpPr>
        <p:spPr>
          <a:xfrm>
            <a:off x="34925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A1A289-74AE-140F-CF30-765091BB6DF9}"/>
              </a:ext>
            </a:extLst>
          </p:cNvPr>
          <p:cNvSpPr txBox="1"/>
          <p:nvPr/>
        </p:nvSpPr>
        <p:spPr>
          <a:xfrm>
            <a:off x="34925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E8CCA2-93D7-811D-BA68-D959E9D41E7A}"/>
              </a:ext>
            </a:extLst>
          </p:cNvPr>
          <p:cNvSpPr txBox="1"/>
          <p:nvPr/>
        </p:nvSpPr>
        <p:spPr>
          <a:xfrm>
            <a:off x="34925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Обзор и анализ существующих аналогов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3DFBBE9-33B5-247D-40BA-88D9C4832786}"/>
              </a:ext>
            </a:extLst>
          </p:cNvPr>
          <p:cNvSpPr/>
          <p:nvPr/>
        </p:nvSpPr>
        <p:spPr>
          <a:xfrm>
            <a:off x="34925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00066878-6312-B418-9CD7-2E1209982F33}"/>
              </a:ext>
            </a:extLst>
          </p:cNvPr>
          <p:cNvSpPr/>
          <p:nvPr/>
        </p:nvSpPr>
        <p:spPr>
          <a:xfrm>
            <a:off x="62230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E9513-9BC7-CD17-9840-CFF2215B841F}"/>
              </a:ext>
            </a:extLst>
          </p:cNvPr>
          <p:cNvSpPr txBox="1"/>
          <p:nvPr/>
        </p:nvSpPr>
        <p:spPr>
          <a:xfrm>
            <a:off x="62230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F70800-1FC7-3C81-6432-EEF6A5737FBD}"/>
              </a:ext>
            </a:extLst>
          </p:cNvPr>
          <p:cNvSpPr txBox="1"/>
          <p:nvPr/>
        </p:nvSpPr>
        <p:spPr>
          <a:xfrm>
            <a:off x="62230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Проектирование архитектуры и модели данных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21CD9B9-28AB-9E22-F250-D873223E6FC7}"/>
              </a:ext>
            </a:extLst>
          </p:cNvPr>
          <p:cNvSpPr/>
          <p:nvPr/>
        </p:nvSpPr>
        <p:spPr>
          <a:xfrm>
            <a:off x="62230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3342CE9-5C1C-FB2F-6E46-E673DDBE5290}"/>
              </a:ext>
            </a:extLst>
          </p:cNvPr>
          <p:cNvSpPr/>
          <p:nvPr/>
        </p:nvSpPr>
        <p:spPr>
          <a:xfrm>
            <a:off x="89535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EFE53B-A67F-9F4C-BC62-E05A6E195BA5}"/>
              </a:ext>
            </a:extLst>
          </p:cNvPr>
          <p:cNvSpPr txBox="1"/>
          <p:nvPr/>
        </p:nvSpPr>
        <p:spPr>
          <a:xfrm>
            <a:off x="89535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6523ED-C7E4-10F8-FFEE-3D1E5D1F3612}"/>
              </a:ext>
            </a:extLst>
          </p:cNvPr>
          <p:cNvSpPr txBox="1"/>
          <p:nvPr/>
        </p:nvSpPr>
        <p:spPr>
          <a:xfrm>
            <a:off x="89535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Разработка структуры и программирование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A94974B-60CF-3BB9-2F58-D1F6AE128DC0}"/>
              </a:ext>
            </a:extLst>
          </p:cNvPr>
          <p:cNvSpPr/>
          <p:nvPr/>
        </p:nvSpPr>
        <p:spPr>
          <a:xfrm>
            <a:off x="89535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852BBBA-C7DA-0AC9-25A5-1A2DE034C757}"/>
              </a:ext>
            </a:extLst>
          </p:cNvPr>
          <p:cNvSpPr/>
          <p:nvPr/>
        </p:nvSpPr>
        <p:spPr>
          <a:xfrm>
            <a:off x="7620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C45325-9772-5A22-03FE-42841C297810}"/>
              </a:ext>
            </a:extLst>
          </p:cNvPr>
          <p:cNvSpPr txBox="1"/>
          <p:nvPr/>
        </p:nvSpPr>
        <p:spPr>
          <a:xfrm>
            <a:off x="7620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5B9A7B-27EA-7611-2F4B-A4D517D1688E}"/>
              </a:ext>
            </a:extLst>
          </p:cNvPr>
          <p:cNvSpPr txBox="1"/>
          <p:nvPr/>
        </p:nvSpPr>
        <p:spPr>
          <a:xfrm>
            <a:off x="7620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Обеспечение безопасности информации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0B0FF9-0BAB-2BD7-0659-D52131B78CBE}"/>
              </a:ext>
            </a:extLst>
          </p:cNvPr>
          <p:cNvSpPr/>
          <p:nvPr/>
        </p:nvSpPr>
        <p:spPr>
          <a:xfrm>
            <a:off x="7620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AA61E741-3B9B-C40E-5BF1-068BD5EC5B66}"/>
              </a:ext>
            </a:extLst>
          </p:cNvPr>
          <p:cNvSpPr/>
          <p:nvPr/>
        </p:nvSpPr>
        <p:spPr>
          <a:xfrm>
            <a:off x="34925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2D7252-B6A1-084F-30AB-F71F5C121B54}"/>
              </a:ext>
            </a:extLst>
          </p:cNvPr>
          <p:cNvSpPr txBox="1"/>
          <p:nvPr/>
        </p:nvSpPr>
        <p:spPr>
          <a:xfrm>
            <a:off x="34925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D376D1-80D8-EE16-2CD9-34ED29D8EB7C}"/>
              </a:ext>
            </a:extLst>
          </p:cNvPr>
          <p:cNvSpPr txBox="1"/>
          <p:nvPr/>
        </p:nvSpPr>
        <p:spPr>
          <a:xfrm>
            <a:off x="34925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Тестирование программного продукта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E59CC0D-8F06-FE34-AC44-56C22D92BC2E}"/>
              </a:ext>
            </a:extLst>
          </p:cNvPr>
          <p:cNvSpPr/>
          <p:nvPr/>
        </p:nvSpPr>
        <p:spPr>
          <a:xfrm>
            <a:off x="34925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F910C12-AAC0-979D-10AF-9E70F6316DA9}"/>
              </a:ext>
            </a:extLst>
          </p:cNvPr>
          <p:cNvSpPr/>
          <p:nvPr/>
        </p:nvSpPr>
        <p:spPr>
          <a:xfrm>
            <a:off x="62230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2BA7798-1769-52F5-2617-B733CA7B9A3B}"/>
              </a:ext>
            </a:extLst>
          </p:cNvPr>
          <p:cNvSpPr txBox="1"/>
          <p:nvPr/>
        </p:nvSpPr>
        <p:spPr>
          <a:xfrm>
            <a:off x="62230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349F15-D1BD-4061-B0C1-2E76A3D634E7}"/>
              </a:ext>
            </a:extLst>
          </p:cNvPr>
          <p:cNvSpPr txBox="1"/>
          <p:nvPr/>
        </p:nvSpPr>
        <p:spPr>
          <a:xfrm>
            <a:off x="62230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Описание аппаратных и программных средств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407CF03-441A-4500-40DA-97EEA6A07AA9}"/>
              </a:ext>
            </a:extLst>
          </p:cNvPr>
          <p:cNvSpPr/>
          <p:nvPr/>
        </p:nvSpPr>
        <p:spPr>
          <a:xfrm>
            <a:off x="62230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2BDAEC12-97F0-2165-8531-076586AAC159}"/>
              </a:ext>
            </a:extLst>
          </p:cNvPr>
          <p:cNvSpPr/>
          <p:nvPr/>
        </p:nvSpPr>
        <p:spPr>
          <a:xfrm>
            <a:off x="89535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D57F80-B7E4-44FD-F5F4-7E3F2FD8ED57}"/>
              </a:ext>
            </a:extLst>
          </p:cNvPr>
          <p:cNvSpPr txBox="1"/>
          <p:nvPr/>
        </p:nvSpPr>
        <p:spPr>
          <a:xfrm>
            <a:off x="89535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A92934-AC16-FECB-D147-99C029CF2072}"/>
              </a:ext>
            </a:extLst>
          </p:cNvPr>
          <p:cNvSpPr txBox="1"/>
          <p:nvPr/>
        </p:nvSpPr>
        <p:spPr>
          <a:xfrm>
            <a:off x="89535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Инструкции для пользователей и администратора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5E170CC2-BD98-F2B2-9C8A-FFADF2D6A6AF}"/>
              </a:ext>
            </a:extLst>
          </p:cNvPr>
          <p:cNvSpPr/>
          <p:nvPr/>
        </p:nvSpPr>
        <p:spPr>
          <a:xfrm>
            <a:off x="89535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3037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6300278-8ECF-BD84-E489-F0FAF4631DB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1FB2EA0-9D50-ACE9-E903-23BB7D84E73F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1D41AE-D8A1-BABC-255B-CA6197208B8E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Аналоги систем дистанционного обучения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E088BB-E7CB-39E3-6339-24C1EA257035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04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F8B06-334D-63CE-A158-2B33D6A7698F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E1E7EFC-D143-455C-8D94-6FE812648B45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5D5A7-FC81-CBF1-4871-6C7B99848CDA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7D1615-CDD2-82AC-B115-CC73A7B95C11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D094974-EB6C-321A-616B-8FE17CF50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270000"/>
            <a:ext cx="911857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310E946-31DB-A854-2A21-5B137A390A6E}"/>
              </a:ext>
            </a:extLst>
          </p:cNvPr>
          <p:cNvSpPr txBox="1"/>
          <p:nvPr/>
        </p:nvSpPr>
        <p:spPr>
          <a:xfrm>
            <a:off x="2667000" y="1244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Moodle</a:t>
            </a:r>
            <a:endParaRPr lang="ru-RU" sz="14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B1FEC3-54BC-2A27-AFB6-CD26A9575945}"/>
              </a:ext>
            </a:extLst>
          </p:cNvPr>
          <p:cNvSpPr txBox="1"/>
          <p:nvPr/>
        </p:nvSpPr>
        <p:spPr>
          <a:xfrm>
            <a:off x="2667000" y="15240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Открытый код, большое сообщество, множество модулей; сложная настройка.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541CA17-9362-8AB5-D682-C8FB43F11DC4}"/>
              </a:ext>
            </a:extLst>
          </p:cNvPr>
          <p:cNvSpPr/>
          <p:nvPr/>
        </p:nvSpPr>
        <p:spPr>
          <a:xfrm>
            <a:off x="762000" y="21844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AF80F33C-8CCE-B4CB-27E4-38F51E09B9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11400"/>
            <a:ext cx="798043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84C2C58-4BD4-E2DD-42FC-D3B4AE883B49}"/>
              </a:ext>
            </a:extLst>
          </p:cNvPr>
          <p:cNvSpPr txBox="1"/>
          <p:nvPr/>
        </p:nvSpPr>
        <p:spPr>
          <a:xfrm>
            <a:off x="2667000" y="2286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Google Classroom</a:t>
            </a:r>
            <a:endParaRPr lang="ru-RU" sz="14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840C40-9C29-8F8C-E028-C2409F17E398}"/>
              </a:ext>
            </a:extLst>
          </p:cNvPr>
          <p:cNvSpPr txBox="1"/>
          <p:nvPr/>
        </p:nvSpPr>
        <p:spPr>
          <a:xfrm>
            <a:off x="2667000" y="25654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Простота освоения, интеграция с документами; мало функций и отчётов.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A8F096F-09B9-E8A5-854F-5A6A7F003E18}"/>
              </a:ext>
            </a:extLst>
          </p:cNvPr>
          <p:cNvSpPr/>
          <p:nvPr/>
        </p:nvSpPr>
        <p:spPr>
          <a:xfrm>
            <a:off x="762000" y="3225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D7F4AE84-55D0-D449-7278-3BB1907444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352800"/>
            <a:ext cx="798654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E8D1FCD-75F5-5290-1CB9-89EE5B863339}"/>
              </a:ext>
            </a:extLst>
          </p:cNvPr>
          <p:cNvSpPr txBox="1"/>
          <p:nvPr/>
        </p:nvSpPr>
        <p:spPr>
          <a:xfrm>
            <a:off x="2667000" y="3327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iSpring Learn</a:t>
            </a:r>
            <a:endParaRPr lang="ru-RU" sz="14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1901C4-1F88-F561-CA13-2D624D1EBC27}"/>
              </a:ext>
            </a:extLst>
          </p:cNvPr>
          <p:cNvSpPr txBox="1"/>
          <p:nvPr/>
        </p:nvSpPr>
        <p:spPr>
          <a:xfrm>
            <a:off x="2667000" y="36068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Современный интерфейс, конструктор курсов, аналитика; платная, только облако.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2E6DA0B-2873-B35F-BA65-A22CFF7A069C}"/>
              </a:ext>
            </a:extLst>
          </p:cNvPr>
          <p:cNvSpPr/>
          <p:nvPr/>
        </p:nvSpPr>
        <p:spPr>
          <a:xfrm>
            <a:off x="762000" y="42672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1EFC5300-304D-A550-A55B-D980B109AE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4394200"/>
            <a:ext cx="807278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174157D-C5E6-1AB7-DE80-7C16521020A9}"/>
              </a:ext>
            </a:extLst>
          </p:cNvPr>
          <p:cNvSpPr txBox="1"/>
          <p:nvPr/>
        </p:nvSpPr>
        <p:spPr>
          <a:xfrm>
            <a:off x="2667000" y="4368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LMS «</a:t>
            </a:r>
            <a:r>
              <a:rPr lang="ru-RU" sz="1400" b="1">
                <a:solidFill>
                  <a:srgbClr val="1F3864"/>
                </a:solidFill>
                <a:latin typeface="Times New Roman" panose="02020603050405020304" pitchFamily="18" charset="0"/>
              </a:rPr>
              <a:t>АнтиТренинги»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D064FF-B9EC-985C-3815-8FDBBA967C57}"/>
              </a:ext>
            </a:extLst>
          </p:cNvPr>
          <p:cNvSpPr txBox="1"/>
          <p:nvPr/>
        </p:nvSpPr>
        <p:spPr>
          <a:xfrm>
            <a:off x="2667000" y="46482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Адаптация к российским стандартам, локальное развёртывание; дорогая лицензия.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CA39B5A-5636-BB92-4687-265A3EAC9EC7}"/>
              </a:ext>
            </a:extLst>
          </p:cNvPr>
          <p:cNvSpPr/>
          <p:nvPr/>
        </p:nvSpPr>
        <p:spPr>
          <a:xfrm>
            <a:off x="762000" y="5308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F213D4-0A06-066A-26B6-CBC1B97C5FEA}"/>
              </a:ext>
            </a:extLst>
          </p:cNvPr>
          <p:cNvSpPr txBox="1"/>
          <p:nvPr/>
        </p:nvSpPr>
        <p:spPr>
          <a:xfrm>
            <a:off x="762000" y="5486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Вывод: универсального решения «просто и недорого» на рынке нет — разработана собственная система с импортом из XML, разграничением прав и ведомостью успеваемости.</a:t>
            </a:r>
          </a:p>
        </p:txBody>
      </p:sp>
    </p:spTree>
    <p:extLst>
      <p:ext uri="{BB962C8B-B14F-4D97-AF65-F5344CB8AC3E}">
        <p14:creationId xmlns:p14="http://schemas.microsoft.com/office/powerpoint/2010/main" val="3103614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717F411-D08D-29EB-783E-55EC758667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FCE11C7-D8A7-209D-9039-7CAA7594862D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C3DCE0-D1C7-F107-5F08-CC343B852623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Схема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B32E5-4D42-735E-A20D-C94482B77C94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05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1A4671B-DF35-6106-F852-F2A74B847395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7B07FD3-CF9D-6CFC-9050-44522E8936ED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F2FD16-D5D5-6E7D-9CA2-397E790BD80B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3B3659-A055-2EBC-4E45-2F17EB4A87B8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EC9BB9-31A7-1C19-EB88-8E9C6D49719B}"/>
              </a:ext>
            </a:extLst>
          </p:cNvPr>
          <p:cNvSpPr txBox="1"/>
          <p:nvPr/>
        </p:nvSpPr>
        <p:spPr>
          <a:xfrm>
            <a:off x="762000" y="12192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CE2E83-D7AB-4405-C353-DC916518F186}"/>
              </a:ext>
            </a:extLst>
          </p:cNvPr>
          <p:cNvSpPr txBox="1"/>
          <p:nvPr/>
        </p:nvSpPr>
        <p:spPr>
          <a:xfrm>
            <a:off x="762000" y="1549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связанных таблиц: пользователи, группы, ученики, преподаватели, дисциплины, курсы, задания, записи, работы, оценки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1115EAA-756F-8180-E3CE-9D544859555D}"/>
              </a:ext>
            </a:extLst>
          </p:cNvPr>
          <p:cNvSpPr/>
          <p:nvPr/>
        </p:nvSpPr>
        <p:spPr>
          <a:xfrm>
            <a:off x="762000" y="22352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124129-82CC-592B-4610-33CBE3BCC1CE}"/>
              </a:ext>
            </a:extLst>
          </p:cNvPr>
          <p:cNvSpPr txBox="1"/>
          <p:nvPr/>
        </p:nvSpPr>
        <p:spPr>
          <a:xfrm>
            <a:off x="762000" y="23368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600" b="1">
                <a:solidFill>
                  <a:srgbClr val="1F3864"/>
                </a:solidFill>
                <a:latin typeface="Times New Roman" panose="02020603050405020304" pitchFamily="18" charset="0"/>
              </a:rPr>
              <a:t>FK</a:t>
            </a:r>
            <a:endParaRPr lang="ru-RU" sz="16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D0E98B-805B-7097-3FAA-72F81173137A}"/>
              </a:ext>
            </a:extLst>
          </p:cNvPr>
          <p:cNvSpPr txBox="1"/>
          <p:nvPr/>
        </p:nvSpPr>
        <p:spPr>
          <a:xfrm>
            <a:off x="762000" y="26670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все связи заданы внешними ключами; удаление проверяется на зависимые записи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C4EC327-DC20-44DC-C6B2-91937E2DC90D}"/>
              </a:ext>
            </a:extLst>
          </p:cNvPr>
          <p:cNvSpPr/>
          <p:nvPr/>
        </p:nvSpPr>
        <p:spPr>
          <a:xfrm>
            <a:off x="762000" y="33528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9572EB-A521-3ECF-40FE-F1AC691844A5}"/>
              </a:ext>
            </a:extLst>
          </p:cNvPr>
          <p:cNvSpPr txBox="1"/>
          <p:nvPr/>
        </p:nvSpPr>
        <p:spPr>
          <a:xfrm>
            <a:off x="762000" y="34544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600" b="1">
                <a:solidFill>
                  <a:srgbClr val="1F3864"/>
                </a:solidFill>
                <a:latin typeface="Times New Roman" panose="02020603050405020304" pitchFamily="18" charset="0"/>
              </a:rPr>
              <a:t>CHECK</a:t>
            </a:r>
            <a:endParaRPr lang="ru-RU" sz="16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58202E-C7A8-0ED6-CCDC-C33EB6BCCF0E}"/>
              </a:ext>
            </a:extLst>
          </p:cNvPr>
          <p:cNvSpPr txBox="1"/>
          <p:nvPr/>
        </p:nvSpPr>
        <p:spPr>
          <a:xfrm>
            <a:off x="762000" y="37846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 на роль, статусы, номер класса, максимальный и выставленный балл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EC66DA9F-9B1D-DA98-0955-F8857EC283A3}"/>
              </a:ext>
            </a:extLst>
          </p:cNvPr>
          <p:cNvSpPr/>
          <p:nvPr/>
        </p:nvSpPr>
        <p:spPr>
          <a:xfrm>
            <a:off x="762000" y="44704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7B7C9A-389D-CE39-9C13-415FC97791BC}"/>
              </a:ext>
            </a:extLst>
          </p:cNvPr>
          <p:cNvSpPr txBox="1"/>
          <p:nvPr/>
        </p:nvSpPr>
        <p:spPr>
          <a:xfrm>
            <a:off x="762000" y="45720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3НФ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D27138-81F5-627E-B210-81CE9759B2F2}"/>
              </a:ext>
            </a:extLst>
          </p:cNvPr>
          <p:cNvSpPr txBox="1"/>
          <p:nvPr/>
        </p:nvSpPr>
        <p:spPr>
          <a:xfrm>
            <a:off x="762000" y="4902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модель приведена к третьей нормальной форме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A48BB77-59E0-645B-AD36-4077454A8404}"/>
              </a:ext>
            </a:extLst>
          </p:cNvPr>
          <p:cNvSpPr/>
          <p:nvPr/>
        </p:nvSpPr>
        <p:spPr>
          <a:xfrm>
            <a:off x="762000" y="55880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D6EAC6D-1048-E741-B6C1-813417F52A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219200"/>
            <a:ext cx="6858000" cy="50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13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0630635-BE37-DDB4-4C12-29EC2BD7C29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D118315-F922-20C2-127F-8945A87D779D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E356F2-66F9-44EA-98D4-F7F0BFA980D2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Виды пользователей и их возможности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3C076-2E85-0027-A1E9-7AC53C61FE47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06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6CCEC57-B7E9-B73B-8B02-04AB5084352E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D276FD1-2A96-03F4-0AD3-1DCCF3C945F0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4BCC63-9000-AC50-8344-F707FC9299A0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E19CA-928A-BCD4-E092-B89E3E08D22D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1A27959-E4FC-8115-6E09-E06381A714A3}"/>
              </a:ext>
            </a:extLst>
          </p:cNvPr>
          <p:cNvSpPr/>
          <p:nvPr/>
        </p:nvSpPr>
        <p:spPr>
          <a:xfrm>
            <a:off x="762000" y="1219200"/>
            <a:ext cx="3403600" cy="381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6BABBA-4E95-CAF2-554D-8508246EC45D}"/>
              </a:ext>
            </a:extLst>
          </p:cNvPr>
          <p:cNvSpPr txBox="1"/>
          <p:nvPr/>
        </p:nvSpPr>
        <p:spPr>
          <a:xfrm>
            <a:off x="762000" y="1422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Администратор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73854-CF73-59A3-6B4C-9F6A3DBE1F08}"/>
              </a:ext>
            </a:extLst>
          </p:cNvPr>
          <p:cNvSpPr txBox="1"/>
          <p:nvPr/>
        </p:nvSpPr>
        <p:spPr>
          <a:xfrm>
            <a:off x="762000" y="1854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ВОЗМОЖНОСТИ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F5E3AC-0025-50C8-45E7-BCC936E2430A}"/>
              </a:ext>
            </a:extLst>
          </p:cNvPr>
          <p:cNvSpPr txBox="1"/>
          <p:nvPr/>
        </p:nvSpPr>
        <p:spPr>
          <a:xfrm>
            <a:off x="762000" y="2108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262626"/>
                </a:solidFill>
                <a:latin typeface="Times New Roman" panose="02020603050405020304" pitchFamily="18" charset="0"/>
              </a:rPr>
              <a:t>Справочники: пользователи, группы, дисциплины, преподаватели, курсы. Блокировка и удаление учётных записей. Импорт данных из XML. Загрузка изображений курсов.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EBB9480-440B-4513-4D3B-D3607F6C7518}"/>
              </a:ext>
            </a:extLst>
          </p:cNvPr>
          <p:cNvSpPr/>
          <p:nvPr/>
        </p:nvSpPr>
        <p:spPr>
          <a:xfrm>
            <a:off x="762000" y="4597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9142CB-C556-3750-3126-B3920BDE1CCA}"/>
              </a:ext>
            </a:extLst>
          </p:cNvPr>
          <p:cNvSpPr txBox="1"/>
          <p:nvPr/>
        </p:nvSpPr>
        <p:spPr>
          <a:xfrm>
            <a:off x="762000" y="4724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2AA8FA-FAEF-3076-1A25-40EE6ED9B1DC}"/>
              </a:ext>
            </a:extLst>
          </p:cNvPr>
          <p:cNvSpPr txBox="1"/>
          <p:nvPr/>
        </p:nvSpPr>
        <p:spPr>
          <a:xfrm>
            <a:off x="762000" y="49530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Полный доступ ко всем функциям системы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DA598A85-D29A-F32F-B404-9BD616BB2148}"/>
              </a:ext>
            </a:extLst>
          </p:cNvPr>
          <p:cNvSpPr/>
          <p:nvPr/>
        </p:nvSpPr>
        <p:spPr>
          <a:xfrm>
            <a:off x="4394200" y="1219200"/>
            <a:ext cx="3403600" cy="381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1985BC-03CC-C018-0D3E-F32E0D585676}"/>
              </a:ext>
            </a:extLst>
          </p:cNvPr>
          <p:cNvSpPr txBox="1"/>
          <p:nvPr/>
        </p:nvSpPr>
        <p:spPr>
          <a:xfrm>
            <a:off x="4394200" y="1422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Учитель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DA87A5-30E0-AB39-98C6-FB3F660E1389}"/>
              </a:ext>
            </a:extLst>
          </p:cNvPr>
          <p:cNvSpPr txBox="1"/>
          <p:nvPr/>
        </p:nvSpPr>
        <p:spPr>
          <a:xfrm>
            <a:off x="4394200" y="1854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ВОЗМОЖНОСТИ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1776CE-D6C4-3994-D304-38DDDAB82351}"/>
              </a:ext>
            </a:extLst>
          </p:cNvPr>
          <p:cNvSpPr txBox="1"/>
          <p:nvPr/>
        </p:nvSpPr>
        <p:spPr>
          <a:xfrm>
            <a:off x="4394200" y="2108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262626"/>
                </a:solidFill>
                <a:latin typeface="Times New Roman" panose="02020603050405020304" pitchFamily="18" charset="0"/>
              </a:rPr>
              <a:t>Создание курсов и заданий, назначение сроков и максимального балла, проверка работ, выставление оценок с комментарием, ведомость успеваемости.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585C29-EECB-2F2F-338E-6A868B95BD1B}"/>
              </a:ext>
            </a:extLst>
          </p:cNvPr>
          <p:cNvSpPr/>
          <p:nvPr/>
        </p:nvSpPr>
        <p:spPr>
          <a:xfrm>
            <a:off x="4394200" y="4597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8495F1-9342-9E5F-0A19-FEF98158EC42}"/>
              </a:ext>
            </a:extLst>
          </p:cNvPr>
          <p:cNvSpPr txBox="1"/>
          <p:nvPr/>
        </p:nvSpPr>
        <p:spPr>
          <a:xfrm>
            <a:off x="4394200" y="4724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B78D5-88D2-6ABD-DC41-196D1BA6EB5D}"/>
              </a:ext>
            </a:extLst>
          </p:cNvPr>
          <p:cNvSpPr txBox="1"/>
          <p:nvPr/>
        </p:nvSpPr>
        <p:spPr>
          <a:xfrm>
            <a:off x="4394200" y="49530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Только свои курсы и работы учеников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2AEF174-68B4-6B81-43EF-53F46724B0A0}"/>
              </a:ext>
            </a:extLst>
          </p:cNvPr>
          <p:cNvSpPr/>
          <p:nvPr/>
        </p:nvSpPr>
        <p:spPr>
          <a:xfrm>
            <a:off x="8026400" y="1219200"/>
            <a:ext cx="3403600" cy="381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30243B-53DC-236A-A377-FDDEB57E385F}"/>
              </a:ext>
            </a:extLst>
          </p:cNvPr>
          <p:cNvSpPr txBox="1"/>
          <p:nvPr/>
        </p:nvSpPr>
        <p:spPr>
          <a:xfrm>
            <a:off x="8026400" y="1422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Ученик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0D148D-7E67-45EA-4CA8-D9FE6825980F}"/>
              </a:ext>
            </a:extLst>
          </p:cNvPr>
          <p:cNvSpPr txBox="1"/>
          <p:nvPr/>
        </p:nvSpPr>
        <p:spPr>
          <a:xfrm>
            <a:off x="8026400" y="1854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ВОЗМОЖНОСТИ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03F45F-B508-2C1B-8ED0-2860DC6541DE}"/>
              </a:ext>
            </a:extLst>
          </p:cNvPr>
          <p:cNvSpPr txBox="1"/>
          <p:nvPr/>
        </p:nvSpPr>
        <p:spPr>
          <a:xfrm>
            <a:off x="8026400" y="2108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262626"/>
                </a:solidFill>
                <a:latin typeface="Times New Roman" panose="02020603050405020304" pitchFamily="18" charset="0"/>
              </a:rPr>
              <a:t>Просмотр доступных курсов, запись на курсы, выполнение заданий и отправка работ, просмотр собственных оценок и статуса проверки.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5CFCEB1-EA2C-4BC3-6496-4F7E189C446B}"/>
              </a:ext>
            </a:extLst>
          </p:cNvPr>
          <p:cNvSpPr/>
          <p:nvPr/>
        </p:nvSpPr>
        <p:spPr>
          <a:xfrm>
            <a:off x="8026400" y="4597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50A089-302A-F8D4-8ED9-8B51568CC1BA}"/>
              </a:ext>
            </a:extLst>
          </p:cNvPr>
          <p:cNvSpPr txBox="1"/>
          <p:nvPr/>
        </p:nvSpPr>
        <p:spPr>
          <a:xfrm>
            <a:off x="8026400" y="4724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35E100-1585-38CF-5FA1-E9734EAC4FE9}"/>
              </a:ext>
            </a:extLst>
          </p:cNvPr>
          <p:cNvSpPr txBox="1"/>
          <p:nvPr/>
        </p:nvSpPr>
        <p:spPr>
          <a:xfrm>
            <a:off x="8026400" y="49530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Только свои данные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3552C0-D7F2-E4D1-7D9A-EA8427288318}"/>
              </a:ext>
            </a:extLst>
          </p:cNvPr>
          <p:cNvSpPr txBox="1"/>
          <p:nvPr/>
        </p:nvSpPr>
        <p:spPr>
          <a:xfrm>
            <a:off x="762000" y="574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Доступ ограничен на трёх уровнях: проверка учётных данных при входе, определение роли и открытие окна, фильтрация доступных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616152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5AEECF5-B5D6-15E1-7EE2-E1671BE396F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04035DA-DB75-2007-FFC9-C5C2F5ADF712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207AEF-6447-9669-A011-6A54A8C5B45A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Используемые технологии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B3893F-DE4D-5BA4-9A7E-1EBB128A13AE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07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D1F14E5-A7DD-E7C1-E46E-CF1D863D4782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A0B7846-19BF-BEE2-03C0-5A3F9D03B013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51BA51-41C0-AF8A-C683-3DAED457EF68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D1B763-5C6D-A386-34F5-4394593D87F5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E61BF2-78BD-5452-E643-07CBB6CF9EF7}"/>
              </a:ext>
            </a:extLst>
          </p:cNvPr>
          <p:cNvSpPr txBox="1"/>
          <p:nvPr/>
        </p:nvSpPr>
        <p:spPr>
          <a:xfrm>
            <a:off x="762000" y="1219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C#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C878F-3AAB-76B4-C9B4-0B33C101BB72}"/>
              </a:ext>
            </a:extLst>
          </p:cNvPr>
          <p:cNvSpPr txBox="1"/>
          <p:nvPr/>
        </p:nvSpPr>
        <p:spPr>
          <a:xfrm>
            <a:off x="4191000" y="12446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объектно-ориентированный язык, платформа .NET Framework 4.7.2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0AAAA20-7DAE-EB12-2B6E-FF2B312CF7A3}"/>
              </a:ext>
            </a:extLst>
          </p:cNvPr>
          <p:cNvSpPr/>
          <p:nvPr/>
        </p:nvSpPr>
        <p:spPr>
          <a:xfrm>
            <a:off x="762000" y="18034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4278B3-4DE1-F0AF-8E41-8CDC285A959D}"/>
              </a:ext>
            </a:extLst>
          </p:cNvPr>
          <p:cNvSpPr txBox="1"/>
          <p:nvPr/>
        </p:nvSpPr>
        <p:spPr>
          <a:xfrm>
            <a:off x="762000" y="1955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WPF (XAML)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0924CF-917C-A7FF-B7B7-42D5775854F5}"/>
              </a:ext>
            </a:extLst>
          </p:cNvPr>
          <p:cNvSpPr txBox="1"/>
          <p:nvPr/>
        </p:nvSpPr>
        <p:spPr>
          <a:xfrm>
            <a:off x="4191000" y="19812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настольный интерфейс Windows, разделение разметки и логики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E6C128D-DFC8-E80F-EDFD-0AC88E571DB0}"/>
              </a:ext>
            </a:extLst>
          </p:cNvPr>
          <p:cNvSpPr/>
          <p:nvPr/>
        </p:nvSpPr>
        <p:spPr>
          <a:xfrm>
            <a:off x="762000" y="25400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BFB302-5F47-F252-CA4F-819093297C7C}"/>
              </a:ext>
            </a:extLst>
          </p:cNvPr>
          <p:cNvSpPr txBox="1"/>
          <p:nvPr/>
        </p:nvSpPr>
        <p:spPr>
          <a:xfrm>
            <a:off x="762000" y="26924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ADO.NET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211A5E-233B-8C81-B8BB-D7E6191C2156}"/>
              </a:ext>
            </a:extLst>
          </p:cNvPr>
          <p:cNvSpPr txBox="1"/>
          <p:nvPr/>
        </p:nvSpPr>
        <p:spPr>
          <a:xfrm>
            <a:off x="4191000" y="27178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провайдер System.Data.SqlClient, параметризованные запросы, транзакции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403551-F77C-D38F-F70C-8022D9F358C2}"/>
              </a:ext>
            </a:extLst>
          </p:cNvPr>
          <p:cNvSpPr/>
          <p:nvPr/>
        </p:nvSpPr>
        <p:spPr>
          <a:xfrm>
            <a:off x="762000" y="3276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7B4F71-04F4-7BF5-481F-CD6615240921}"/>
              </a:ext>
            </a:extLst>
          </p:cNvPr>
          <p:cNvSpPr txBox="1"/>
          <p:nvPr/>
        </p:nvSpPr>
        <p:spPr>
          <a:xfrm>
            <a:off x="762000" y="3429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Microsoft SQL Server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0A98CF-4269-7B48-B7ED-838D42025CC6}"/>
              </a:ext>
            </a:extLst>
          </p:cNvPr>
          <p:cNvSpPr txBox="1"/>
          <p:nvPr/>
        </p:nvSpPr>
        <p:spPr>
          <a:xfrm>
            <a:off x="4191000" y="34544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внешние ключи, ограничения CHECK, транзакции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FD2D134-DAE6-A9F2-F4DA-50F61544F2C7}"/>
              </a:ext>
            </a:extLst>
          </p:cNvPr>
          <p:cNvSpPr/>
          <p:nvPr/>
        </p:nvSpPr>
        <p:spPr>
          <a:xfrm>
            <a:off x="762000" y="40132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57CF69-1EC2-A261-AF33-A76C92AEC340}"/>
              </a:ext>
            </a:extLst>
          </p:cNvPr>
          <p:cNvSpPr txBox="1"/>
          <p:nvPr/>
        </p:nvSpPr>
        <p:spPr>
          <a:xfrm>
            <a:off x="762000" y="4165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Microsoft Visual Studio 2019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D8887C-601C-A204-9C25-AABECE73D3AD}"/>
              </a:ext>
            </a:extLst>
          </p:cNvPr>
          <p:cNvSpPr txBox="1"/>
          <p:nvPr/>
        </p:nvSpPr>
        <p:spPr>
          <a:xfrm>
            <a:off x="4191000" y="41910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среда разработки и сопровождения продукта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F57D91E9-9A35-3032-B94C-6C6F941AB5CB}"/>
              </a:ext>
            </a:extLst>
          </p:cNvPr>
          <p:cNvSpPr/>
          <p:nvPr/>
        </p:nvSpPr>
        <p:spPr>
          <a:xfrm>
            <a:off x="762000" y="474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517071-EB94-806B-9262-4FD7C4645F67}"/>
              </a:ext>
            </a:extLst>
          </p:cNvPr>
          <p:cNvSpPr txBox="1"/>
          <p:nvPr/>
        </p:nvSpPr>
        <p:spPr>
          <a:xfrm>
            <a:off x="762000" y="4902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PBKDF2-HMAC-SHA256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80FF1F-7CE9-15EA-EBD5-79EAF85C9ADB}"/>
              </a:ext>
            </a:extLst>
          </p:cNvPr>
          <p:cNvSpPr txBox="1"/>
          <p:nvPr/>
        </p:nvSpPr>
        <p:spPr>
          <a:xfrm>
            <a:off x="4191000" y="49276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хеширование паролей, индивидуальная соль, 100 000 итераций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0BCF6AF-D9D2-2310-4F42-42D3B5153C2F}"/>
              </a:ext>
            </a:extLst>
          </p:cNvPr>
          <p:cNvSpPr/>
          <p:nvPr/>
        </p:nvSpPr>
        <p:spPr>
          <a:xfrm>
            <a:off x="762000" y="54864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BB9AFF-3D1C-DB67-6FDA-1C28C546B591}"/>
              </a:ext>
            </a:extLst>
          </p:cNvPr>
          <p:cNvSpPr txBox="1"/>
          <p:nvPr/>
        </p:nvSpPr>
        <p:spPr>
          <a:xfrm>
            <a:off x="762000" y="574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Архитектура трёхуровневая: представление (окна WPF) — логика (обработчики) — данные (доступ к СУБД).</a:t>
            </a:r>
          </a:p>
        </p:txBody>
      </p:sp>
    </p:spTree>
    <p:extLst>
      <p:ext uri="{BB962C8B-B14F-4D97-AF65-F5344CB8AC3E}">
        <p14:creationId xmlns:p14="http://schemas.microsoft.com/office/powerpoint/2010/main" val="96609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43344A7-2857-D493-169C-26885BAFCB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D227D30-B932-6394-2AB4-ED57BB12E7DC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967BCF-65BC-3713-E223-0D476C63D422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Видео приложения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10E963-D916-D65C-82F5-7DDA6C63CC16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08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0E0E3E3-1436-9E1F-0D6B-2FFD2241C633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CF63372-A739-8512-CCE4-76FEAA224CD6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CD6146-BF13-01DD-F46D-BE8C030F86AC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76F258-0C30-F5D4-2C6A-FC08869A3630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FC1063-5929-5213-CE80-3727BCCAEA44}"/>
              </a:ext>
            </a:extLst>
          </p:cNvPr>
          <p:cNvSpPr txBox="1"/>
          <p:nvPr/>
        </p:nvSpPr>
        <p:spPr>
          <a:xfrm>
            <a:off x="762000" y="1270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D6C440-A776-A12E-EEA0-9C11BD37D6F4}"/>
              </a:ext>
            </a:extLst>
          </p:cNvPr>
          <p:cNvSpPr txBox="1"/>
          <p:nvPr/>
        </p:nvSpPr>
        <p:spPr>
          <a:xfrm>
            <a:off x="1270000" y="12827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Вход под учётной записью ученика student1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356A25C6-9740-CAD8-815A-CB21AEEA8688}"/>
              </a:ext>
            </a:extLst>
          </p:cNvPr>
          <p:cNvSpPr/>
          <p:nvPr/>
        </p:nvSpPr>
        <p:spPr>
          <a:xfrm>
            <a:off x="1270000" y="18796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871DB0-8C98-304D-53BB-FFE462CF3B22}"/>
              </a:ext>
            </a:extLst>
          </p:cNvPr>
          <p:cNvSpPr txBox="1"/>
          <p:nvPr/>
        </p:nvSpPr>
        <p:spPr>
          <a:xfrm>
            <a:off x="762000" y="2057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E4A8AF-562E-86EA-C2EA-AB359C5A12AA}"/>
              </a:ext>
            </a:extLst>
          </p:cNvPr>
          <p:cNvSpPr txBox="1"/>
          <p:nvPr/>
        </p:nvSpPr>
        <p:spPr>
          <a:xfrm>
            <a:off x="1270000" y="20701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Запись на курс и просмотр заданий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1642671-6A6F-049A-66C6-88D4A582354B}"/>
              </a:ext>
            </a:extLst>
          </p:cNvPr>
          <p:cNvSpPr/>
          <p:nvPr/>
        </p:nvSpPr>
        <p:spPr>
          <a:xfrm>
            <a:off x="1270000" y="26670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109A35-1F9E-AA22-E17D-51C96E4FA2FB}"/>
              </a:ext>
            </a:extLst>
          </p:cNvPr>
          <p:cNvSpPr txBox="1"/>
          <p:nvPr/>
        </p:nvSpPr>
        <p:spPr>
          <a:xfrm>
            <a:off x="762000" y="2844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F05A57-1370-6A9A-0C3F-9E63F0FA427B}"/>
              </a:ext>
            </a:extLst>
          </p:cNvPr>
          <p:cNvSpPr txBox="1"/>
          <p:nvPr/>
        </p:nvSpPr>
        <p:spPr>
          <a:xfrm>
            <a:off x="1270000" y="28575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Отправка работы преподавателю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AB96C5-CF39-4B9A-8B15-713AE6BD9367}"/>
              </a:ext>
            </a:extLst>
          </p:cNvPr>
          <p:cNvSpPr/>
          <p:nvPr/>
        </p:nvSpPr>
        <p:spPr>
          <a:xfrm>
            <a:off x="1270000" y="34544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B574D2-D0BF-170B-7AD9-C680430CFAE8}"/>
              </a:ext>
            </a:extLst>
          </p:cNvPr>
          <p:cNvSpPr txBox="1"/>
          <p:nvPr/>
        </p:nvSpPr>
        <p:spPr>
          <a:xfrm>
            <a:off x="762000" y="3632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706DAF-5704-C77E-E255-DD092DEB5308}"/>
              </a:ext>
            </a:extLst>
          </p:cNvPr>
          <p:cNvSpPr txBox="1"/>
          <p:nvPr/>
        </p:nvSpPr>
        <p:spPr>
          <a:xfrm>
            <a:off x="1270000" y="36449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Проверка работы, балл и комментарий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7BB389F-4571-77D1-11A9-E4F34A7EE47F}"/>
              </a:ext>
            </a:extLst>
          </p:cNvPr>
          <p:cNvSpPr/>
          <p:nvPr/>
        </p:nvSpPr>
        <p:spPr>
          <a:xfrm>
            <a:off x="1270000" y="42418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A6FD70-209F-9F44-9DB3-FF000BED4FAB}"/>
              </a:ext>
            </a:extLst>
          </p:cNvPr>
          <p:cNvSpPr txBox="1"/>
          <p:nvPr/>
        </p:nvSpPr>
        <p:spPr>
          <a:xfrm>
            <a:off x="762000" y="4419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1FAEA4-8B36-5ED0-B67E-BC5D4EF809D1}"/>
              </a:ext>
            </a:extLst>
          </p:cNvPr>
          <p:cNvSpPr txBox="1"/>
          <p:nvPr/>
        </p:nvSpPr>
        <p:spPr>
          <a:xfrm>
            <a:off x="1270000" y="44323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Просмотр оценки в личном кабинете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11336-EF42-F075-6610-6E805404B866}"/>
              </a:ext>
            </a:extLst>
          </p:cNvPr>
          <p:cNvSpPr/>
          <p:nvPr/>
        </p:nvSpPr>
        <p:spPr>
          <a:xfrm>
            <a:off x="1270000" y="50292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5" name="Демонстрация приложения">
            <a:hlinkClick r:id="" action="ppaction://media"/>
            <a:extLst>
              <a:ext uri="{FF2B5EF4-FFF2-40B4-BE49-F238E27FC236}">
                <a16:creationId xmlns:a16="http://schemas.microsoft.com/office/drawing/2014/main" id="{5B84F06A-13E7-42CC-890A-B6B64454665E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61000" y="1270000"/>
            <a:ext cx="5969000" cy="3352800"/>
          </a:xfrm>
          <a:prstGeom prst="rect">
            <a:avLst/>
          </a:prstGeom>
          <a:ln w="12700">
            <a:solidFill>
              <a:srgbClr val="1F3864"/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C28F901-8C14-89A7-5F8F-56AEF2F72A53}"/>
              </a:ext>
            </a:extLst>
          </p:cNvPr>
          <p:cNvSpPr txBox="1"/>
          <p:nvPr/>
        </p:nvSpPr>
        <p:spPr>
          <a:xfrm>
            <a:off x="54610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Продолжительность — около 25 секунд</a:t>
            </a:r>
          </a:p>
        </p:txBody>
      </p:sp>
    </p:spTree>
    <p:extLst>
      <p:ext uri="{BB962C8B-B14F-4D97-AF65-F5344CB8AC3E}">
        <p14:creationId xmlns:p14="http://schemas.microsoft.com/office/powerpoint/2010/main" val="171966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4123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showWhenStopped="0">
                <p:cTn id="7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70A6BE6-A45E-F6C9-5087-ED8AA83828F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E37ABD-F498-E330-43DF-1EA636407D9F}"/>
              </a:ext>
            </a:extLst>
          </p:cNvPr>
          <p:cNvSpPr txBox="1"/>
          <p:nvPr/>
        </p:nvSpPr>
        <p:spPr>
          <a:xfrm>
            <a:off x="762000" y="1905000"/>
            <a:ext cx="787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4000" b="1">
                <a:solidFill>
                  <a:srgbClr val="FFFFFF"/>
                </a:solidFill>
                <a:latin typeface="Times New Roman" panose="02020603050405020304" pitchFamily="18" charset="0"/>
              </a:rPr>
              <a:t>СПАСИБО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1631CE-0173-EC5D-53F1-2877FC093CDD}"/>
              </a:ext>
            </a:extLst>
          </p:cNvPr>
          <p:cNvSpPr txBox="1"/>
          <p:nvPr/>
        </p:nvSpPr>
        <p:spPr>
          <a:xfrm>
            <a:off x="762000" y="2641600"/>
            <a:ext cx="787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4000" b="1">
                <a:solidFill>
                  <a:srgbClr val="FFFFFF"/>
                </a:solidFill>
                <a:latin typeface="Times New Roman" panose="02020603050405020304" pitchFamily="18" charset="0"/>
              </a:rPr>
              <a:t>ЗА ВНИМАНИЕ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8984FB5-02CB-2514-25E9-395CC918FC7F}"/>
              </a:ext>
            </a:extLst>
          </p:cNvPr>
          <p:cNvSpPr/>
          <p:nvPr/>
        </p:nvSpPr>
        <p:spPr>
          <a:xfrm>
            <a:off x="762000" y="3708400"/>
            <a:ext cx="1778000" cy="25400"/>
          </a:xfrm>
          <a:prstGeom prst="rect">
            <a:avLst/>
          </a:prstGeom>
          <a:solidFill>
            <a:srgbClr val="D6DE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B02079-F3A8-D6EF-EB32-2E5819A757F3}"/>
              </a:ext>
            </a:extLst>
          </p:cNvPr>
          <p:cNvSpPr txBox="1"/>
          <p:nvPr/>
        </p:nvSpPr>
        <p:spPr>
          <a:xfrm>
            <a:off x="762000" y="39370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>
                <a:solidFill>
                  <a:srgbClr val="D6DEE8"/>
                </a:solidFill>
                <a:latin typeface="Times New Roman" panose="02020603050405020304" pitchFamily="18" charset="0"/>
              </a:rPr>
              <a:t>Готов ответить на вопросы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EE1A85-B859-1660-8799-D0759A924559}"/>
              </a:ext>
            </a:extLst>
          </p:cNvPr>
          <p:cNvSpPr txBox="1"/>
          <p:nvPr/>
        </p:nvSpPr>
        <p:spPr>
          <a:xfrm>
            <a:off x="762000" y="47244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Тема: разработка информационной системы «Учебные курсы» для удалённого обучения школьников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195FA9-FCDE-0DDD-B39C-884C33AF4A56}"/>
              </a:ext>
            </a:extLst>
          </p:cNvPr>
          <p:cNvSpPr txBox="1"/>
          <p:nvPr/>
        </p:nvSpPr>
        <p:spPr>
          <a:xfrm>
            <a:off x="762000" y="52832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Выполнил: Матулов А. А., группа ИС1-45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D14B2E-0713-6F1F-0B6A-6AC2F564DC7C}"/>
              </a:ext>
            </a:extLst>
          </p:cNvPr>
          <p:cNvSpPr txBox="1"/>
          <p:nvPr/>
        </p:nvSpPr>
        <p:spPr>
          <a:xfrm>
            <a:off x="762000" y="55626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Руководитель: Васильченко М. О.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2F430C-B0AC-BBB0-516F-3837B910A1A6}"/>
              </a:ext>
            </a:extLst>
          </p:cNvPr>
          <p:cNvSpPr txBox="1"/>
          <p:nvPr/>
        </p:nvSpPr>
        <p:spPr>
          <a:xfrm>
            <a:off x="762000" y="6019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3BC5E66-5647-5CFB-C6E7-D37DC6534A32}"/>
              </a:ext>
            </a:extLst>
          </p:cNvPr>
          <p:cNvSpPr/>
          <p:nvPr/>
        </p:nvSpPr>
        <p:spPr>
          <a:xfrm>
            <a:off x="8890000" y="4038600"/>
            <a:ext cx="2184400" cy="218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BF7EAB6-23DA-1AE4-6816-F322CDD0F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1600" y="4140200"/>
            <a:ext cx="1981200" cy="19812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23FB9-63DC-5757-ACEF-1B859EEC4124}"/>
              </a:ext>
            </a:extLst>
          </p:cNvPr>
          <p:cNvSpPr txBox="1"/>
          <p:nvPr/>
        </p:nvSpPr>
        <p:spPr>
          <a:xfrm>
            <a:off x="8382000" y="62992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950">
                <a:solidFill>
                  <a:srgbClr val="FFFFFF"/>
                </a:solidFill>
                <a:latin typeface="Times New Roman" panose="02020603050405020304" pitchFamily="18" charset="0"/>
              </a:rPr>
              <a:t>Исходный код проекта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A1A2DD-0FC9-807E-5E45-3F053C40D00F}"/>
              </a:ext>
            </a:extLst>
          </p:cNvPr>
          <p:cNvSpPr txBox="1"/>
          <p:nvPr/>
        </p:nvSpPr>
        <p:spPr>
          <a:xfrm>
            <a:off x="8128000" y="6477000"/>
            <a:ext cx="3708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850">
                <a:solidFill>
                  <a:srgbClr val="D6DEE8"/>
                </a:solidFill>
                <a:latin typeface="Times New Roman" panose="02020603050405020304" pitchFamily="18" charset="0"/>
              </a:rPr>
              <a:t>github.com/CoBa-3325/up03-uchebnye-kursy</a:t>
            </a:r>
            <a:endParaRPr lang="ru-RU" sz="850">
              <a:solidFill>
                <a:srgbClr val="D6DEE8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33887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708</Words>
  <Application>Microsoft Office PowerPoint</Application>
  <PresentationFormat>Широкоэкранный</PresentationFormat>
  <Paragraphs>131</Paragraphs>
  <Slides>9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sashahikilrety@gmail.com</dc:creator>
  <cp:lastModifiedBy>sashahikilrety@gmail.com</cp:lastModifiedBy>
  <cp:revision>1</cp:revision>
  <dcterms:created xsi:type="dcterms:W3CDTF">2026-10-27T17:02:59Z</dcterms:created>
  <dcterms:modified xsi:type="dcterms:W3CDTF">2026-10-27T17:02:59Z</dcterms:modified>
</cp:coreProperties>
</file>