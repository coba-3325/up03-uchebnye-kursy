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4442EA-CE55-EEFB-A238-1CE801750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4D899E2-DD28-16F2-EA8C-9400A242A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03BBC4F-6418-7F06-D935-646960B9F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ACC0D5-C4B9-A1EF-9DAB-CF6954527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FD1A86-2602-9A78-FDC8-30E5017E2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885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9613F2-E9E7-0B11-D8CA-37C64528C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435820-7791-84CF-9FB7-CAC18DD7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E7DBEA0-4DE1-3477-2661-E7412614B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4FFD902-056B-3089-9A9E-E073F52AF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934874-64F4-8814-F87F-12BFBF6A6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0714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258FDB-A6EF-D80D-F430-E81C922FC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21A80AD-1AAB-6E08-AC0A-D7FA1213D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37499C-F551-9543-94E7-83E452067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5FE5A5-1C4F-1972-D8A4-C6FBA762F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5157BF7-CBA9-7509-1CC2-5B8E5A6A2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5573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0F4667-8697-FA03-432D-D3B0DFDEF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58FF80-7633-303B-92C0-2EFDAB5557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C863B7F-0378-6236-A959-C4816187AF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E496AA9-3A18-9C5E-B277-BAE4255AF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943B855-C57B-7E3E-FC1B-E7D31830C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2ABE91C-C893-B108-DD3A-385D4F4E2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4419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E27571-E206-EDAB-6678-6FEE65777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9FEEF1-9C20-02F8-6E79-E26BD5C19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44315FF-0508-2521-7A0C-EB611B2F3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022923F-5588-4B2E-6392-440639E3D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F5F6C15-6C68-8A85-E306-F30F70C3A4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1570D05-8149-9EAA-262E-40C29D382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CF3024E-BEE8-4E48-D4F9-CE7F33635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4F7A61F-BB58-3FEF-7880-4615615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3942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B5EC7C-1E6F-AA49-6581-7E6DD9B69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116EA02-9D03-6288-3B58-AD4A1A5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EAC54E9-F29A-B24D-5494-2C5D9A50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0A5FBD5-9FFE-E165-CA9D-00DC9307E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6036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BDEC992-0A3F-981D-3DD1-27A4002F4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C74D571-8C78-A6F5-60E8-415689AF7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3E9695E-993D-A675-C2A9-78D1C5645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994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0B1528-B194-35FF-E853-4AFC9C606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DE7BDA-14EB-2869-2ADC-968E8F54D3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F608B63-658F-42C8-4C05-1B90B62EF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3574E78-89B4-075E-9F27-66C8737FA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994BCE6-DAA7-127C-BEE4-0B4A22A08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45034E9-A8B4-F4E5-2E23-C5B72C24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1872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701CB7-A4E9-9973-46BF-A9F7FA7B6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0453AE1-ED8B-4A31-8E14-ABCAE7AD9E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FD97DA9-0327-AD80-B8AF-F7BFEAA127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D83B6E7-D35A-F538-FB86-5FB96EC5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CCEC5FD-26C8-5049-9DE3-1EB360F16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2F24D7C-DC55-E9CB-4223-DCA042AA6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9279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E61194-DC0E-84B0-516F-C0BEF68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9B83078-F57B-4557-5F8F-7D64388164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9E2F52-42DC-575C-965C-516DF1B8E1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A064065-512C-480C-2B6C-39933D66C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30561E-5C30-FB2A-9375-E42042C65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864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99991F1-27AF-FBB6-3C4F-5400A3A05D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F56E2B6-E59F-C730-65DC-19838763A3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060A87-4A77-C960-3A2A-CD2DD70E8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32EC504-8BCE-780B-E3AF-E183879E0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4016121-5BEB-4031-EEDE-67D9E6BAA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307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4037A0-EB78-F4DB-75E7-E3D18FE70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45D859-F825-60E8-0348-E8CA3582CB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C2C41AB-CD4E-C374-5EF0-19BDBCD93E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E09BD1-38AB-49EB-9460-C39B2CCD3658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3A3FE2C-210E-6C13-8508-F3BF0170AE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D89E13-C75E-A3E1-9216-D8E845EF8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60BBD7-A5CA-4261-B408-0C158449086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927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465C1F0-5D03-AB64-4577-1AF0C910FF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174E3E1-6829-7B6B-A48F-D33E018FF44B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B3223F-30E4-FEB6-089E-978AC6227CC1}"/>
              </a:ext>
            </a:extLst>
          </p:cNvPr>
          <p:cNvSpPr/>
          <p:nvPr/>
        </p:nvSpPr>
        <p:spPr>
          <a:xfrm>
            <a:off x="9525000" y="0"/>
            <a:ext cx="2667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FD2CAE-435B-822E-75A8-72FAB6CE06E3}"/>
              </a:ext>
            </a:extLst>
          </p:cNvPr>
          <p:cNvSpPr txBox="1"/>
          <p:nvPr/>
        </p:nvSpPr>
        <p:spPr>
          <a:xfrm>
            <a:off x="762000" y="5080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00">
                <a:solidFill>
                  <a:srgbClr val="5F6672"/>
                </a:solidFill>
                <a:latin typeface="Times New Roman" panose="02020603050405020304" pitchFamily="18" charset="0"/>
              </a:rPr>
              <a:t>Государственное профессиональное образовательное учреждение Ярославской области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100D90-1436-47AF-AAF3-5B06EA908F57}"/>
              </a:ext>
            </a:extLst>
          </p:cNvPr>
          <p:cNvSpPr txBox="1"/>
          <p:nvPr/>
        </p:nvSpPr>
        <p:spPr>
          <a:xfrm>
            <a:off x="762000" y="7620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400" b="1">
                <a:solidFill>
                  <a:srgbClr val="1F3864"/>
                </a:solidFill>
                <a:latin typeface="Times New Roman" panose="02020603050405020304" pitchFamily="18" charset="0"/>
              </a:rPr>
              <a:t>«Ярославский градостроительный колледж»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ABD99E-ECC8-1CC8-9FED-0E7B1D6ECFE9}"/>
              </a:ext>
            </a:extLst>
          </p:cNvPr>
          <p:cNvSpPr txBox="1"/>
          <p:nvPr/>
        </p:nvSpPr>
        <p:spPr>
          <a:xfrm>
            <a:off x="762000" y="11176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00">
                <a:solidFill>
                  <a:srgbClr val="5F6672"/>
                </a:solidFill>
                <a:latin typeface="Times New Roman" panose="02020603050405020304" pitchFamily="18" charset="0"/>
              </a:rPr>
              <a:t>МДК 06.03 «Устройство и функционирование информационной системы»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F5EE3DA-D9F8-F325-14D7-AC32EB259078}"/>
              </a:ext>
            </a:extLst>
          </p:cNvPr>
          <p:cNvSpPr/>
          <p:nvPr/>
        </p:nvSpPr>
        <p:spPr>
          <a:xfrm>
            <a:off x="762000" y="1625600"/>
            <a:ext cx="11430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E8653-2401-461D-694D-B3F86DB7D8A9}"/>
              </a:ext>
            </a:extLst>
          </p:cNvPr>
          <p:cNvSpPr txBox="1"/>
          <p:nvPr/>
        </p:nvSpPr>
        <p:spPr>
          <a:xfrm>
            <a:off x="762000" y="1905000"/>
            <a:ext cx="838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100" b="1">
                <a:solidFill>
                  <a:srgbClr val="1F3864"/>
                </a:solidFill>
                <a:latin typeface="Times New Roman" panose="02020603050405020304" pitchFamily="18" charset="0"/>
              </a:rPr>
              <a:t>Разработка информационной системы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91029-18CF-B061-C87F-1441484848E4}"/>
              </a:ext>
            </a:extLst>
          </p:cNvPr>
          <p:cNvSpPr txBox="1"/>
          <p:nvPr/>
        </p:nvSpPr>
        <p:spPr>
          <a:xfrm>
            <a:off x="762000" y="22860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3400" b="1">
                <a:solidFill>
                  <a:srgbClr val="1F3864"/>
                </a:solidFill>
                <a:latin typeface="Times New Roman" panose="02020603050405020304" pitchFamily="18" charset="0"/>
              </a:rPr>
              <a:t>«Учебные курсы»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C213F5-B3FE-0B7B-B5BC-20D7F349DDC0}"/>
              </a:ext>
            </a:extLst>
          </p:cNvPr>
          <p:cNvSpPr txBox="1"/>
          <p:nvPr/>
        </p:nvSpPr>
        <p:spPr>
          <a:xfrm>
            <a:off x="762000" y="3098800"/>
            <a:ext cx="787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>
                <a:solidFill>
                  <a:srgbClr val="262626"/>
                </a:solidFill>
                <a:latin typeface="Times New Roman" panose="02020603050405020304" pitchFamily="18" charset="0"/>
              </a:rPr>
              <a:t>для удалённого обучения школьников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837BB5D4-A8D5-03B3-9E9D-DF4416B22DC4}"/>
              </a:ext>
            </a:extLst>
          </p:cNvPr>
          <p:cNvSpPr/>
          <p:nvPr/>
        </p:nvSpPr>
        <p:spPr>
          <a:xfrm>
            <a:off x="762000" y="4191000"/>
            <a:ext cx="508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21B712-6F99-90DA-115B-D4F90E7C334E}"/>
              </a:ext>
            </a:extLst>
          </p:cNvPr>
          <p:cNvSpPr txBox="1"/>
          <p:nvPr/>
        </p:nvSpPr>
        <p:spPr>
          <a:xfrm>
            <a:off x="762000" y="4368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900">
                <a:solidFill>
                  <a:srgbClr val="5F6672"/>
                </a:solidFill>
                <a:latin typeface="Times New Roman" panose="02020603050405020304" pitchFamily="18" charset="0"/>
              </a:rPr>
              <a:t>Выполнил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F2D691-CAD9-2E20-C889-874EF251A235}"/>
              </a:ext>
            </a:extLst>
          </p:cNvPr>
          <p:cNvSpPr txBox="1"/>
          <p:nvPr/>
        </p:nvSpPr>
        <p:spPr>
          <a:xfrm>
            <a:off x="762000" y="4572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1F3864"/>
                </a:solidFill>
                <a:latin typeface="Times New Roman" panose="02020603050405020304" pitchFamily="18" charset="0"/>
              </a:rPr>
              <a:t>Матулов А. А., группа ИС1-45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27EED5-4EF6-9697-B684-48ACD4E84C3B}"/>
              </a:ext>
            </a:extLst>
          </p:cNvPr>
          <p:cNvSpPr txBox="1"/>
          <p:nvPr/>
        </p:nvSpPr>
        <p:spPr>
          <a:xfrm>
            <a:off x="762000" y="50038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900">
                <a:solidFill>
                  <a:srgbClr val="5F6672"/>
                </a:solidFill>
                <a:latin typeface="Times New Roman" panose="02020603050405020304" pitchFamily="18" charset="0"/>
              </a:rPr>
              <a:t>Руководитель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F7D449-8601-90B5-A531-9033D3A5E1B0}"/>
              </a:ext>
            </a:extLst>
          </p:cNvPr>
          <p:cNvSpPr txBox="1"/>
          <p:nvPr/>
        </p:nvSpPr>
        <p:spPr>
          <a:xfrm>
            <a:off x="762000" y="52070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1F3864"/>
                </a:solidFill>
                <a:latin typeface="Times New Roman" panose="02020603050405020304" pitchFamily="18" charset="0"/>
              </a:rPr>
              <a:t>Васильченко М. О.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199964-8819-8AAD-8CC7-B793A4603A77}"/>
              </a:ext>
            </a:extLst>
          </p:cNvPr>
          <p:cNvSpPr txBox="1"/>
          <p:nvPr/>
        </p:nvSpPr>
        <p:spPr>
          <a:xfrm>
            <a:off x="762000" y="60452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00">
                <a:solidFill>
                  <a:srgbClr val="5F6672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CF67FD-95EB-2802-4948-061F95E98E5A}"/>
              </a:ext>
            </a:extLst>
          </p:cNvPr>
          <p:cNvSpPr txBox="1"/>
          <p:nvPr/>
        </p:nvSpPr>
        <p:spPr>
          <a:xfrm rot="16200000">
            <a:off x="8318500" y="3238500"/>
            <a:ext cx="508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 b="1">
                <a:solidFill>
                  <a:srgbClr val="FFFFFF"/>
                </a:solidFill>
                <a:latin typeface="Times New Roman" panose="02020603050405020304" pitchFamily="18" charset="0"/>
              </a:rPr>
              <a:t>ПРОЕКТНАЯ РАБОТА · 2026</a:t>
            </a:r>
          </a:p>
        </p:txBody>
      </p:sp>
    </p:spTree>
    <p:extLst>
      <p:ext uri="{BB962C8B-B14F-4D97-AF65-F5344CB8AC3E}">
        <p14:creationId xmlns:p14="http://schemas.microsoft.com/office/powerpoint/2010/main" val="181203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0814C62-3A6D-BF9C-C585-381A421A1D6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FFBD4EDC-1A31-207B-84C0-18BCC2B8E2A3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C55E72-5A2F-BF6B-56DD-AD1F06B355D0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Цель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B77BD-3F82-5F7B-BBBA-46981CBDC4F0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02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E446D01-F1C4-1E93-9EB2-BE66CFDCB4C6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3FC5765-FA65-021F-B0E7-A582760561C5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0A40F9-EE83-CB72-22E7-4B63209B8C69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6915DE-68CC-2C10-01ED-0BDF4B5C82DE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7F6A4E-D3E0-B746-0E8F-A7C33B0C1FD0}"/>
              </a:ext>
            </a:extLst>
          </p:cNvPr>
          <p:cNvSpPr txBox="1"/>
          <p:nvPr/>
        </p:nvSpPr>
        <p:spPr>
          <a:xfrm>
            <a:off x="762000" y="13208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1F3864"/>
                </a:solidFill>
                <a:latin typeface="Times New Roman" panose="02020603050405020304" pitchFamily="18" charset="0"/>
              </a:rPr>
              <a:t>Разработка информационной системы, обеспечивающей автоматизацию создания, сопровождения и прохождения учебных курсов для удалённого обучения школьников, а также ведение учёта учащихся, учебных групп, преподавателей, дисциплин и успеваемости.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3C6E251-997E-E4BB-8746-D3B31849D87B}"/>
              </a:ext>
            </a:extLst>
          </p:cNvPr>
          <p:cNvSpPr/>
          <p:nvPr/>
        </p:nvSpPr>
        <p:spPr>
          <a:xfrm>
            <a:off x="7620000" y="1320800"/>
            <a:ext cx="12700" cy="41910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751C21-D0DA-C5C3-8AF4-2540C1EADE71}"/>
              </a:ext>
            </a:extLst>
          </p:cNvPr>
          <p:cNvSpPr txBox="1"/>
          <p:nvPr/>
        </p:nvSpPr>
        <p:spPr>
          <a:xfrm>
            <a:off x="8026400" y="1320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6527EA-EBF3-AE8E-7042-60C81F64FD66}"/>
              </a:ext>
            </a:extLst>
          </p:cNvPr>
          <p:cNvSpPr txBox="1"/>
          <p:nvPr/>
        </p:nvSpPr>
        <p:spPr>
          <a:xfrm>
            <a:off x="8585200" y="13462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Снижение трудоёмкости подготовки курсов и заданий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EC7DA0F-914F-3314-993A-5F0EC7C2F0B7}"/>
              </a:ext>
            </a:extLst>
          </p:cNvPr>
          <p:cNvSpPr/>
          <p:nvPr/>
        </p:nvSpPr>
        <p:spPr>
          <a:xfrm>
            <a:off x="8026400" y="22098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1F4A7F-B552-06C7-11B6-17552BB89E8A}"/>
              </a:ext>
            </a:extLst>
          </p:cNvPr>
          <p:cNvSpPr txBox="1"/>
          <p:nvPr/>
        </p:nvSpPr>
        <p:spPr>
          <a:xfrm>
            <a:off x="8026400" y="2387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46382A-B23A-1133-5FFB-6100AE779856}"/>
              </a:ext>
            </a:extLst>
          </p:cNvPr>
          <p:cNvSpPr txBox="1"/>
          <p:nvPr/>
        </p:nvSpPr>
        <p:spPr>
          <a:xfrm>
            <a:off x="8585200" y="24130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Контроль сроков выполнения и ведомость успеваемости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6C36EFB-43E7-0FAB-DCB9-847CCC0F884F}"/>
              </a:ext>
            </a:extLst>
          </p:cNvPr>
          <p:cNvSpPr/>
          <p:nvPr/>
        </p:nvSpPr>
        <p:spPr>
          <a:xfrm>
            <a:off x="8026400" y="32766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65E1C7-83E4-333C-5A26-C56C12D1ED66}"/>
              </a:ext>
            </a:extLst>
          </p:cNvPr>
          <p:cNvSpPr txBox="1"/>
          <p:nvPr/>
        </p:nvSpPr>
        <p:spPr>
          <a:xfrm>
            <a:off x="8026400" y="3454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1149FA2-F6C0-A1BA-F438-E56B2A215C1C}"/>
              </a:ext>
            </a:extLst>
          </p:cNvPr>
          <p:cNvSpPr txBox="1"/>
          <p:nvPr/>
        </p:nvSpPr>
        <p:spPr>
          <a:xfrm>
            <a:off x="8585200" y="34798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Разграничение прав: администратор, учитель, ученик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620824F9-4E01-070E-7756-24776CF72747}"/>
              </a:ext>
            </a:extLst>
          </p:cNvPr>
          <p:cNvSpPr/>
          <p:nvPr/>
        </p:nvSpPr>
        <p:spPr>
          <a:xfrm>
            <a:off x="8026400" y="4343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6BFA53-5DE3-55BC-A2ED-F5737FF82D75}"/>
              </a:ext>
            </a:extLst>
          </p:cNvPr>
          <p:cNvSpPr txBox="1"/>
          <p:nvPr/>
        </p:nvSpPr>
        <p:spPr>
          <a:xfrm>
            <a:off x="8026400" y="4521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5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5BB3E81-83F0-3302-CFA0-6F94B2546685}"/>
              </a:ext>
            </a:extLst>
          </p:cNvPr>
          <p:cNvSpPr txBox="1"/>
          <p:nvPr/>
        </p:nvSpPr>
        <p:spPr>
          <a:xfrm>
            <a:off x="8585200" y="4546600"/>
            <a:ext cx="284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Безопасное хранение учётных данных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D88ED11-B215-D160-3659-3528681B082D}"/>
              </a:ext>
            </a:extLst>
          </p:cNvPr>
          <p:cNvSpPr/>
          <p:nvPr/>
        </p:nvSpPr>
        <p:spPr>
          <a:xfrm>
            <a:off x="8026400" y="54102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7522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E20777D-130E-D6A0-0431-EDFF57B9A6A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ED9EED05-5147-2487-91DE-A634E6343FE3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BE4537-A1D1-4BBB-5113-EAADC6980D29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Задачи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805F8B-0411-5BC9-DAC0-2AA647D1C1BE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03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10374E9-1EC8-AF72-8FA2-CF19D44D01E8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89C10BB-2296-94A5-7740-91B4DE80304C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BFE24D-F4CA-CA10-B61E-B9FE380828AF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66CD3D-1978-1070-3C61-FEBD92ACFDA7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E421A18-1985-B1B4-E6C0-2CD3002CED1E}"/>
              </a:ext>
            </a:extLst>
          </p:cNvPr>
          <p:cNvSpPr/>
          <p:nvPr/>
        </p:nvSpPr>
        <p:spPr>
          <a:xfrm>
            <a:off x="7620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42E669-2242-CB3A-FDC1-510A0CD29906}"/>
              </a:ext>
            </a:extLst>
          </p:cNvPr>
          <p:cNvSpPr txBox="1"/>
          <p:nvPr/>
        </p:nvSpPr>
        <p:spPr>
          <a:xfrm>
            <a:off x="7620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630089-4150-B1F6-B271-0B309EE06EA2}"/>
              </a:ext>
            </a:extLst>
          </p:cNvPr>
          <p:cNvSpPr txBox="1"/>
          <p:nvPr/>
        </p:nvSpPr>
        <p:spPr>
          <a:xfrm>
            <a:off x="7620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Анализ предметной области и бизнес-процессов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5CAA6D09-81CE-FA9A-D856-3A85C813C40E}"/>
              </a:ext>
            </a:extLst>
          </p:cNvPr>
          <p:cNvSpPr/>
          <p:nvPr/>
        </p:nvSpPr>
        <p:spPr>
          <a:xfrm>
            <a:off x="7620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EC68E1D-1B6C-4F25-8C9D-4EA899D0DD97}"/>
              </a:ext>
            </a:extLst>
          </p:cNvPr>
          <p:cNvSpPr/>
          <p:nvPr/>
        </p:nvSpPr>
        <p:spPr>
          <a:xfrm>
            <a:off x="34925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E38F6C-FD80-6BEC-468C-C1310790E2F4}"/>
              </a:ext>
            </a:extLst>
          </p:cNvPr>
          <p:cNvSpPr txBox="1"/>
          <p:nvPr/>
        </p:nvSpPr>
        <p:spPr>
          <a:xfrm>
            <a:off x="34925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E04DFF-B035-62FC-24A8-D0C7DB63D827}"/>
              </a:ext>
            </a:extLst>
          </p:cNvPr>
          <p:cNvSpPr txBox="1"/>
          <p:nvPr/>
        </p:nvSpPr>
        <p:spPr>
          <a:xfrm>
            <a:off x="34925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Обзор и анализ существующих аналогов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E91EB34-E60F-47A9-E271-B3826E93590E}"/>
              </a:ext>
            </a:extLst>
          </p:cNvPr>
          <p:cNvSpPr/>
          <p:nvPr/>
        </p:nvSpPr>
        <p:spPr>
          <a:xfrm>
            <a:off x="34925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7CBE4E6-4C53-6825-9CB5-85BB4B6473C0}"/>
              </a:ext>
            </a:extLst>
          </p:cNvPr>
          <p:cNvSpPr/>
          <p:nvPr/>
        </p:nvSpPr>
        <p:spPr>
          <a:xfrm>
            <a:off x="62230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72D4E4-BCFB-B524-CAA1-F90D57967067}"/>
              </a:ext>
            </a:extLst>
          </p:cNvPr>
          <p:cNvSpPr txBox="1"/>
          <p:nvPr/>
        </p:nvSpPr>
        <p:spPr>
          <a:xfrm>
            <a:off x="62230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DB755C-EA03-3210-55EB-FECF48E19EEE}"/>
              </a:ext>
            </a:extLst>
          </p:cNvPr>
          <p:cNvSpPr txBox="1"/>
          <p:nvPr/>
        </p:nvSpPr>
        <p:spPr>
          <a:xfrm>
            <a:off x="62230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Проектирование архитектуры и модели данных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DD88F057-309A-A18B-83CF-B2B68A8D3BB0}"/>
              </a:ext>
            </a:extLst>
          </p:cNvPr>
          <p:cNvSpPr/>
          <p:nvPr/>
        </p:nvSpPr>
        <p:spPr>
          <a:xfrm>
            <a:off x="62230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11FB260-8D81-0C02-E76D-2EB7E962023F}"/>
              </a:ext>
            </a:extLst>
          </p:cNvPr>
          <p:cNvSpPr/>
          <p:nvPr/>
        </p:nvSpPr>
        <p:spPr>
          <a:xfrm>
            <a:off x="8953500" y="16510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8E70A7-A1A3-075A-90B8-7510A8611C69}"/>
              </a:ext>
            </a:extLst>
          </p:cNvPr>
          <p:cNvSpPr txBox="1"/>
          <p:nvPr/>
        </p:nvSpPr>
        <p:spPr>
          <a:xfrm>
            <a:off x="8953500" y="1778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85D140B-52A2-4B97-9CB8-2779EFCB32E7}"/>
              </a:ext>
            </a:extLst>
          </p:cNvPr>
          <p:cNvSpPr txBox="1"/>
          <p:nvPr/>
        </p:nvSpPr>
        <p:spPr>
          <a:xfrm>
            <a:off x="8953500" y="22098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Разработка структуры и программирование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8A768049-3D7E-9A1F-330F-CD2FC78898A0}"/>
              </a:ext>
            </a:extLst>
          </p:cNvPr>
          <p:cNvSpPr/>
          <p:nvPr/>
        </p:nvSpPr>
        <p:spPr>
          <a:xfrm>
            <a:off x="8953500" y="32258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386BDE7-F52E-FC47-7289-5FB7F8CB2583}"/>
              </a:ext>
            </a:extLst>
          </p:cNvPr>
          <p:cNvSpPr/>
          <p:nvPr/>
        </p:nvSpPr>
        <p:spPr>
          <a:xfrm>
            <a:off x="7620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A4B173-5A76-C081-1422-E2ADFD5972E6}"/>
              </a:ext>
            </a:extLst>
          </p:cNvPr>
          <p:cNvSpPr txBox="1"/>
          <p:nvPr/>
        </p:nvSpPr>
        <p:spPr>
          <a:xfrm>
            <a:off x="7620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72D54F-027C-F352-1C85-4205B96D2015}"/>
              </a:ext>
            </a:extLst>
          </p:cNvPr>
          <p:cNvSpPr txBox="1"/>
          <p:nvPr/>
        </p:nvSpPr>
        <p:spPr>
          <a:xfrm>
            <a:off x="7620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Обеспечение безопасности информации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D8090123-86A8-C185-467D-11CB7711CAC3}"/>
              </a:ext>
            </a:extLst>
          </p:cNvPr>
          <p:cNvSpPr/>
          <p:nvPr/>
        </p:nvSpPr>
        <p:spPr>
          <a:xfrm>
            <a:off x="7620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B57CC3D0-3F2B-9483-8A0C-F7120D8FC9A2}"/>
              </a:ext>
            </a:extLst>
          </p:cNvPr>
          <p:cNvSpPr/>
          <p:nvPr/>
        </p:nvSpPr>
        <p:spPr>
          <a:xfrm>
            <a:off x="34925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BE41AA-C119-8604-1BF8-4EC8DDB7AA30}"/>
              </a:ext>
            </a:extLst>
          </p:cNvPr>
          <p:cNvSpPr txBox="1"/>
          <p:nvPr/>
        </p:nvSpPr>
        <p:spPr>
          <a:xfrm>
            <a:off x="34925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8C0DDF5-34D5-AD63-A27D-982C4D0E77D9}"/>
              </a:ext>
            </a:extLst>
          </p:cNvPr>
          <p:cNvSpPr txBox="1"/>
          <p:nvPr/>
        </p:nvSpPr>
        <p:spPr>
          <a:xfrm>
            <a:off x="34925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Тестирование программного продукта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EFF152C-3C9B-C785-3349-8144435F2ABB}"/>
              </a:ext>
            </a:extLst>
          </p:cNvPr>
          <p:cNvSpPr/>
          <p:nvPr/>
        </p:nvSpPr>
        <p:spPr>
          <a:xfrm>
            <a:off x="34925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A5DF818-62F1-85F0-644D-E6202B1F5972}"/>
              </a:ext>
            </a:extLst>
          </p:cNvPr>
          <p:cNvSpPr/>
          <p:nvPr/>
        </p:nvSpPr>
        <p:spPr>
          <a:xfrm>
            <a:off x="62230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058CF3-D990-0EEC-0A01-5D683B916D22}"/>
              </a:ext>
            </a:extLst>
          </p:cNvPr>
          <p:cNvSpPr txBox="1"/>
          <p:nvPr/>
        </p:nvSpPr>
        <p:spPr>
          <a:xfrm>
            <a:off x="62230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26595A0-E5B8-73D4-B223-5244E50AAAEE}"/>
              </a:ext>
            </a:extLst>
          </p:cNvPr>
          <p:cNvSpPr txBox="1"/>
          <p:nvPr/>
        </p:nvSpPr>
        <p:spPr>
          <a:xfrm>
            <a:off x="62230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Описание аппаратных и программных средств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31C9579-28FA-0C2A-5EDE-4B1F7ACDB387}"/>
              </a:ext>
            </a:extLst>
          </p:cNvPr>
          <p:cNvSpPr/>
          <p:nvPr/>
        </p:nvSpPr>
        <p:spPr>
          <a:xfrm>
            <a:off x="62230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A0ECD507-4B89-A3D7-5C2E-848DB5130440}"/>
              </a:ext>
            </a:extLst>
          </p:cNvPr>
          <p:cNvSpPr/>
          <p:nvPr/>
        </p:nvSpPr>
        <p:spPr>
          <a:xfrm>
            <a:off x="8953500" y="4038600"/>
            <a:ext cx="330200" cy="254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309B33-9B6F-E718-8B79-8CF6B4D7A159}"/>
              </a:ext>
            </a:extLst>
          </p:cNvPr>
          <p:cNvSpPr txBox="1"/>
          <p:nvPr/>
        </p:nvSpPr>
        <p:spPr>
          <a:xfrm>
            <a:off x="8953500" y="4165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000" b="1">
                <a:solidFill>
                  <a:srgbClr val="8FA3BC"/>
                </a:solidFill>
                <a:latin typeface="Times New Roman" panose="02020603050405020304" pitchFamily="18" charset="0"/>
              </a:rPr>
              <a:t>08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DC5B5E1-CC36-5541-1D6E-C159C040D497}"/>
              </a:ext>
            </a:extLst>
          </p:cNvPr>
          <p:cNvSpPr txBox="1"/>
          <p:nvPr/>
        </p:nvSpPr>
        <p:spPr>
          <a:xfrm>
            <a:off x="8953500" y="4597400"/>
            <a:ext cx="2476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50">
                <a:solidFill>
                  <a:srgbClr val="262626"/>
                </a:solidFill>
                <a:latin typeface="Times New Roman" panose="02020603050405020304" pitchFamily="18" charset="0"/>
              </a:rPr>
              <a:t>Инструкции для пользователей и администратора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6A740AA5-4F02-DB0E-E4C5-11788E1E314A}"/>
              </a:ext>
            </a:extLst>
          </p:cNvPr>
          <p:cNvSpPr/>
          <p:nvPr/>
        </p:nvSpPr>
        <p:spPr>
          <a:xfrm>
            <a:off x="8953500" y="5613400"/>
            <a:ext cx="24765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6088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E0DB86E-000B-6DF3-B14C-67C70DE28E0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BE3337B-2865-7AFF-C358-98788D9C538B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A1C8FB-17A7-3FE2-59F4-5DB6E69D4F1F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Аналоги систем дистанционного обучения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FB0FD1-00EE-9C75-F44E-D3DAB1BF5DD1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04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C5C9869-A0F3-95A7-80BE-0157CF7ACCE9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0564407-BBB0-C25E-B976-F9D73DDCF9C8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CA4997-96AA-AD8C-ADE7-17114C407C11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0AD58F-59B9-7643-D971-57169CBB8ED5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7EF91EE-0F6C-7BCE-388B-45743D142A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270000"/>
            <a:ext cx="911857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E0AF101-0051-3E73-738D-01102FC6F621}"/>
              </a:ext>
            </a:extLst>
          </p:cNvPr>
          <p:cNvSpPr txBox="1"/>
          <p:nvPr/>
        </p:nvSpPr>
        <p:spPr>
          <a:xfrm>
            <a:off x="2667000" y="1244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Moodle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2E638D-B22B-55AB-4643-9E34F7406D4E}"/>
              </a:ext>
            </a:extLst>
          </p:cNvPr>
          <p:cNvSpPr txBox="1"/>
          <p:nvPr/>
        </p:nvSpPr>
        <p:spPr>
          <a:xfrm>
            <a:off x="2667000" y="15240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Открытый код, большое сообщество, множество модулей; сложная настройка.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6863104-F826-E780-E63F-B1CA7AB3E0B4}"/>
              </a:ext>
            </a:extLst>
          </p:cNvPr>
          <p:cNvSpPr/>
          <p:nvPr/>
        </p:nvSpPr>
        <p:spPr>
          <a:xfrm>
            <a:off x="762000" y="2184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BE9F8EE0-E3C1-D5DA-3268-635CB397D5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311400"/>
            <a:ext cx="798043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2B8A8F3-2A5C-A432-1194-8ADC60116C40}"/>
              </a:ext>
            </a:extLst>
          </p:cNvPr>
          <p:cNvSpPr txBox="1"/>
          <p:nvPr/>
        </p:nvSpPr>
        <p:spPr>
          <a:xfrm>
            <a:off x="2667000" y="22860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Google Classroom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6864A3-09C1-EB24-D388-8A208144C6C8}"/>
              </a:ext>
            </a:extLst>
          </p:cNvPr>
          <p:cNvSpPr txBox="1"/>
          <p:nvPr/>
        </p:nvSpPr>
        <p:spPr>
          <a:xfrm>
            <a:off x="2667000" y="25654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Простота освоения, интеграция с документами; мало функций и отчётов.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ADEB502D-4577-F059-055B-1DABD6CD9799}"/>
              </a:ext>
            </a:extLst>
          </p:cNvPr>
          <p:cNvSpPr/>
          <p:nvPr/>
        </p:nvSpPr>
        <p:spPr>
          <a:xfrm>
            <a:off x="762000" y="3225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F5EC311B-15C1-C3B4-8749-328C3EE336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352800"/>
            <a:ext cx="798654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CAF0C21-0BCA-C444-B0DD-F1374597EF2E}"/>
              </a:ext>
            </a:extLst>
          </p:cNvPr>
          <p:cNvSpPr txBox="1"/>
          <p:nvPr/>
        </p:nvSpPr>
        <p:spPr>
          <a:xfrm>
            <a:off x="2667000" y="33274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iSpring Learn</a:t>
            </a:r>
            <a:endParaRPr lang="ru-RU" sz="14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1B883-C751-7013-C89D-D022E8975B64}"/>
              </a:ext>
            </a:extLst>
          </p:cNvPr>
          <p:cNvSpPr txBox="1"/>
          <p:nvPr/>
        </p:nvSpPr>
        <p:spPr>
          <a:xfrm>
            <a:off x="2667000" y="36068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Современный интерфейс, конструктор курсов, аналитика; платная, только облако.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6723118-7C86-A57E-05B8-D67557C24843}"/>
              </a:ext>
            </a:extLst>
          </p:cNvPr>
          <p:cNvSpPr/>
          <p:nvPr/>
        </p:nvSpPr>
        <p:spPr>
          <a:xfrm>
            <a:off x="762000" y="42672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F23C43C2-CFCB-9298-EBE6-700869549E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4394200"/>
            <a:ext cx="807278" cy="863600"/>
          </a:xfrm>
          <a:prstGeom prst="rect">
            <a:avLst/>
          </a:prstGeom>
          <a:ln w="9525">
            <a:solidFill>
              <a:srgbClr val="C3CAD3"/>
            </a:solidFill>
          </a:ln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37AF42C5-5FDD-57EA-ECD6-9B4F0388A3A4}"/>
              </a:ext>
            </a:extLst>
          </p:cNvPr>
          <p:cNvSpPr txBox="1"/>
          <p:nvPr/>
        </p:nvSpPr>
        <p:spPr>
          <a:xfrm>
            <a:off x="2667000" y="43688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400" b="1">
                <a:solidFill>
                  <a:srgbClr val="1F3864"/>
                </a:solidFill>
                <a:latin typeface="Times New Roman" panose="02020603050405020304" pitchFamily="18" charset="0"/>
              </a:rPr>
              <a:t>LMS «</a:t>
            </a:r>
            <a:r>
              <a:rPr lang="ru-RU" sz="1400" b="1">
                <a:solidFill>
                  <a:srgbClr val="1F3864"/>
                </a:solidFill>
                <a:latin typeface="Times New Roman" panose="02020603050405020304" pitchFamily="18" charset="0"/>
              </a:rPr>
              <a:t>АнтиТренинги»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E317FCD-55C7-9E69-EFCE-5F0267B904F8}"/>
              </a:ext>
            </a:extLst>
          </p:cNvPr>
          <p:cNvSpPr txBox="1"/>
          <p:nvPr/>
        </p:nvSpPr>
        <p:spPr>
          <a:xfrm>
            <a:off x="2667000" y="4648200"/>
            <a:ext cx="685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Адаптация к российским стандартам, локальное развёртывание; дорогая лицензия.</a:t>
            </a:r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DE7E2CA-7438-5BCD-0EF3-10B76CE35FC1}"/>
              </a:ext>
            </a:extLst>
          </p:cNvPr>
          <p:cNvSpPr/>
          <p:nvPr/>
        </p:nvSpPr>
        <p:spPr>
          <a:xfrm>
            <a:off x="762000" y="5308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56E9B5-980E-6AF1-B9F5-B98D5E8C82CD}"/>
              </a:ext>
            </a:extLst>
          </p:cNvPr>
          <p:cNvSpPr txBox="1"/>
          <p:nvPr/>
        </p:nvSpPr>
        <p:spPr>
          <a:xfrm>
            <a:off x="762000" y="5486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Вывод: универсального решения «просто и недорого» на рынке нет — разработана собственная система с импортом из XML, разграничением прав и ведомостью успеваемости.</a:t>
            </a:r>
          </a:p>
        </p:txBody>
      </p:sp>
    </p:spTree>
    <p:extLst>
      <p:ext uri="{BB962C8B-B14F-4D97-AF65-F5344CB8AC3E}">
        <p14:creationId xmlns:p14="http://schemas.microsoft.com/office/powerpoint/2010/main" val="448977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6B5344B-CA18-19C0-141F-0F332DC971B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664768F-4499-724C-A6B0-1D418069B852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2562E7-2951-2271-CB6F-7BBE91E23097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Схема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FF513D-F394-0931-802E-70A8D718492A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05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130A643-2471-39FA-634D-CB517DCD4C39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CEFB66B-16C4-C6BA-5DE0-857C59B0B05C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15B989-4684-D720-EB6C-65C475AC6AD9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5ADC7B6-B624-5F45-9D92-597744A9618E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C6160A-43F1-0153-FEEE-740649F3A76F}"/>
              </a:ext>
            </a:extLst>
          </p:cNvPr>
          <p:cNvSpPr txBox="1"/>
          <p:nvPr/>
        </p:nvSpPr>
        <p:spPr>
          <a:xfrm>
            <a:off x="762000" y="12192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D090C0-150E-6F89-19AA-31BFABCCECD2}"/>
              </a:ext>
            </a:extLst>
          </p:cNvPr>
          <p:cNvSpPr txBox="1"/>
          <p:nvPr/>
        </p:nvSpPr>
        <p:spPr>
          <a:xfrm>
            <a:off x="762000" y="1549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связанных таблиц: пользователи, группы, ученики, преподаватели, дисциплины, курсы, задания, записи, работы, оценки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A7E7241-0294-C53A-8FA7-71287D149A54}"/>
              </a:ext>
            </a:extLst>
          </p:cNvPr>
          <p:cNvSpPr/>
          <p:nvPr/>
        </p:nvSpPr>
        <p:spPr>
          <a:xfrm>
            <a:off x="762000" y="22352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34FA13-9D89-5E97-A402-68C933FFF4EF}"/>
              </a:ext>
            </a:extLst>
          </p:cNvPr>
          <p:cNvSpPr txBox="1"/>
          <p:nvPr/>
        </p:nvSpPr>
        <p:spPr>
          <a:xfrm>
            <a:off x="762000" y="23368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600" b="1">
                <a:solidFill>
                  <a:srgbClr val="1F3864"/>
                </a:solidFill>
                <a:latin typeface="Times New Roman" panose="02020603050405020304" pitchFamily="18" charset="0"/>
              </a:rPr>
              <a:t>FK</a:t>
            </a:r>
            <a:endParaRPr lang="ru-RU" sz="16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173EC6-ED41-4038-3D69-6D642D8959FD}"/>
              </a:ext>
            </a:extLst>
          </p:cNvPr>
          <p:cNvSpPr txBox="1"/>
          <p:nvPr/>
        </p:nvSpPr>
        <p:spPr>
          <a:xfrm>
            <a:off x="762000" y="2667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все связи заданы внешними ключами; удаление проверяется на зависимые записи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39FB505-05FB-1696-F16E-5B2CDCFB5FF8}"/>
              </a:ext>
            </a:extLst>
          </p:cNvPr>
          <p:cNvSpPr/>
          <p:nvPr/>
        </p:nvSpPr>
        <p:spPr>
          <a:xfrm>
            <a:off x="762000" y="33528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E3AFF4-1D07-904C-C6D0-BE8CFA328084}"/>
              </a:ext>
            </a:extLst>
          </p:cNvPr>
          <p:cNvSpPr txBox="1"/>
          <p:nvPr/>
        </p:nvSpPr>
        <p:spPr>
          <a:xfrm>
            <a:off x="762000" y="34544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600" b="1">
                <a:solidFill>
                  <a:srgbClr val="1F3864"/>
                </a:solidFill>
                <a:latin typeface="Times New Roman" panose="02020603050405020304" pitchFamily="18" charset="0"/>
              </a:rPr>
              <a:t>CHECK</a:t>
            </a:r>
            <a:endParaRPr lang="ru-RU" sz="160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158B92-0334-B222-4B40-4D03A6988168}"/>
              </a:ext>
            </a:extLst>
          </p:cNvPr>
          <p:cNvSpPr txBox="1"/>
          <p:nvPr/>
        </p:nvSpPr>
        <p:spPr>
          <a:xfrm>
            <a:off x="762000" y="37846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 на роль, статусы, номер класса, максимальный и выставленный балл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F7B5ECC-61A5-C618-98BE-6DC89FCC6D04}"/>
              </a:ext>
            </a:extLst>
          </p:cNvPr>
          <p:cNvSpPr/>
          <p:nvPr/>
        </p:nvSpPr>
        <p:spPr>
          <a:xfrm>
            <a:off x="762000" y="44704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080888-44B5-DB0B-751E-2EAA903BC3F1}"/>
              </a:ext>
            </a:extLst>
          </p:cNvPr>
          <p:cNvSpPr txBox="1"/>
          <p:nvPr/>
        </p:nvSpPr>
        <p:spPr>
          <a:xfrm>
            <a:off x="762000" y="4572000"/>
            <a:ext cx="88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3НФ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0E4205-C99F-A860-D698-E61466BFE87D}"/>
              </a:ext>
            </a:extLst>
          </p:cNvPr>
          <p:cNvSpPr txBox="1"/>
          <p:nvPr/>
        </p:nvSpPr>
        <p:spPr>
          <a:xfrm>
            <a:off x="762000" y="4902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модель приведена к третьей нормальной форме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74414C2-AC44-3100-8C4F-9E701173B5C3}"/>
              </a:ext>
            </a:extLst>
          </p:cNvPr>
          <p:cNvSpPr/>
          <p:nvPr/>
        </p:nvSpPr>
        <p:spPr>
          <a:xfrm>
            <a:off x="762000" y="5588000"/>
            <a:ext cx="2667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8584871D-5327-68E2-7939-CCCA0BDF0C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200" y="1219200"/>
            <a:ext cx="6858000" cy="501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4064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3A0113D-2F19-96CA-2EB4-B18E0848FB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BCF36C85-5835-CC40-D51B-6AD5D59B138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17DBC4-A575-3F18-C82E-5532A7E6DC1E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Виды пользователей и их возможности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E37B5D-7288-C211-4BFE-0E4E0F58B9D7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06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DDABF55-D4DF-B839-EABA-7EEB887BA8C0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EE18893-2BBF-7B22-3B36-F196812D10A9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B202-13F7-26DB-D7DE-545142EA5037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352403-D54A-57DA-6E15-E0C72409E2D9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4F74F39-E295-9A36-11CF-B0A6EBC59EE4}"/>
              </a:ext>
            </a:extLst>
          </p:cNvPr>
          <p:cNvSpPr/>
          <p:nvPr/>
        </p:nvSpPr>
        <p:spPr>
          <a:xfrm>
            <a:off x="7620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7BF86A-82C7-034D-62DB-92953FA4869C}"/>
              </a:ext>
            </a:extLst>
          </p:cNvPr>
          <p:cNvSpPr txBox="1"/>
          <p:nvPr/>
        </p:nvSpPr>
        <p:spPr>
          <a:xfrm>
            <a:off x="7620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Администратор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1D99EC-7EF8-BA0F-2B08-1B84A7F2A580}"/>
              </a:ext>
            </a:extLst>
          </p:cNvPr>
          <p:cNvSpPr txBox="1"/>
          <p:nvPr/>
        </p:nvSpPr>
        <p:spPr>
          <a:xfrm>
            <a:off x="7620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CE7725-7E4F-C7E4-A2F6-CFD756B02D98}"/>
              </a:ext>
            </a:extLst>
          </p:cNvPr>
          <p:cNvSpPr txBox="1"/>
          <p:nvPr/>
        </p:nvSpPr>
        <p:spPr>
          <a:xfrm>
            <a:off x="7620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Справочники: пользователи, группы, дисциплины, преподаватели, курсы. Блокировка и удаление учётных записей. Импорт данных из XML. Загрузка изображений курсов.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25E2EEF-8CA6-0D05-C1EB-E8E728B4645D}"/>
              </a:ext>
            </a:extLst>
          </p:cNvPr>
          <p:cNvSpPr/>
          <p:nvPr/>
        </p:nvSpPr>
        <p:spPr>
          <a:xfrm>
            <a:off x="7620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066173-2B79-892F-9484-AFF2AAE701B5}"/>
              </a:ext>
            </a:extLst>
          </p:cNvPr>
          <p:cNvSpPr txBox="1"/>
          <p:nvPr/>
        </p:nvSpPr>
        <p:spPr>
          <a:xfrm>
            <a:off x="7620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C31014-9443-BCE2-60A8-8182EC1BB020}"/>
              </a:ext>
            </a:extLst>
          </p:cNvPr>
          <p:cNvSpPr txBox="1"/>
          <p:nvPr/>
        </p:nvSpPr>
        <p:spPr>
          <a:xfrm>
            <a:off x="7620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Полный доступ ко всем функциям системы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3967B5D-08B7-05E0-6135-EDD4EF40AF13}"/>
              </a:ext>
            </a:extLst>
          </p:cNvPr>
          <p:cNvSpPr/>
          <p:nvPr/>
        </p:nvSpPr>
        <p:spPr>
          <a:xfrm>
            <a:off x="43942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E34C81-2DDF-21A9-A01C-433B7B93FB26}"/>
              </a:ext>
            </a:extLst>
          </p:cNvPr>
          <p:cNvSpPr txBox="1"/>
          <p:nvPr/>
        </p:nvSpPr>
        <p:spPr>
          <a:xfrm>
            <a:off x="43942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Учитель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CD722F-A4CF-586D-72C6-3009036E07B9}"/>
              </a:ext>
            </a:extLst>
          </p:cNvPr>
          <p:cNvSpPr txBox="1"/>
          <p:nvPr/>
        </p:nvSpPr>
        <p:spPr>
          <a:xfrm>
            <a:off x="43942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547BDB-9AA5-051F-4465-3A3CAE4CE2BA}"/>
              </a:ext>
            </a:extLst>
          </p:cNvPr>
          <p:cNvSpPr txBox="1"/>
          <p:nvPr/>
        </p:nvSpPr>
        <p:spPr>
          <a:xfrm>
            <a:off x="43942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Создание курсов и заданий, назначение сроков и максимального балла, проверка работ, выставление оценок с комментарием, ведомость успеваемости.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21D4A41-A224-AB4D-796E-8B276AE27C50}"/>
              </a:ext>
            </a:extLst>
          </p:cNvPr>
          <p:cNvSpPr/>
          <p:nvPr/>
        </p:nvSpPr>
        <p:spPr>
          <a:xfrm>
            <a:off x="43942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38595F-5B10-7D8A-A7F6-7D49708E0E17}"/>
              </a:ext>
            </a:extLst>
          </p:cNvPr>
          <p:cNvSpPr txBox="1"/>
          <p:nvPr/>
        </p:nvSpPr>
        <p:spPr>
          <a:xfrm>
            <a:off x="43942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EC9A48-7CB9-8340-CF16-97B889E63F10}"/>
              </a:ext>
            </a:extLst>
          </p:cNvPr>
          <p:cNvSpPr txBox="1"/>
          <p:nvPr/>
        </p:nvSpPr>
        <p:spPr>
          <a:xfrm>
            <a:off x="43942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Только свои курсы и работы учеников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79E3CDF-9D96-35F3-56A9-904EFDA13E0B}"/>
              </a:ext>
            </a:extLst>
          </p:cNvPr>
          <p:cNvSpPr/>
          <p:nvPr/>
        </p:nvSpPr>
        <p:spPr>
          <a:xfrm>
            <a:off x="8026400" y="1219200"/>
            <a:ext cx="3403600" cy="381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3705E7-1BEE-9B59-3223-1776830C33EC}"/>
              </a:ext>
            </a:extLst>
          </p:cNvPr>
          <p:cNvSpPr txBox="1"/>
          <p:nvPr/>
        </p:nvSpPr>
        <p:spPr>
          <a:xfrm>
            <a:off x="8026400" y="1422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 b="1">
                <a:solidFill>
                  <a:srgbClr val="1F3864"/>
                </a:solidFill>
                <a:latin typeface="Times New Roman" panose="02020603050405020304" pitchFamily="18" charset="0"/>
              </a:rPr>
              <a:t>Ученик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40F8DE-EC40-819F-8713-AA0DF9846621}"/>
              </a:ext>
            </a:extLst>
          </p:cNvPr>
          <p:cNvSpPr txBox="1"/>
          <p:nvPr/>
        </p:nvSpPr>
        <p:spPr>
          <a:xfrm>
            <a:off x="8026400" y="1854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ВОЗМОЖНОСТИ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8F7379-B59D-ECCF-3F6F-A2974AE0CD71}"/>
              </a:ext>
            </a:extLst>
          </p:cNvPr>
          <p:cNvSpPr txBox="1"/>
          <p:nvPr/>
        </p:nvSpPr>
        <p:spPr>
          <a:xfrm>
            <a:off x="8026400" y="21082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262626"/>
                </a:solidFill>
                <a:latin typeface="Times New Roman" panose="02020603050405020304" pitchFamily="18" charset="0"/>
              </a:rPr>
              <a:t>Просмотр доступных курсов, запись на курсы, выполнение заданий и отправка работ, просмотр собственных оценок и статуса проверки.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BAF7DF5C-A154-6D50-CEE0-D529795B263C}"/>
              </a:ext>
            </a:extLst>
          </p:cNvPr>
          <p:cNvSpPr/>
          <p:nvPr/>
        </p:nvSpPr>
        <p:spPr>
          <a:xfrm>
            <a:off x="8026400" y="4597400"/>
            <a:ext cx="34036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5DCB082-D08C-096D-D74A-E5294E45BA16}"/>
              </a:ext>
            </a:extLst>
          </p:cNvPr>
          <p:cNvSpPr txBox="1"/>
          <p:nvPr/>
        </p:nvSpPr>
        <p:spPr>
          <a:xfrm>
            <a:off x="8026400" y="47244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 b="1">
                <a:solidFill>
                  <a:srgbClr val="5F6672"/>
                </a:solidFill>
                <a:latin typeface="Times New Roman" panose="02020603050405020304" pitchFamily="18" charset="0"/>
              </a:rPr>
              <a:t>ОГРАНИЧЕНИЯ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A4EDAC-4EF0-2CF6-B019-224686C1FC28}"/>
              </a:ext>
            </a:extLst>
          </p:cNvPr>
          <p:cNvSpPr txBox="1"/>
          <p:nvPr/>
        </p:nvSpPr>
        <p:spPr>
          <a:xfrm>
            <a:off x="8026400" y="4953000"/>
            <a:ext cx="340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Только свои данные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53ABAE6-4A11-29F2-73E6-BB7F6DC945FE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Доступ ограничен на трёх уровнях: проверка учётных данных при входе, определение роли и открытие окна, фильтрация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1432004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9A09953-ECF2-C13E-9C61-33CFF5104E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402B98A-B226-383D-4868-BE21A1EA15AE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E6FC17-BEBE-6517-BD6F-B4C15CD2F02B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Используемые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46BD75-4E6C-B67D-91DC-C10BF5416645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07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CDCD313-C51B-143B-83FF-E53C83EE311D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9BBB4BF-A9DB-755A-1BC0-339460103048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4679B0-03C5-8C42-2B58-99B89AA8AEDC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B3F8E9-B959-BB59-9AD1-5DF159A757CD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5DDB12-6EBE-7274-30FF-BA40B0A643BE}"/>
              </a:ext>
            </a:extLst>
          </p:cNvPr>
          <p:cNvSpPr txBox="1"/>
          <p:nvPr/>
        </p:nvSpPr>
        <p:spPr>
          <a:xfrm>
            <a:off x="762000" y="1219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C#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3F7580-EAF9-0F17-A4B4-3E3EF515468A}"/>
              </a:ext>
            </a:extLst>
          </p:cNvPr>
          <p:cNvSpPr txBox="1"/>
          <p:nvPr/>
        </p:nvSpPr>
        <p:spPr>
          <a:xfrm>
            <a:off x="4191000" y="12446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объектно-ориентированный язык, платформа .NET Framework 4.7.2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B25714D-F2C3-185F-A1FB-82603225C4FC}"/>
              </a:ext>
            </a:extLst>
          </p:cNvPr>
          <p:cNvSpPr/>
          <p:nvPr/>
        </p:nvSpPr>
        <p:spPr>
          <a:xfrm>
            <a:off x="762000" y="1803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E761C2-1EAF-51DC-3AAE-903BCE61235E}"/>
              </a:ext>
            </a:extLst>
          </p:cNvPr>
          <p:cNvSpPr txBox="1"/>
          <p:nvPr/>
        </p:nvSpPr>
        <p:spPr>
          <a:xfrm>
            <a:off x="762000" y="1955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WPF (XAML)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B91D9E-DCB1-E350-17AE-0A22C4418BCE}"/>
              </a:ext>
            </a:extLst>
          </p:cNvPr>
          <p:cNvSpPr txBox="1"/>
          <p:nvPr/>
        </p:nvSpPr>
        <p:spPr>
          <a:xfrm>
            <a:off x="4191000" y="19812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настольный интерфейс Windows, разделение разметки и логики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05DE027-B239-1F39-7C4A-50F15B4C1FDE}"/>
              </a:ext>
            </a:extLst>
          </p:cNvPr>
          <p:cNvSpPr/>
          <p:nvPr/>
        </p:nvSpPr>
        <p:spPr>
          <a:xfrm>
            <a:off x="762000" y="25400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EE9B75-84D5-02B2-F9C1-A5EEF2071079}"/>
              </a:ext>
            </a:extLst>
          </p:cNvPr>
          <p:cNvSpPr txBox="1"/>
          <p:nvPr/>
        </p:nvSpPr>
        <p:spPr>
          <a:xfrm>
            <a:off x="762000" y="26924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ADO.NET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357370-76C2-5F81-5F67-204E522D0F9C}"/>
              </a:ext>
            </a:extLst>
          </p:cNvPr>
          <p:cNvSpPr txBox="1"/>
          <p:nvPr/>
        </p:nvSpPr>
        <p:spPr>
          <a:xfrm>
            <a:off x="4191000" y="27178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провайдер System.Data.SqlClient, параметризованные запросы, транзакции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7988609-6440-E5CA-5766-65AF6AA4AB95}"/>
              </a:ext>
            </a:extLst>
          </p:cNvPr>
          <p:cNvSpPr/>
          <p:nvPr/>
        </p:nvSpPr>
        <p:spPr>
          <a:xfrm>
            <a:off x="762000" y="3276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6F8FCC-26E0-D9EC-C775-A9880B031841}"/>
              </a:ext>
            </a:extLst>
          </p:cNvPr>
          <p:cNvSpPr txBox="1"/>
          <p:nvPr/>
        </p:nvSpPr>
        <p:spPr>
          <a:xfrm>
            <a:off x="762000" y="3429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Microsoft SQL Server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86ED10-FF1D-9C72-89F4-73FD6622F67D}"/>
              </a:ext>
            </a:extLst>
          </p:cNvPr>
          <p:cNvSpPr txBox="1"/>
          <p:nvPr/>
        </p:nvSpPr>
        <p:spPr>
          <a:xfrm>
            <a:off x="4191000" y="34544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внешние ключи, ограничения CHECK, транзакции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43E37ED-5DCF-D0CB-CBE5-229F07D0A11D}"/>
              </a:ext>
            </a:extLst>
          </p:cNvPr>
          <p:cNvSpPr/>
          <p:nvPr/>
        </p:nvSpPr>
        <p:spPr>
          <a:xfrm>
            <a:off x="762000" y="40132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34E1D9-E4EC-C857-EA05-363DC06F9855}"/>
              </a:ext>
            </a:extLst>
          </p:cNvPr>
          <p:cNvSpPr txBox="1"/>
          <p:nvPr/>
        </p:nvSpPr>
        <p:spPr>
          <a:xfrm>
            <a:off x="762000" y="4165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Microsoft Visual Studio 2019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F64257-7813-D4F7-D12D-17D99C953F0D}"/>
              </a:ext>
            </a:extLst>
          </p:cNvPr>
          <p:cNvSpPr txBox="1"/>
          <p:nvPr/>
        </p:nvSpPr>
        <p:spPr>
          <a:xfrm>
            <a:off x="4191000" y="41910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среда разработки и сопровождения продукта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2BA7C4C-E33F-7311-DB1E-901A2733AD26}"/>
              </a:ext>
            </a:extLst>
          </p:cNvPr>
          <p:cNvSpPr/>
          <p:nvPr/>
        </p:nvSpPr>
        <p:spPr>
          <a:xfrm>
            <a:off x="762000" y="474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1A8F9BB-CC51-5D80-D660-C4E0EDF1D929}"/>
              </a:ext>
            </a:extLst>
          </p:cNvPr>
          <p:cNvSpPr txBox="1"/>
          <p:nvPr/>
        </p:nvSpPr>
        <p:spPr>
          <a:xfrm>
            <a:off x="762000" y="49022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350" b="1">
                <a:solidFill>
                  <a:srgbClr val="1F3864"/>
                </a:solidFill>
                <a:latin typeface="Times New Roman" panose="02020603050405020304" pitchFamily="18" charset="0"/>
              </a:rPr>
              <a:t>PBKDF2-HMAC-SHA256</a:t>
            </a:r>
            <a:endParaRPr lang="ru-RU" sz="1350" b="1">
              <a:solidFill>
                <a:srgbClr val="1F3864"/>
              </a:solidFill>
              <a:latin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9691D18-8EE0-405F-58DA-BAF2AE7126AE}"/>
              </a:ext>
            </a:extLst>
          </p:cNvPr>
          <p:cNvSpPr txBox="1"/>
          <p:nvPr/>
        </p:nvSpPr>
        <p:spPr>
          <a:xfrm>
            <a:off x="4191000" y="4927600"/>
            <a:ext cx="723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150">
                <a:solidFill>
                  <a:srgbClr val="5F6672"/>
                </a:solidFill>
                <a:latin typeface="Times New Roman" panose="02020603050405020304" pitchFamily="18" charset="0"/>
              </a:rPr>
              <a:t>хеширование паролей, индивидуальная соль, 100 000 итераций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9BFD8CA8-7DB2-2AF3-7398-E44DE7473294}"/>
              </a:ext>
            </a:extLst>
          </p:cNvPr>
          <p:cNvSpPr/>
          <p:nvPr/>
        </p:nvSpPr>
        <p:spPr>
          <a:xfrm>
            <a:off x="762000" y="54864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8B3DF7-A2AB-9AD5-5FD1-B1E2478CB235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Архитектура трёхуровневая: представление (окна WPF) — логика (обработчики) — данные (доступ к СУБД).</a:t>
            </a:r>
          </a:p>
        </p:txBody>
      </p:sp>
    </p:spTree>
    <p:extLst>
      <p:ext uri="{BB962C8B-B14F-4D97-AF65-F5344CB8AC3E}">
        <p14:creationId xmlns:p14="http://schemas.microsoft.com/office/powerpoint/2010/main" val="548749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9233DFD-FCF5-0938-7AC6-2B603978260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BA6CC8C-383C-5E8E-23F8-EEACB8F082B4}"/>
              </a:ext>
            </a:extLst>
          </p:cNvPr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640ECD-63FA-A6C1-CF32-795EFC54A528}"/>
              </a:ext>
            </a:extLst>
          </p:cNvPr>
          <p:cNvSpPr txBox="1"/>
          <p:nvPr/>
        </p:nvSpPr>
        <p:spPr>
          <a:xfrm>
            <a:off x="762000" y="3556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2300" b="1">
                <a:solidFill>
                  <a:srgbClr val="1F3864"/>
                </a:solidFill>
                <a:latin typeface="Times New Roman" panose="02020603050405020304" pitchFamily="18" charset="0"/>
              </a:rPr>
              <a:t>Видео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A47AF7-CC26-7957-A448-5F4793EEDF4B}"/>
              </a:ext>
            </a:extLst>
          </p:cNvPr>
          <p:cNvSpPr txBox="1"/>
          <p:nvPr/>
        </p:nvSpPr>
        <p:spPr>
          <a:xfrm>
            <a:off x="10033000" y="419100"/>
            <a:ext cx="139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1100">
                <a:solidFill>
                  <a:srgbClr val="5F6672"/>
                </a:solidFill>
                <a:latin typeface="Times New Roman" panose="02020603050405020304" pitchFamily="18" charset="0"/>
              </a:rPr>
              <a:t>08 / 09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A87DEAF-87C0-D4BC-2CFC-E8606D5DE0FB}"/>
              </a:ext>
            </a:extLst>
          </p:cNvPr>
          <p:cNvSpPr/>
          <p:nvPr/>
        </p:nvSpPr>
        <p:spPr>
          <a:xfrm>
            <a:off x="762000" y="9398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06A2A53C-6311-30BD-426D-1FE517619B74}"/>
              </a:ext>
            </a:extLst>
          </p:cNvPr>
          <p:cNvSpPr/>
          <p:nvPr/>
        </p:nvSpPr>
        <p:spPr>
          <a:xfrm>
            <a:off x="762000" y="6324600"/>
            <a:ext cx="10668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9EDED5-F152-05F8-F32C-1D5622BAB366}"/>
              </a:ext>
            </a:extLst>
          </p:cNvPr>
          <p:cNvSpPr txBox="1"/>
          <p:nvPr/>
        </p:nvSpPr>
        <p:spPr>
          <a:xfrm>
            <a:off x="762000" y="6451600"/>
            <a:ext cx="533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Учебные курсы · 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27FCD4-BC78-1CD6-A3C5-4474FCBC8029}"/>
              </a:ext>
            </a:extLst>
          </p:cNvPr>
          <p:cNvSpPr txBox="1"/>
          <p:nvPr/>
        </p:nvSpPr>
        <p:spPr>
          <a:xfrm>
            <a:off x="8890000" y="6451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>
              <a:lnSpc>
                <a:spcPct val="115000"/>
              </a:lnSpc>
            </a:pPr>
            <a:r>
              <a:rPr lang="ru-RU" sz="800">
                <a:solidFill>
                  <a:srgbClr val="5F6672"/>
                </a:solidFill>
                <a:latin typeface="Times New Roman" panose="02020603050405020304" pitchFamily="18" charset="0"/>
              </a:rPr>
              <a:t>Матулов А. А. · ИС1-45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01A1BF-33BE-2D53-A79A-BB4CCD856BA2}"/>
              </a:ext>
            </a:extLst>
          </p:cNvPr>
          <p:cNvSpPr txBox="1"/>
          <p:nvPr/>
        </p:nvSpPr>
        <p:spPr>
          <a:xfrm>
            <a:off x="762000" y="1270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E56EDC-83E5-A2C8-D544-F26C5DB1B8E3}"/>
              </a:ext>
            </a:extLst>
          </p:cNvPr>
          <p:cNvSpPr txBox="1"/>
          <p:nvPr/>
        </p:nvSpPr>
        <p:spPr>
          <a:xfrm>
            <a:off x="1270000" y="12827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Вход под учётной записью ученика student1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31E6980-EDCB-6554-A519-6BEFDAF87DD3}"/>
              </a:ext>
            </a:extLst>
          </p:cNvPr>
          <p:cNvSpPr/>
          <p:nvPr/>
        </p:nvSpPr>
        <p:spPr>
          <a:xfrm>
            <a:off x="1270000" y="18796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090DB5-8FC3-F410-97DF-777F4DB60482}"/>
              </a:ext>
            </a:extLst>
          </p:cNvPr>
          <p:cNvSpPr txBox="1"/>
          <p:nvPr/>
        </p:nvSpPr>
        <p:spPr>
          <a:xfrm>
            <a:off x="762000" y="2057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E6362D-C60E-110C-25EF-CEAD3103633B}"/>
              </a:ext>
            </a:extLst>
          </p:cNvPr>
          <p:cNvSpPr txBox="1"/>
          <p:nvPr/>
        </p:nvSpPr>
        <p:spPr>
          <a:xfrm>
            <a:off x="1270000" y="20701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Запись на курс и просмотр заданий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03DC8CC-DC26-D50E-D845-45316047EE66}"/>
              </a:ext>
            </a:extLst>
          </p:cNvPr>
          <p:cNvSpPr/>
          <p:nvPr/>
        </p:nvSpPr>
        <p:spPr>
          <a:xfrm>
            <a:off x="1270000" y="26670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379AF7-4C46-46CA-4F3A-DE3ECC105D28}"/>
              </a:ext>
            </a:extLst>
          </p:cNvPr>
          <p:cNvSpPr txBox="1"/>
          <p:nvPr/>
        </p:nvSpPr>
        <p:spPr>
          <a:xfrm>
            <a:off x="762000" y="2844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7FA3F1-67BC-E9B4-7C70-D5A04FF1458E}"/>
              </a:ext>
            </a:extLst>
          </p:cNvPr>
          <p:cNvSpPr txBox="1"/>
          <p:nvPr/>
        </p:nvSpPr>
        <p:spPr>
          <a:xfrm>
            <a:off x="1270000" y="28575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Отправка работы преподавателю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40C4841-7C59-B31D-EC15-8F6CEC49F385}"/>
              </a:ext>
            </a:extLst>
          </p:cNvPr>
          <p:cNvSpPr/>
          <p:nvPr/>
        </p:nvSpPr>
        <p:spPr>
          <a:xfrm>
            <a:off x="1270000" y="34544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2CBD1C-0D99-0505-E657-5D595EF01DF8}"/>
              </a:ext>
            </a:extLst>
          </p:cNvPr>
          <p:cNvSpPr txBox="1"/>
          <p:nvPr/>
        </p:nvSpPr>
        <p:spPr>
          <a:xfrm>
            <a:off x="762000" y="3632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3BB329-053E-8C73-770C-D5481ED81B71}"/>
              </a:ext>
            </a:extLst>
          </p:cNvPr>
          <p:cNvSpPr txBox="1"/>
          <p:nvPr/>
        </p:nvSpPr>
        <p:spPr>
          <a:xfrm>
            <a:off x="1270000" y="36449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Проверка работы, балл и комментарий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DB78B63-DBFE-0330-8DCD-ACCA014CD1CA}"/>
              </a:ext>
            </a:extLst>
          </p:cNvPr>
          <p:cNvSpPr/>
          <p:nvPr/>
        </p:nvSpPr>
        <p:spPr>
          <a:xfrm>
            <a:off x="1270000" y="42418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F4E23-34F0-E019-BD13-FED379440A59}"/>
              </a:ext>
            </a:extLst>
          </p:cNvPr>
          <p:cNvSpPr txBox="1"/>
          <p:nvPr/>
        </p:nvSpPr>
        <p:spPr>
          <a:xfrm>
            <a:off x="762000" y="4419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300" b="1">
                <a:solidFill>
                  <a:srgbClr val="8FA3BC"/>
                </a:solidFill>
                <a:latin typeface="Times New Roman" panose="02020603050405020304" pitchFamily="18" charset="0"/>
              </a:rPr>
              <a:t>05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722F90-D9CD-63C7-0BA1-382097B0C07D}"/>
              </a:ext>
            </a:extLst>
          </p:cNvPr>
          <p:cNvSpPr txBox="1"/>
          <p:nvPr/>
        </p:nvSpPr>
        <p:spPr>
          <a:xfrm>
            <a:off x="1270000" y="44323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200">
                <a:solidFill>
                  <a:srgbClr val="262626"/>
                </a:solidFill>
                <a:latin typeface="Times New Roman" panose="02020603050405020304" pitchFamily="18" charset="0"/>
              </a:rPr>
              <a:t>Просмотр оценки в личном кабинете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35391B51-67F4-EAA9-CE60-64BB0E5FA6F6}"/>
              </a:ext>
            </a:extLst>
          </p:cNvPr>
          <p:cNvSpPr/>
          <p:nvPr/>
        </p:nvSpPr>
        <p:spPr>
          <a:xfrm>
            <a:off x="1270000" y="5029200"/>
            <a:ext cx="3810000" cy="12700"/>
          </a:xfrm>
          <a:prstGeom prst="rect">
            <a:avLst/>
          </a:prstGeom>
          <a:solidFill>
            <a:srgbClr val="C3CAD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5" name="Демонстрация приложения">
            <a:hlinkClick r:id="" action="ppaction://media"/>
            <a:extLst>
              <a:ext uri="{FF2B5EF4-FFF2-40B4-BE49-F238E27FC236}">
                <a16:creationId xmlns:a16="http://schemas.microsoft.com/office/drawing/2014/main" id="{9AF5BF7D-E4A3-8BB9-D674-763F8E0A006C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61000" y="1270000"/>
            <a:ext cx="5969000" cy="3352800"/>
          </a:xfrm>
          <a:prstGeom prst="rect">
            <a:avLst/>
          </a:prstGeom>
          <a:ln w="12700">
            <a:solidFill>
              <a:srgbClr val="1F3864"/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77D068C-82F0-D84A-A5DC-CCE26B7A2BE9}"/>
              </a:ext>
            </a:extLst>
          </p:cNvPr>
          <p:cNvSpPr txBox="1"/>
          <p:nvPr/>
        </p:nvSpPr>
        <p:spPr>
          <a:xfrm>
            <a:off x="5461000" y="4724400"/>
            <a:ext cx="596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5F6672"/>
                </a:solidFill>
                <a:latin typeface="Times New Roman" panose="02020603050405020304" pitchFamily="18" charset="0"/>
              </a:rPr>
              <a:t>Продолжительность — около 23 секунд</a:t>
            </a:r>
          </a:p>
        </p:txBody>
      </p:sp>
    </p:spTree>
    <p:extLst>
      <p:ext uri="{BB962C8B-B14F-4D97-AF65-F5344CB8AC3E}">
        <p14:creationId xmlns:p14="http://schemas.microsoft.com/office/powerpoint/2010/main" val="3167539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736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0">
                <p:cTn id="7" fill="hold" display="0">
                  <p:stCondLst>
                    <p:cond delay="indefinite"/>
                  </p:stCondLst>
                </p:cTn>
                <p:tgtEl>
                  <p:spTgt spid="2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348F4D2-544F-0872-6625-B9EFB664C7B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38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7E3DAC-53FB-9CF9-ED31-C56E7E187E06}"/>
              </a:ext>
            </a:extLst>
          </p:cNvPr>
          <p:cNvSpPr txBox="1"/>
          <p:nvPr/>
        </p:nvSpPr>
        <p:spPr>
          <a:xfrm>
            <a:off x="762000" y="1905000"/>
            <a:ext cx="787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4000" b="1">
                <a:solidFill>
                  <a:srgbClr val="FFFFFF"/>
                </a:solidFill>
                <a:latin typeface="Times New Roman" panose="02020603050405020304" pitchFamily="18" charset="0"/>
              </a:rPr>
              <a:t>СПАСИБО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FC3D8C-3ECB-A2FC-7BC5-E006F4156DCB}"/>
              </a:ext>
            </a:extLst>
          </p:cNvPr>
          <p:cNvSpPr txBox="1"/>
          <p:nvPr/>
        </p:nvSpPr>
        <p:spPr>
          <a:xfrm>
            <a:off x="762000" y="2641600"/>
            <a:ext cx="787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4000" b="1">
                <a:solidFill>
                  <a:srgbClr val="FFFFFF"/>
                </a:solidFill>
                <a:latin typeface="Times New Roman" panose="02020603050405020304" pitchFamily="18" charset="0"/>
              </a:rPr>
              <a:t>ЗА ВНИМАНИЕ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73188BD-1E10-2B12-64D1-D3846C2F09AC}"/>
              </a:ext>
            </a:extLst>
          </p:cNvPr>
          <p:cNvSpPr/>
          <p:nvPr/>
        </p:nvSpPr>
        <p:spPr>
          <a:xfrm>
            <a:off x="762000" y="3708400"/>
            <a:ext cx="1778000" cy="25400"/>
          </a:xfrm>
          <a:prstGeom prst="rect">
            <a:avLst/>
          </a:prstGeom>
          <a:solidFill>
            <a:srgbClr val="D6DEE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438BB-2B43-5D16-6C05-200B4A6B7483}"/>
              </a:ext>
            </a:extLst>
          </p:cNvPr>
          <p:cNvSpPr txBox="1"/>
          <p:nvPr/>
        </p:nvSpPr>
        <p:spPr>
          <a:xfrm>
            <a:off x="762000" y="39370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600">
                <a:solidFill>
                  <a:srgbClr val="D6DEE8"/>
                </a:solidFill>
                <a:latin typeface="Times New Roman" panose="02020603050405020304" pitchFamily="18" charset="0"/>
              </a:rPr>
              <a:t>Готов ответить на вопросы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4F277-14C4-7E25-022A-9C2F851524E8}"/>
              </a:ext>
            </a:extLst>
          </p:cNvPr>
          <p:cNvSpPr txBox="1"/>
          <p:nvPr/>
        </p:nvSpPr>
        <p:spPr>
          <a:xfrm>
            <a:off x="762000" y="47244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Тема: разработка информационной системы «Учебные курсы» для удалённого обучения школьников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211BEF-8103-1AC0-A945-CCD58166FEC6}"/>
              </a:ext>
            </a:extLst>
          </p:cNvPr>
          <p:cNvSpPr txBox="1"/>
          <p:nvPr/>
        </p:nvSpPr>
        <p:spPr>
          <a:xfrm>
            <a:off x="762000" y="52832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Выполнил: Матулов А. А., группа ИС1-45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565980-57D7-106E-F067-7DF9C0A65DD2}"/>
              </a:ext>
            </a:extLst>
          </p:cNvPr>
          <p:cNvSpPr txBox="1"/>
          <p:nvPr/>
        </p:nvSpPr>
        <p:spPr>
          <a:xfrm>
            <a:off x="762000" y="55626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Руководитель: Васильченко М. О.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74B190-1E6B-4B06-8899-8D36AFD65139}"/>
              </a:ext>
            </a:extLst>
          </p:cNvPr>
          <p:cNvSpPr txBox="1"/>
          <p:nvPr/>
        </p:nvSpPr>
        <p:spPr>
          <a:xfrm>
            <a:off x="762000" y="6019800"/>
            <a:ext cx="406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1050">
                <a:solidFill>
                  <a:srgbClr val="D6DEE8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494DB3FB-975C-3336-F09A-EA5FA30D2BBF}"/>
              </a:ext>
            </a:extLst>
          </p:cNvPr>
          <p:cNvSpPr/>
          <p:nvPr/>
        </p:nvSpPr>
        <p:spPr>
          <a:xfrm>
            <a:off x="8890000" y="4038600"/>
            <a:ext cx="2184400" cy="21844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DFE247A-5DEA-71DD-8265-A25B2D3839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1600" y="4140200"/>
            <a:ext cx="1981200" cy="1981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C19D437-8411-6C22-00F4-DE2DBB165904}"/>
              </a:ext>
            </a:extLst>
          </p:cNvPr>
          <p:cNvSpPr txBox="1"/>
          <p:nvPr/>
        </p:nvSpPr>
        <p:spPr>
          <a:xfrm>
            <a:off x="8382000" y="62992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ru-RU" sz="950">
                <a:solidFill>
                  <a:srgbClr val="FFFFFF"/>
                </a:solidFill>
                <a:latin typeface="Times New Roman" panose="02020603050405020304" pitchFamily="18" charset="0"/>
              </a:rPr>
              <a:t>Исходный код проекта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BC3468-6FE7-737F-71D6-BE06941ABFEF}"/>
              </a:ext>
            </a:extLst>
          </p:cNvPr>
          <p:cNvSpPr txBox="1"/>
          <p:nvPr/>
        </p:nvSpPr>
        <p:spPr>
          <a:xfrm>
            <a:off x="8128000" y="6477000"/>
            <a:ext cx="3708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850">
                <a:solidFill>
                  <a:srgbClr val="D6DEE8"/>
                </a:solidFill>
                <a:latin typeface="Times New Roman" panose="02020603050405020304" pitchFamily="18" charset="0"/>
              </a:rPr>
              <a:t>github.com/CoBa-3325/up03-uchebnye-kursy</a:t>
            </a:r>
            <a:endParaRPr lang="ru-RU" sz="850">
              <a:solidFill>
                <a:srgbClr val="D6DEE8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13200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Office PowerPoint</Application>
  <PresentationFormat>Широкоэкранный</PresentationFormat>
  <Paragraphs>131</Paragraphs>
  <Slides>9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sashahikilrety@gmail.com</dc:creator>
  <cp:lastModifiedBy>sashahikilrety@gmail.com</cp:lastModifiedBy>
  <cp:revision>1</cp:revision>
  <dcterms:created xsi:type="dcterms:W3CDTF">2026-10-27T17:26:53Z</dcterms:created>
  <dcterms:modified xsi:type="dcterms:W3CDTF">2026-10-27T17:26:53Z</dcterms:modified>
</cp:coreProperties>
</file>