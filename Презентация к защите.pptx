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94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20AD67-BF38-7F47-E353-EF888F5A05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451F0A8-B689-1307-3BE3-74C8E22BDA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C47D0E3-7952-D87B-76A4-AB6818FBD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C474A-60D2-4158-8EE8-007BD26A9F4C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A8DFD42-BF88-97FD-7B1E-8F8317908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669996-5B34-297E-EB2C-112316B67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6792AE-14C6-4C82-A727-B7D9829016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0248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425155-ED5A-299F-3EC6-F1B08068F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E2A61C-6576-BE6B-9E4F-43714477BF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1F05E22-3485-53DD-DBB1-2EA0981181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C474A-60D2-4158-8EE8-007BD26A9F4C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0CBCF79-5B9E-8F3C-DEA2-4674B6C64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D4A0D85-63B3-E517-9E6B-C4201CB6E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6792AE-14C6-4C82-A727-B7D9829016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7245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E88FAE-1E78-2A6A-108A-6E5E053A0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CAF612A-46F7-0700-2F25-9647BD091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4B057A0-F9BA-4482-CA15-99820444C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C474A-60D2-4158-8EE8-007BD26A9F4C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BBCF0DC-0012-1E64-776C-B294A3628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287116-DDFC-136B-35DA-720A00122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6792AE-14C6-4C82-A727-B7D9829016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8591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4F1E65-46A0-66A6-9DAD-1D1237A82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ABAD8F6-A6C9-231D-1EB6-BA728F822E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A609802-4DD8-5C18-B370-88055DBE3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99CF898-4D3F-FDD1-095C-418024ECC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C474A-60D2-4158-8EE8-007BD26A9F4C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0677554-9CEC-9FF4-5199-88FCBB544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B5155E1-F613-8BEB-72F4-70C46BCC6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6792AE-14C6-4C82-A727-B7D9829016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2133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18F97E-9334-6B8F-8D3C-05A6F31CEE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64AC063-8F43-2062-60BC-E1944B616E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7FFBD50-C368-FABD-FB29-7E768C324E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B69A39DA-2071-A8E2-2E3F-1CEAE367A9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214D82E-E928-C973-0F8B-8DE952F3E7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4495DF9-2792-3A5A-0A2C-A6499CDA3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C474A-60D2-4158-8EE8-007BD26A9F4C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AA95EB1-867F-4921-B413-DE13FCB11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6F70288-2824-EE76-B534-879762D8B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6792AE-14C6-4C82-A727-B7D9829016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5647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73F0DC-44ED-31EE-F611-DCE1B3D49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AD50043-977D-688F-D84E-14D18F809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C474A-60D2-4158-8EE8-007BD26A9F4C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60226C4-E4EA-86B9-A138-766AD8CF4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F27D979-E847-A575-537D-F76158D7E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6792AE-14C6-4C82-A727-B7D9829016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2171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3B66C7E-8F08-990F-D674-519FB9F7C1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C474A-60D2-4158-8EE8-007BD26A9F4C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BDD5F8A1-8DC2-1755-4D9F-EFB4204ED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8252035-CB6E-E893-CD7F-FED75BA84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6792AE-14C6-4C82-A727-B7D9829016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910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D8F507-CDE9-3BD4-9FAB-B510AD926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DD94F4A-438B-3A7D-467B-4C8548915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3CDD4D3-B8AF-0411-6BC4-CBE2CB5B1D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23E9446-5084-F8DC-5457-0353F230C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C474A-60D2-4158-8EE8-007BD26A9F4C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FF0B145-BEF6-3D1B-8F7C-CDA751002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9758317-1353-6714-F378-A6608CE1E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6792AE-14C6-4C82-A727-B7D9829016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79613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7A972A-46A6-27AF-DE4D-574BCC688E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7D81D93-AC91-F199-5347-26EAD2B9F0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AAEA9D1-7572-1FBA-17AF-CEECE8EE09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B341240-4F85-1599-9A29-90C9DA42F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C474A-60D2-4158-8EE8-007BD26A9F4C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8811EA4-23A9-5CDA-5C2D-06DCB3EA0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709D90F-15FD-0D9A-62ED-25F4FDEF1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6792AE-14C6-4C82-A727-B7D9829016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39459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6A029E-FD69-BD9B-566E-19ED9D15B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6D02DD6-707A-0017-8E27-B5B24CC542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1E01C95-A795-A4CD-7AB4-DBE78076A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C474A-60D2-4158-8EE8-007BD26A9F4C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3D5D4A6-3D1F-AD4F-B094-E029110A4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91FD719-A79E-BED4-7A6E-D37516D227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6792AE-14C6-4C82-A727-B7D9829016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79624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082B7C4-A87B-29DA-E641-91A6D20FFF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8495724-D19D-F9DE-2EB9-41B545C295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77D4DB-C158-95D1-A856-404012355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C474A-60D2-4158-8EE8-007BD26A9F4C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493B322-5367-D01B-3E8C-91075D163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994D7CC-CC39-5F5A-3B00-35BF53D8E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6792AE-14C6-4C82-A727-B7D9829016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42412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4E296BB-370A-C98E-32F7-8FCCA0B3C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797A61E-791E-54F8-F00C-7EEF660A0C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A32DADB-5E15-93E7-E8D2-D9E72884CA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9C474A-60D2-4158-8EE8-007BD26A9F4C}" type="datetimeFigureOut">
              <a:rPr lang="ru-RU" smtClean="0"/>
              <a:t>27.10.2026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30131D7-EC3A-5458-77B5-E28C4507D0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C1C4F20-3FD5-E58E-E17F-198D1DAAD9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6792AE-14C6-4C82-A727-B7D98290161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00598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7B5A855-F216-443A-9D5E-8B7076DB40B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EF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DCCE99-FB6D-62E5-7C54-B99E47BAF8A1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9ADD509-D3E6-CCBC-DC09-5D95EC1A933A}"/>
              </a:ext>
            </a:extLst>
          </p:cNvPr>
          <p:cNvSpPr/>
          <p:nvPr/>
        </p:nvSpPr>
        <p:spPr>
          <a:xfrm>
            <a:off x="0" y="6756400"/>
            <a:ext cx="12192000" cy="1016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CCA060-1D98-6061-374D-652E0FF5472B}"/>
              </a:ext>
            </a:extLst>
          </p:cNvPr>
          <p:cNvSpPr txBox="1"/>
          <p:nvPr/>
        </p:nvSpPr>
        <p:spPr>
          <a:xfrm>
            <a:off x="762000" y="5842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6B6472"/>
                </a:solidFill>
                <a:latin typeface="Times New Roman" panose="02020603050405020304" pitchFamily="18" charset="0"/>
              </a:rPr>
              <a:t>Государственное профессиональное образовательное учреждение Ярославской области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9BEBF2-4DF4-EACD-5A04-BB41CEBF8D2E}"/>
              </a:ext>
            </a:extLst>
          </p:cNvPr>
          <p:cNvSpPr txBox="1"/>
          <p:nvPr/>
        </p:nvSpPr>
        <p:spPr>
          <a:xfrm>
            <a:off x="762000" y="889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b="1">
                <a:solidFill>
                  <a:srgbClr val="2B2233"/>
                </a:solidFill>
                <a:latin typeface="Times New Roman" panose="02020603050405020304" pitchFamily="18" charset="0"/>
              </a:rPr>
              <a:t>«Ярославский градостроительный колледж»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59F9C3-13FA-3DA4-1EA9-A0287F9D1049}"/>
              </a:ext>
            </a:extLst>
          </p:cNvPr>
          <p:cNvSpPr txBox="1"/>
          <p:nvPr/>
        </p:nvSpPr>
        <p:spPr>
          <a:xfrm>
            <a:off x="762000" y="13208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6B6472"/>
                </a:solidFill>
                <a:latin typeface="Times New Roman" panose="02020603050405020304" pitchFamily="18" charset="0"/>
              </a:rPr>
              <a:t>МДК 06.03 «Устройство и функционирование информационной системы»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7F4753-AD06-076C-44FC-A34C0A8A2EB0}"/>
              </a:ext>
            </a:extLst>
          </p:cNvPr>
          <p:cNvSpPr txBox="1"/>
          <p:nvPr/>
        </p:nvSpPr>
        <p:spPr>
          <a:xfrm>
            <a:off x="762000" y="1930400"/>
            <a:ext cx="10668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b="1">
                <a:solidFill>
                  <a:srgbClr val="5B4B6E"/>
                </a:solidFill>
                <a:latin typeface="Times New Roman" panose="02020603050405020304" pitchFamily="18" charset="0"/>
              </a:rPr>
              <a:t>ПРОЕКТНАЯ РАБОТА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611C01-25AC-8206-6763-D3673604C103}"/>
              </a:ext>
            </a:extLst>
          </p:cNvPr>
          <p:cNvSpPr txBox="1"/>
          <p:nvPr/>
        </p:nvSpPr>
        <p:spPr>
          <a:xfrm>
            <a:off x="762000" y="23622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700" b="1">
                <a:solidFill>
                  <a:srgbClr val="2B2233"/>
                </a:solidFill>
                <a:latin typeface="Times New Roman" panose="02020603050405020304" pitchFamily="18" charset="0"/>
              </a:rPr>
              <a:t>Разработка информационной системы «Учебные курсы»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BEA0E7-BCDA-C8BB-919F-4A85E5AA2A43}"/>
              </a:ext>
            </a:extLst>
          </p:cNvPr>
          <p:cNvSpPr txBox="1"/>
          <p:nvPr/>
        </p:nvSpPr>
        <p:spPr>
          <a:xfrm>
            <a:off x="762000" y="2794000"/>
            <a:ext cx="10668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200">
                <a:solidFill>
                  <a:srgbClr val="2B2233"/>
                </a:solidFill>
                <a:latin typeface="Times New Roman" panose="02020603050405020304" pitchFamily="18" charset="0"/>
              </a:rPr>
              <a:t>для удалённого обучения школьников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369984A-80F0-003F-57D1-AC635B185B89}"/>
              </a:ext>
            </a:extLst>
          </p:cNvPr>
          <p:cNvSpPr/>
          <p:nvPr/>
        </p:nvSpPr>
        <p:spPr>
          <a:xfrm>
            <a:off x="762000" y="3581400"/>
            <a:ext cx="10668000" cy="381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C0DD7D-CC61-3E7F-2D06-5372546B1B2A}"/>
              </a:ext>
            </a:extLst>
          </p:cNvPr>
          <p:cNvSpPr txBox="1"/>
          <p:nvPr/>
        </p:nvSpPr>
        <p:spPr>
          <a:xfrm>
            <a:off x="762000" y="39370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6B6472"/>
                </a:solidFill>
                <a:latin typeface="Times New Roman" panose="02020603050405020304" pitchFamily="18" charset="0"/>
              </a:rPr>
              <a:t>Выполнил студент группы ИС1-45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AEA3C6-A6D6-6DF7-C053-81C535CFA400}"/>
              </a:ext>
            </a:extLst>
          </p:cNvPr>
          <p:cNvSpPr txBox="1"/>
          <p:nvPr/>
        </p:nvSpPr>
        <p:spPr>
          <a:xfrm>
            <a:off x="762000" y="4216400"/>
            <a:ext cx="508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200" b="1">
                <a:solidFill>
                  <a:srgbClr val="2B2233"/>
                </a:solidFill>
                <a:latin typeface="Times New Roman" panose="02020603050405020304" pitchFamily="18" charset="0"/>
              </a:rPr>
              <a:t>Матулов А. А.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2322D6-133E-9983-B8DC-C5E8212F7C74}"/>
              </a:ext>
            </a:extLst>
          </p:cNvPr>
          <p:cNvSpPr txBox="1"/>
          <p:nvPr/>
        </p:nvSpPr>
        <p:spPr>
          <a:xfrm>
            <a:off x="6604000" y="39370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6B6472"/>
                </a:solidFill>
                <a:latin typeface="Times New Roman" panose="02020603050405020304" pitchFamily="18" charset="0"/>
              </a:rPr>
              <a:t>Руководитель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9171DC-9BBC-FDE3-A864-1BB05BECBDE2}"/>
              </a:ext>
            </a:extLst>
          </p:cNvPr>
          <p:cNvSpPr txBox="1"/>
          <p:nvPr/>
        </p:nvSpPr>
        <p:spPr>
          <a:xfrm>
            <a:off x="6604000" y="4216400"/>
            <a:ext cx="508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200" b="1">
                <a:solidFill>
                  <a:srgbClr val="2B2233"/>
                </a:solidFill>
                <a:latin typeface="Times New Roman" panose="02020603050405020304" pitchFamily="18" charset="0"/>
              </a:rPr>
              <a:t>Васильченко М. О.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A63BE28-6698-ED7E-EA6C-7FE608F6A9C4}"/>
              </a:ext>
            </a:extLst>
          </p:cNvPr>
          <p:cNvSpPr txBox="1"/>
          <p:nvPr/>
        </p:nvSpPr>
        <p:spPr>
          <a:xfrm>
            <a:off x="762000" y="60452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600">
                <a:solidFill>
                  <a:srgbClr val="6B6472"/>
                </a:solidFill>
                <a:latin typeface="Times New Roman" panose="02020603050405020304" pitchFamily="18" charset="0"/>
              </a:rPr>
              <a:t>Ярославль, 2026</a:t>
            </a:r>
          </a:p>
        </p:txBody>
      </p:sp>
    </p:spTree>
    <p:extLst>
      <p:ext uri="{BB962C8B-B14F-4D97-AF65-F5344CB8AC3E}">
        <p14:creationId xmlns:p14="http://schemas.microsoft.com/office/powerpoint/2010/main" val="23450093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025D756-D09E-FDE4-3394-998240461C0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7DBAFDF-499D-69EA-58F7-BBA9CEA3AF1C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9EACCE-9D02-D4AE-AB32-12BB1B93237C}"/>
              </a:ext>
            </a:extLst>
          </p:cNvPr>
          <p:cNvSpPr txBox="1"/>
          <p:nvPr/>
        </p:nvSpPr>
        <p:spPr>
          <a:xfrm>
            <a:off x="558800" y="2286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800" b="1">
                <a:solidFill>
                  <a:srgbClr val="FFFFFF"/>
                </a:solidFill>
                <a:latin typeface="Times New Roman" panose="02020603050405020304" pitchFamily="18" charset="0"/>
              </a:rPr>
              <a:t>Цель проектной работы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51FF4C-4982-57C1-3611-BCDD7CB6BBD3}"/>
              </a:ext>
            </a:extLst>
          </p:cNvPr>
          <p:cNvSpPr txBox="1"/>
          <p:nvPr/>
        </p:nvSpPr>
        <p:spPr>
          <a:xfrm>
            <a:off x="10617200" y="3048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500">
                <a:solidFill>
                  <a:srgbClr val="C9BBDA"/>
                </a:solidFill>
                <a:latin typeface="Times New Roman" panose="02020603050405020304" pitchFamily="18" charset="0"/>
              </a:rPr>
              <a:t>2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3935DDC-A328-AE3B-11B1-7BC8C0A420B3}"/>
              </a:ext>
            </a:extLst>
          </p:cNvPr>
          <p:cNvSpPr/>
          <p:nvPr/>
        </p:nvSpPr>
        <p:spPr>
          <a:xfrm>
            <a:off x="0" y="965200"/>
            <a:ext cx="121920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7662249E-9EE4-B4DA-C8C3-E8BE86D5FB5D}"/>
              </a:ext>
            </a:extLst>
          </p:cNvPr>
          <p:cNvSpPr/>
          <p:nvPr/>
        </p:nvSpPr>
        <p:spPr>
          <a:xfrm>
            <a:off x="558800" y="1346200"/>
            <a:ext cx="11074400" cy="16256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33CC08-8BB6-4B1E-1B1F-C6D643C33DA6}"/>
              </a:ext>
            </a:extLst>
          </p:cNvPr>
          <p:cNvSpPr txBox="1"/>
          <p:nvPr/>
        </p:nvSpPr>
        <p:spPr>
          <a:xfrm>
            <a:off x="863600" y="1600200"/>
            <a:ext cx="10464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100" b="1">
                <a:solidFill>
                  <a:srgbClr val="2B2233"/>
                </a:solidFill>
                <a:latin typeface="Times New Roman" panose="02020603050405020304" pitchFamily="18" charset="0"/>
              </a:rPr>
              <a:t>Разработка информационной системы, обеспечивающей автоматизацию создания, сопровождения и прохождения учебных курсов для удалённого обучения школьников, а также ведение учёта учащихся, учебных групп, преподавателей, дисциплин и успеваемости.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56904F-0D4A-91C4-7E27-D828E4094619}"/>
              </a:ext>
            </a:extLst>
          </p:cNvPr>
          <p:cNvSpPr txBox="1"/>
          <p:nvPr/>
        </p:nvSpPr>
        <p:spPr>
          <a:xfrm>
            <a:off x="812800" y="3327400"/>
            <a:ext cx="10668000" cy="369332"/>
          </a:xfrm>
          <a:prstGeom prst="rect">
            <a:avLst/>
          </a:prstGeom>
          <a:noFill/>
        </p:spPr>
        <p:txBody>
          <a:bodyPr vert="horz" wrap="square" lIns="0" rIns="0" rtlCol="0">
            <a:noAutofit/>
          </a:bodyPr>
          <a:lstStyle/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900">
                <a:solidFill>
                  <a:srgbClr val="2B2233"/>
                </a:solidFill>
                <a:latin typeface="Times New Roman" panose="02020603050405020304" pitchFamily="18" charset="0"/>
              </a:rPr>
              <a:t>Снижение трудоёмкости подготовки учебных курсов и заданий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900">
                <a:solidFill>
                  <a:srgbClr val="2B2233"/>
                </a:solidFill>
                <a:latin typeface="Times New Roman" panose="02020603050405020304" pitchFamily="18" charset="0"/>
              </a:rPr>
              <a:t>Прозрачный контроль сроков выполнения работ и формирование ведомости успеваемости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900">
                <a:solidFill>
                  <a:srgbClr val="2B2233"/>
                </a:solidFill>
                <a:latin typeface="Times New Roman" panose="02020603050405020304" pitchFamily="18" charset="0"/>
              </a:rPr>
              <a:t>Разграничение прав доступа между администратором, учителем и учеником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900">
                <a:solidFill>
                  <a:srgbClr val="2B2233"/>
                </a:solidFill>
                <a:latin typeface="Times New Roman" panose="02020603050405020304" pitchFamily="18" charset="0"/>
              </a:rPr>
              <a:t>Безопасное хранение учётных данных пользователей</a:t>
            </a:r>
          </a:p>
          <a:p>
            <a:pPr marL="457200" indent="-457200">
              <a:spcAft>
                <a:spcPts val="1000"/>
              </a:spcAft>
              <a:buSzPct val="90000"/>
              <a:buFont typeface="+mj-lt"/>
              <a:buChar char="•"/>
            </a:pPr>
            <a:endParaRPr lang="ru-RU" sz="1900">
              <a:solidFill>
                <a:srgbClr val="2B2233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6344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EFACFBE-7820-E91F-89F7-79F60191A5D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352A56C-1682-811C-448E-986406ADF70D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776B28-89E0-20D4-DBC7-2F3EF27C89B5}"/>
              </a:ext>
            </a:extLst>
          </p:cNvPr>
          <p:cNvSpPr txBox="1"/>
          <p:nvPr/>
        </p:nvSpPr>
        <p:spPr>
          <a:xfrm>
            <a:off x="558800" y="2286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800" b="1">
                <a:solidFill>
                  <a:srgbClr val="FFFFFF"/>
                </a:solidFill>
                <a:latin typeface="Times New Roman" panose="02020603050405020304" pitchFamily="18" charset="0"/>
              </a:rPr>
              <a:t>Задачи проектной работы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D4338-1306-75A3-3909-624BAE840156}"/>
              </a:ext>
            </a:extLst>
          </p:cNvPr>
          <p:cNvSpPr txBox="1"/>
          <p:nvPr/>
        </p:nvSpPr>
        <p:spPr>
          <a:xfrm>
            <a:off x="10617200" y="3048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500">
                <a:solidFill>
                  <a:srgbClr val="C9BBDA"/>
                </a:solidFill>
                <a:latin typeface="Times New Roman" panose="02020603050405020304" pitchFamily="18" charset="0"/>
              </a:rPr>
              <a:t>3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9E373EB-F229-B662-C1F4-E0595FD43DD7}"/>
              </a:ext>
            </a:extLst>
          </p:cNvPr>
          <p:cNvSpPr/>
          <p:nvPr/>
        </p:nvSpPr>
        <p:spPr>
          <a:xfrm>
            <a:off x="0" y="965200"/>
            <a:ext cx="121920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9FC3F9-BE2D-7B49-24D2-7B91A8D659D5}"/>
              </a:ext>
            </a:extLst>
          </p:cNvPr>
          <p:cNvSpPr txBox="1"/>
          <p:nvPr/>
        </p:nvSpPr>
        <p:spPr>
          <a:xfrm>
            <a:off x="914400" y="14224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>
                <a:solidFill>
                  <a:srgbClr val="2B2233"/>
                </a:solidFill>
                <a:latin typeface="Times New Roman" panose="02020603050405020304" pitchFamily="18" charset="0"/>
              </a:rPr>
              <a:t>1. Анализ предметной области и существующих бизнес-процессов</a:t>
            </a:r>
          </a:p>
          <a:p>
            <a:r>
              <a:rPr lang="ru-RU" sz="1700">
                <a:solidFill>
                  <a:srgbClr val="2B2233"/>
                </a:solidFill>
                <a:latin typeface="Times New Roman" panose="02020603050405020304" pitchFamily="18" charset="0"/>
              </a:rPr>
              <a:t>3. Проектирование архитектуры, модели данных и интерфейса системы</a:t>
            </a:r>
          </a:p>
          <a:p>
            <a:r>
              <a:rPr lang="ru-RU" sz="1700">
                <a:solidFill>
                  <a:srgbClr val="2B2233"/>
                </a:solidFill>
                <a:latin typeface="Times New Roman" panose="02020603050405020304" pitchFamily="18" charset="0"/>
              </a:rPr>
              <a:t>5. Обеспечение безопасности информации и разграничения прав доступа</a:t>
            </a:r>
          </a:p>
          <a:p>
            <a:r>
              <a:rPr lang="ru-RU" sz="1700">
                <a:solidFill>
                  <a:srgbClr val="2B2233"/>
                </a:solidFill>
                <a:latin typeface="Times New Roman" panose="02020603050405020304" pitchFamily="18" charset="0"/>
              </a:rPr>
              <a:t>7. Описание аппаратных и программных средств функционирования системы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CCA247-1C08-B566-FBEB-69FEC2002EDA}"/>
              </a:ext>
            </a:extLst>
          </p:cNvPr>
          <p:cNvSpPr txBox="1"/>
          <p:nvPr/>
        </p:nvSpPr>
        <p:spPr>
          <a:xfrm>
            <a:off x="6451600" y="1422400"/>
            <a:ext cx="508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700">
                <a:solidFill>
                  <a:srgbClr val="2B2233"/>
                </a:solidFill>
                <a:latin typeface="Times New Roman" panose="02020603050405020304" pitchFamily="18" charset="0"/>
              </a:rPr>
              <a:t>2. Обзор и анализ существующих аналогов информационных систем</a:t>
            </a:r>
          </a:p>
          <a:p>
            <a:r>
              <a:rPr lang="ru-RU" sz="1700">
                <a:solidFill>
                  <a:srgbClr val="2B2233"/>
                </a:solidFill>
                <a:latin typeface="Times New Roman" panose="02020603050405020304" pitchFamily="18" charset="0"/>
              </a:rPr>
              <a:t>4. Разработка внутренней структуры и программирование приложения</a:t>
            </a:r>
          </a:p>
          <a:p>
            <a:r>
              <a:rPr lang="ru-RU" sz="1700">
                <a:solidFill>
                  <a:srgbClr val="2B2233"/>
                </a:solidFill>
                <a:latin typeface="Times New Roman" panose="02020603050405020304" pitchFamily="18" charset="0"/>
              </a:rPr>
              <a:t>6. Тестирование разработанного программного продукта</a:t>
            </a:r>
          </a:p>
          <a:p>
            <a:r>
              <a:rPr lang="ru-RU" sz="1700">
                <a:solidFill>
                  <a:srgbClr val="2B2233"/>
                </a:solidFill>
                <a:latin typeface="Times New Roman" panose="02020603050405020304" pitchFamily="18" charset="0"/>
              </a:rPr>
              <a:t>8. Составление инструкций для пользователей, преподавателей и администратора</a:t>
            </a:r>
          </a:p>
        </p:txBody>
      </p:sp>
    </p:spTree>
    <p:extLst>
      <p:ext uri="{BB962C8B-B14F-4D97-AF65-F5344CB8AC3E}">
        <p14:creationId xmlns:p14="http://schemas.microsoft.com/office/powerpoint/2010/main" val="10100418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FF3ACC9-D5BE-3B76-F8D8-74FFE58179E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62A1876-D1CF-C150-3160-E16682096343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610407-CE7A-974A-9CD8-126D33620435}"/>
              </a:ext>
            </a:extLst>
          </p:cNvPr>
          <p:cNvSpPr txBox="1"/>
          <p:nvPr/>
        </p:nvSpPr>
        <p:spPr>
          <a:xfrm>
            <a:off x="558800" y="2286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800" b="1">
                <a:solidFill>
                  <a:srgbClr val="FFFFFF"/>
                </a:solidFill>
                <a:latin typeface="Times New Roman" panose="02020603050405020304" pitchFamily="18" charset="0"/>
              </a:rPr>
              <a:t>Аналоги информационных систем дистанционного обучения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33EB3F-9BBE-5158-675E-A9D4BB163BA8}"/>
              </a:ext>
            </a:extLst>
          </p:cNvPr>
          <p:cNvSpPr txBox="1"/>
          <p:nvPr/>
        </p:nvSpPr>
        <p:spPr>
          <a:xfrm>
            <a:off x="10617200" y="3048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500">
                <a:solidFill>
                  <a:srgbClr val="C9BBDA"/>
                </a:solidFill>
                <a:latin typeface="Times New Roman" panose="02020603050405020304" pitchFamily="18" charset="0"/>
              </a:rPr>
              <a:t>4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6410237-D517-E22D-ECF2-2B112F1AD632}"/>
              </a:ext>
            </a:extLst>
          </p:cNvPr>
          <p:cNvSpPr/>
          <p:nvPr/>
        </p:nvSpPr>
        <p:spPr>
          <a:xfrm>
            <a:off x="0" y="965200"/>
            <a:ext cx="121920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9B42AB8C-036F-9F69-7693-C1963347886C}"/>
              </a:ext>
            </a:extLst>
          </p:cNvPr>
          <p:cNvSpPr/>
          <p:nvPr/>
        </p:nvSpPr>
        <p:spPr>
          <a:xfrm>
            <a:off x="558800" y="1270000"/>
            <a:ext cx="2616200" cy="38100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03083C5-29F3-2AB3-F463-463F4309A7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" y="1346200"/>
            <a:ext cx="2463800" cy="2489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7FC697D-085E-C113-385C-47147AF4E46A}"/>
              </a:ext>
            </a:extLst>
          </p:cNvPr>
          <p:cNvSpPr txBox="1"/>
          <p:nvPr/>
        </p:nvSpPr>
        <p:spPr>
          <a:xfrm>
            <a:off x="660400" y="3911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5B4B6E"/>
                </a:solidFill>
                <a:latin typeface="Times New Roman" panose="02020603050405020304" pitchFamily="18" charset="0"/>
              </a:rPr>
              <a:t>Moodle</a:t>
            </a:r>
            <a:endParaRPr lang="ru-RU" sz="16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0BBF54-FED8-E255-E0DB-B7CEFE4D2927}"/>
              </a:ext>
            </a:extLst>
          </p:cNvPr>
          <p:cNvSpPr txBox="1"/>
          <p:nvPr/>
        </p:nvSpPr>
        <p:spPr>
          <a:xfrm>
            <a:off x="660400" y="4241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B2233"/>
                </a:solidFill>
                <a:latin typeface="Times New Roman" panose="02020603050405020304" pitchFamily="18" charset="0"/>
              </a:rPr>
              <a:t>Открытый исходный код, большое сообщество, множество модулей. Сложная настройка.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6060DB9F-28E3-370A-0CD4-E6462C117B29}"/>
              </a:ext>
            </a:extLst>
          </p:cNvPr>
          <p:cNvSpPr/>
          <p:nvPr/>
        </p:nvSpPr>
        <p:spPr>
          <a:xfrm>
            <a:off x="3378200" y="1270000"/>
            <a:ext cx="2616200" cy="38100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C74A58D2-BCB6-A751-E3F2-9A2AAF0878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0" y="1346200"/>
            <a:ext cx="2463800" cy="24892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D0B04A6-463B-9594-8335-1265CA6BC5CB}"/>
              </a:ext>
            </a:extLst>
          </p:cNvPr>
          <p:cNvSpPr txBox="1"/>
          <p:nvPr/>
        </p:nvSpPr>
        <p:spPr>
          <a:xfrm>
            <a:off x="3479800" y="3911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5B4B6E"/>
                </a:solidFill>
                <a:latin typeface="Times New Roman" panose="02020603050405020304" pitchFamily="18" charset="0"/>
              </a:rPr>
              <a:t>Google Classroom</a:t>
            </a:r>
            <a:endParaRPr lang="ru-RU" sz="16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D2A94D-CF3A-3FC6-96D9-D847F5E598C7}"/>
              </a:ext>
            </a:extLst>
          </p:cNvPr>
          <p:cNvSpPr txBox="1"/>
          <p:nvPr/>
        </p:nvSpPr>
        <p:spPr>
          <a:xfrm>
            <a:off x="3479800" y="4241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B2233"/>
                </a:solidFill>
                <a:latin typeface="Times New Roman" panose="02020603050405020304" pitchFamily="18" charset="0"/>
              </a:rPr>
              <a:t>Простота освоения, интеграция с документами. Мало функций и детальных отчётов.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FE6976D-935B-FC60-04C9-3ADBA139DB3A}"/>
              </a:ext>
            </a:extLst>
          </p:cNvPr>
          <p:cNvSpPr/>
          <p:nvPr/>
        </p:nvSpPr>
        <p:spPr>
          <a:xfrm>
            <a:off x="6197600" y="1270000"/>
            <a:ext cx="2616200" cy="38100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669A38B-8DD2-2FFE-7D08-F6646F99E6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3800" y="1346200"/>
            <a:ext cx="2463800" cy="24892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A01EC5C-9C92-3F5D-948C-049B1C63F6C4}"/>
              </a:ext>
            </a:extLst>
          </p:cNvPr>
          <p:cNvSpPr txBox="1"/>
          <p:nvPr/>
        </p:nvSpPr>
        <p:spPr>
          <a:xfrm>
            <a:off x="6299200" y="3911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5B4B6E"/>
                </a:solidFill>
                <a:latin typeface="Times New Roman" panose="02020603050405020304" pitchFamily="18" charset="0"/>
              </a:rPr>
              <a:t>iSpring Learn</a:t>
            </a:r>
            <a:endParaRPr lang="ru-RU" sz="16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F3CE37-F8E4-44DD-4618-D4FAFD82A489}"/>
              </a:ext>
            </a:extLst>
          </p:cNvPr>
          <p:cNvSpPr txBox="1"/>
          <p:nvPr/>
        </p:nvSpPr>
        <p:spPr>
          <a:xfrm>
            <a:off x="6299200" y="4241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B2233"/>
                </a:solidFill>
                <a:latin typeface="Times New Roman" panose="02020603050405020304" pitchFamily="18" charset="0"/>
              </a:rPr>
              <a:t>Современный интерфейс, конструктор курсов, аналитика. Платная, только облако.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A15922F-C407-7B00-83E5-E6C6BD200899}"/>
              </a:ext>
            </a:extLst>
          </p:cNvPr>
          <p:cNvSpPr/>
          <p:nvPr/>
        </p:nvSpPr>
        <p:spPr>
          <a:xfrm>
            <a:off x="9017000" y="1270000"/>
            <a:ext cx="2616200" cy="38100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7DD167BC-759F-7D30-8564-2FC235CF036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3200" y="1346200"/>
            <a:ext cx="2463800" cy="24892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179CC744-6FBD-B8B9-9183-A254B0B5F55C}"/>
              </a:ext>
            </a:extLst>
          </p:cNvPr>
          <p:cNvSpPr txBox="1"/>
          <p:nvPr/>
        </p:nvSpPr>
        <p:spPr>
          <a:xfrm>
            <a:off x="9118600" y="3911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5B4B6E"/>
                </a:solidFill>
                <a:latin typeface="Times New Roman" panose="02020603050405020304" pitchFamily="18" charset="0"/>
              </a:rPr>
              <a:t>LMS «</a:t>
            </a:r>
            <a:r>
              <a:rPr lang="ru-RU" sz="1600" b="1">
                <a:solidFill>
                  <a:srgbClr val="5B4B6E"/>
                </a:solidFill>
                <a:latin typeface="Times New Roman" panose="02020603050405020304" pitchFamily="18" charset="0"/>
              </a:rPr>
              <a:t>АнтиТренинги»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C331249-9AD3-E8F1-19DE-378B995FDEE5}"/>
              </a:ext>
            </a:extLst>
          </p:cNvPr>
          <p:cNvSpPr txBox="1"/>
          <p:nvPr/>
        </p:nvSpPr>
        <p:spPr>
          <a:xfrm>
            <a:off x="9118600" y="4241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>
                <a:solidFill>
                  <a:srgbClr val="2B2233"/>
                </a:solidFill>
                <a:latin typeface="Times New Roman" panose="02020603050405020304" pitchFamily="18" charset="0"/>
              </a:rPr>
              <a:t>Адаптация к российским стандартам, локальное развёртывание. Дорогая лицензия.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6F01BD3-7D73-436F-9B01-620D2C92D5D1}"/>
              </a:ext>
            </a:extLst>
          </p:cNvPr>
          <p:cNvSpPr txBox="1"/>
          <p:nvPr/>
        </p:nvSpPr>
        <p:spPr>
          <a:xfrm>
            <a:off x="558800" y="5384800"/>
            <a:ext cx="1107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6B6472"/>
                </a:solidFill>
                <a:latin typeface="Times New Roman" panose="02020603050405020304" pitchFamily="18" charset="0"/>
              </a:rPr>
              <a:t>Вывод: универсального решения, одновременно простого, функционального и недорогого, на рынке нет — разработана собственная система с загрузкой данных через XML, разделением прав доступа и формированием ведомости успеваемости.</a:t>
            </a:r>
          </a:p>
        </p:txBody>
      </p:sp>
    </p:spTree>
    <p:extLst>
      <p:ext uri="{BB962C8B-B14F-4D97-AF65-F5344CB8AC3E}">
        <p14:creationId xmlns:p14="http://schemas.microsoft.com/office/powerpoint/2010/main" val="41643504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7EC8E9E9-A870-59C9-9455-8B3513A327B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7FD1556-506F-1DE1-0702-7F19BB049934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AD4FB6-1043-BC28-F66E-AFB08CAE868B}"/>
              </a:ext>
            </a:extLst>
          </p:cNvPr>
          <p:cNvSpPr txBox="1"/>
          <p:nvPr/>
        </p:nvSpPr>
        <p:spPr>
          <a:xfrm>
            <a:off x="558800" y="2286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800" b="1">
                <a:solidFill>
                  <a:srgbClr val="FFFFFF"/>
                </a:solidFill>
                <a:latin typeface="Times New Roman" panose="02020603050405020304" pitchFamily="18" charset="0"/>
              </a:rPr>
              <a:t>Схема данных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5E54C6-6194-9279-5F67-2199DBD268E2}"/>
              </a:ext>
            </a:extLst>
          </p:cNvPr>
          <p:cNvSpPr txBox="1"/>
          <p:nvPr/>
        </p:nvSpPr>
        <p:spPr>
          <a:xfrm>
            <a:off x="10617200" y="3048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500">
                <a:solidFill>
                  <a:srgbClr val="C9BBDA"/>
                </a:solidFill>
                <a:latin typeface="Times New Roman" panose="02020603050405020304" pitchFamily="18" charset="0"/>
              </a:rPr>
              <a:t>5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D079604-5B41-1829-8319-5EB9CEC284D0}"/>
              </a:ext>
            </a:extLst>
          </p:cNvPr>
          <p:cNvSpPr/>
          <p:nvPr/>
        </p:nvSpPr>
        <p:spPr>
          <a:xfrm>
            <a:off x="0" y="965200"/>
            <a:ext cx="121920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C350DC1-A499-4CD2-6008-4B10C5D455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800" y="1168400"/>
            <a:ext cx="7467600" cy="545762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6BD10FB-E4F3-DC85-3568-D4BC41280D12}"/>
              </a:ext>
            </a:extLst>
          </p:cNvPr>
          <p:cNvSpPr txBox="1"/>
          <p:nvPr/>
        </p:nvSpPr>
        <p:spPr>
          <a:xfrm>
            <a:off x="8712200" y="1371600"/>
            <a:ext cx="3048000" cy="369332"/>
          </a:xfrm>
          <a:prstGeom prst="rect">
            <a:avLst/>
          </a:prstGeom>
          <a:noFill/>
        </p:spPr>
        <p:txBody>
          <a:bodyPr vert="horz" wrap="square" lIns="0" rIns="0" rtlCol="0">
            <a:noAutofit/>
          </a:bodyPr>
          <a:lstStyle/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400">
                <a:solidFill>
                  <a:srgbClr val="2B2233"/>
                </a:solidFill>
                <a:latin typeface="Times New Roman" panose="02020603050405020304" pitchFamily="18" charset="0"/>
              </a:rPr>
              <a:t>10 связанных таблиц: пользователи, группы, ученики, преподаватели, дисциплины, курсы, задания, записи на курсы, работы и оценки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400">
                <a:solidFill>
                  <a:srgbClr val="2B2233"/>
                </a:solidFill>
                <a:latin typeface="Times New Roman" panose="02020603050405020304" pitchFamily="18" charset="0"/>
              </a:rPr>
              <a:t>Все связи заданы внешними ключами, удаление проверяется на наличие зависимых записей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400">
                <a:solidFill>
                  <a:srgbClr val="2B2233"/>
                </a:solidFill>
                <a:latin typeface="Times New Roman" panose="02020603050405020304" pitchFamily="18" charset="0"/>
              </a:rPr>
              <a:t>Ограничения CHECK на роль пользователя, статус работы, статус записи, номер класса, максимальный и выставленный балл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400">
                <a:solidFill>
                  <a:srgbClr val="2B2233"/>
                </a:solidFill>
                <a:latin typeface="Times New Roman" panose="02020603050405020304" pitchFamily="18" charset="0"/>
              </a:rPr>
              <a:t>Логическое моделирование выполнено для схемы 3-й нормальной формы</a:t>
            </a:r>
          </a:p>
          <a:p>
            <a:pPr marL="342900" indent="-342900">
              <a:spcAft>
                <a:spcPts val="1000"/>
              </a:spcAft>
              <a:buSzPct val="90000"/>
              <a:buFont typeface="+mj-lt"/>
              <a:buChar char="•"/>
            </a:pPr>
            <a:endParaRPr lang="ru-RU" sz="1400">
              <a:solidFill>
                <a:srgbClr val="2B2233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1428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FF6A7B4-F618-65D1-5EFF-426E9A56493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642F0A9-A0D0-97F2-398E-00BD92E9A3BE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6B0773-41FE-ED4F-AFF4-70218DB123F2}"/>
              </a:ext>
            </a:extLst>
          </p:cNvPr>
          <p:cNvSpPr txBox="1"/>
          <p:nvPr/>
        </p:nvSpPr>
        <p:spPr>
          <a:xfrm>
            <a:off x="558800" y="2286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800" b="1">
                <a:solidFill>
                  <a:srgbClr val="FFFFFF"/>
                </a:solidFill>
                <a:latin typeface="Times New Roman" panose="02020603050405020304" pitchFamily="18" charset="0"/>
              </a:rPr>
              <a:t>Виды пользователей и их возможности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F71B28-AAA7-76CB-D502-BCCEF4014525}"/>
              </a:ext>
            </a:extLst>
          </p:cNvPr>
          <p:cNvSpPr txBox="1"/>
          <p:nvPr/>
        </p:nvSpPr>
        <p:spPr>
          <a:xfrm>
            <a:off x="10617200" y="3048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500">
                <a:solidFill>
                  <a:srgbClr val="C9BBDA"/>
                </a:solidFill>
                <a:latin typeface="Times New Roman" panose="02020603050405020304" pitchFamily="18" charset="0"/>
              </a:rPr>
              <a:t>6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D742544-BE93-FE7B-9B58-07EEE4272395}"/>
              </a:ext>
            </a:extLst>
          </p:cNvPr>
          <p:cNvSpPr/>
          <p:nvPr/>
        </p:nvSpPr>
        <p:spPr>
          <a:xfrm>
            <a:off x="0" y="965200"/>
            <a:ext cx="121920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0F1DB994-2D38-144A-7EA6-A880646BB5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7317098"/>
              </p:ext>
            </p:extLst>
          </p:nvPr>
        </p:nvGraphicFramePr>
        <p:xfrm>
          <a:off x="558800" y="1270000"/>
          <a:ext cx="11074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317742578"/>
                    </a:ext>
                  </a:extLst>
                </a:gridCol>
                <a:gridCol w="5969000">
                  <a:extLst>
                    <a:ext uri="{9D8B030D-6E8A-4147-A177-3AD203B41FA5}">
                      <a16:colId xmlns:a16="http://schemas.microsoft.com/office/drawing/2014/main" val="1100241438"/>
                    </a:ext>
                  </a:extLst>
                </a:gridCol>
                <a:gridCol w="2692400">
                  <a:extLst>
                    <a:ext uri="{9D8B030D-6E8A-4147-A177-3AD203B41FA5}">
                      <a16:colId xmlns:a16="http://schemas.microsoft.com/office/drawing/2014/main" val="3018517252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r>
                        <a:rPr lang="ru-RU" sz="15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Роль</a:t>
                      </a:r>
                    </a:p>
                  </a:txBody>
                  <a:tcPr>
                    <a:solidFill>
                      <a:srgbClr val="5B4B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5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Возможности</a:t>
                      </a:r>
                    </a:p>
                  </a:txBody>
                  <a:tcPr>
                    <a:solidFill>
                      <a:srgbClr val="5B4B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500" b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</a:rPr>
                        <a:t>Ограничения</a:t>
                      </a:r>
                    </a:p>
                  </a:txBody>
                  <a:tcPr>
                    <a:solidFill>
                      <a:srgbClr val="5B4B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8095165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r>
                        <a:rPr lang="ru-RU" sz="1200" b="1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Администратор</a:t>
                      </a:r>
                    </a:p>
                  </a:txBody>
                  <a:tcPr>
                    <a:solidFill>
                      <a:srgbClr val="F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Ведение справочников: пользователи, группы, дисциплины, преподаватели, курсы. Блокировка и удаление учётных записей. Импорт данных из XML. Загрузка изображений курсов.</a:t>
                      </a:r>
                    </a:p>
                  </a:txBody>
                  <a:tcPr>
                    <a:solidFill>
                      <a:srgbClr val="F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Полный доступ ко всем функциям системы</a:t>
                      </a:r>
                    </a:p>
                  </a:txBody>
                  <a:tcPr>
                    <a:solidFill>
                      <a:srgbClr val="F3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492830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r>
                        <a:rPr lang="ru-RU" sz="1200" b="1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Учитель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Создание курсов и заданий, назначение сроков сдачи и максимального балла, проверка работ, выставление оценок с комментарием, формирование ведомости успеваемости.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Работа только со своими курсами и работами учеников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2629399"/>
                  </a:ext>
                </a:extLst>
              </a:tr>
              <a:tr h="736600">
                <a:tc>
                  <a:txBody>
                    <a:bodyPr/>
                    <a:lstStyle/>
                    <a:p>
                      <a:r>
                        <a:rPr lang="ru-RU" sz="1200" b="1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Ученик</a:t>
                      </a:r>
                    </a:p>
                  </a:txBody>
                  <a:tcPr>
                    <a:solidFill>
                      <a:srgbClr val="F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Просмотр доступных курсов, запись на курсы, выполнение заданий и отправка работ, просмотр собственных оценок и статуса проверки.</a:t>
                      </a:r>
                    </a:p>
                  </a:txBody>
                  <a:tcPr>
                    <a:solidFill>
                      <a:srgbClr val="F3EF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>
                          <a:solidFill>
                            <a:srgbClr val="2B2233"/>
                          </a:solidFill>
                          <a:latin typeface="Times New Roman" panose="02020603050405020304" pitchFamily="18" charset="0"/>
                        </a:rPr>
                        <a:t>Доступ только к своим данным</a:t>
                      </a:r>
                    </a:p>
                  </a:txBody>
                  <a:tcPr>
                    <a:solidFill>
                      <a:srgbClr val="F3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553501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9B66BE8-ABEC-A571-09ED-5E7DDA9898C7}"/>
              </a:ext>
            </a:extLst>
          </p:cNvPr>
          <p:cNvSpPr txBox="1"/>
          <p:nvPr/>
        </p:nvSpPr>
        <p:spPr>
          <a:xfrm>
            <a:off x="558800" y="4445000"/>
            <a:ext cx="1107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6B6472"/>
                </a:solidFill>
                <a:latin typeface="Times New Roman" panose="02020603050405020304" pitchFamily="18" charset="0"/>
              </a:rPr>
              <a:t>Разграничение доступа реализовано на трёх уровнях: проверка учётных данных и активности записи при входе, определение роли и открытие соответствующего окна, ограничение набора доступных данных.</a:t>
            </a:r>
          </a:p>
        </p:txBody>
      </p:sp>
    </p:spTree>
    <p:extLst>
      <p:ext uri="{BB962C8B-B14F-4D97-AF65-F5344CB8AC3E}">
        <p14:creationId xmlns:p14="http://schemas.microsoft.com/office/powerpoint/2010/main" val="2689891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91B97DE-EF10-6B0B-1CF7-B054333A07A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CBDBD58-6299-FA3A-2940-CCA9D8BBA4D4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9ED6CF-1AE0-885E-B933-EA2BF46C46A7}"/>
              </a:ext>
            </a:extLst>
          </p:cNvPr>
          <p:cNvSpPr txBox="1"/>
          <p:nvPr/>
        </p:nvSpPr>
        <p:spPr>
          <a:xfrm>
            <a:off x="558800" y="2286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800" b="1">
                <a:solidFill>
                  <a:srgbClr val="FFFFFF"/>
                </a:solidFill>
                <a:latin typeface="Times New Roman" panose="02020603050405020304" pitchFamily="18" charset="0"/>
              </a:rPr>
              <a:t>Используемые технологии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3FCDC6-C946-710D-F875-55ADB5D142FD}"/>
              </a:ext>
            </a:extLst>
          </p:cNvPr>
          <p:cNvSpPr txBox="1"/>
          <p:nvPr/>
        </p:nvSpPr>
        <p:spPr>
          <a:xfrm>
            <a:off x="10617200" y="3048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500">
                <a:solidFill>
                  <a:srgbClr val="C9BBDA"/>
                </a:solidFill>
                <a:latin typeface="Times New Roman" panose="02020603050405020304" pitchFamily="18" charset="0"/>
              </a:rPr>
              <a:t>7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E334093-1FF3-12EB-59D5-47768FA09CDB}"/>
              </a:ext>
            </a:extLst>
          </p:cNvPr>
          <p:cNvSpPr/>
          <p:nvPr/>
        </p:nvSpPr>
        <p:spPr>
          <a:xfrm>
            <a:off x="0" y="965200"/>
            <a:ext cx="121920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96DCB64-F462-F8BA-D334-15380C894F7B}"/>
              </a:ext>
            </a:extLst>
          </p:cNvPr>
          <p:cNvSpPr/>
          <p:nvPr/>
        </p:nvSpPr>
        <p:spPr>
          <a:xfrm>
            <a:off x="558800" y="1346200"/>
            <a:ext cx="3492500" cy="18034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2933615-0709-9455-0F42-2317BA932F85}"/>
              </a:ext>
            </a:extLst>
          </p:cNvPr>
          <p:cNvSpPr/>
          <p:nvPr/>
        </p:nvSpPr>
        <p:spPr>
          <a:xfrm>
            <a:off x="558800" y="1346200"/>
            <a:ext cx="34925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26BB4C-D38B-42DA-B9BC-0F30E2679F3B}"/>
              </a:ext>
            </a:extLst>
          </p:cNvPr>
          <p:cNvSpPr txBox="1"/>
          <p:nvPr/>
        </p:nvSpPr>
        <p:spPr>
          <a:xfrm>
            <a:off x="787400" y="1600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5B4B6E"/>
                </a:solidFill>
                <a:latin typeface="Times New Roman" panose="02020603050405020304" pitchFamily="18" charset="0"/>
              </a:rPr>
              <a:t>C#</a:t>
            </a:r>
            <a:endParaRPr lang="ru-RU" sz="20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E18E35-29AD-FCDC-F04C-2C666726B314}"/>
              </a:ext>
            </a:extLst>
          </p:cNvPr>
          <p:cNvSpPr txBox="1"/>
          <p:nvPr/>
        </p:nvSpPr>
        <p:spPr>
          <a:xfrm>
            <a:off x="787400" y="2260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2B2233"/>
                </a:solidFill>
                <a:latin typeface="Times New Roman" panose="02020603050405020304" pitchFamily="18" charset="0"/>
              </a:rPr>
              <a:t>Объектно-ориентированный язык, платформа .NET Framework 4.7.2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3193C5B8-5D0E-96CE-6A28-95673AF2825E}"/>
              </a:ext>
            </a:extLst>
          </p:cNvPr>
          <p:cNvSpPr/>
          <p:nvPr/>
        </p:nvSpPr>
        <p:spPr>
          <a:xfrm>
            <a:off x="4305300" y="1346200"/>
            <a:ext cx="3492500" cy="18034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123C0F40-C7B7-BEB1-572E-236A9032645E}"/>
              </a:ext>
            </a:extLst>
          </p:cNvPr>
          <p:cNvSpPr/>
          <p:nvPr/>
        </p:nvSpPr>
        <p:spPr>
          <a:xfrm>
            <a:off x="4305300" y="1346200"/>
            <a:ext cx="34925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D648EB-B702-31C7-9652-1AFEFB3738D5}"/>
              </a:ext>
            </a:extLst>
          </p:cNvPr>
          <p:cNvSpPr txBox="1"/>
          <p:nvPr/>
        </p:nvSpPr>
        <p:spPr>
          <a:xfrm>
            <a:off x="4533900" y="1600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5B4B6E"/>
                </a:solidFill>
                <a:latin typeface="Times New Roman" panose="02020603050405020304" pitchFamily="18" charset="0"/>
              </a:rPr>
              <a:t>WPF (XAML)</a:t>
            </a:r>
            <a:endParaRPr lang="ru-RU" sz="20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5769B2-8CE1-712F-00D0-98580C00506A}"/>
              </a:ext>
            </a:extLst>
          </p:cNvPr>
          <p:cNvSpPr txBox="1"/>
          <p:nvPr/>
        </p:nvSpPr>
        <p:spPr>
          <a:xfrm>
            <a:off x="4533900" y="2260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2B2233"/>
                </a:solidFill>
                <a:latin typeface="Times New Roman" panose="02020603050405020304" pitchFamily="18" charset="0"/>
              </a:rPr>
              <a:t>Разработка настольного интерфейса Windows, разделение разметки и логики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C3AE1C0F-C9B5-0BA6-EB69-5DE3DE9C4474}"/>
              </a:ext>
            </a:extLst>
          </p:cNvPr>
          <p:cNvSpPr/>
          <p:nvPr/>
        </p:nvSpPr>
        <p:spPr>
          <a:xfrm>
            <a:off x="8051800" y="1346200"/>
            <a:ext cx="3492500" cy="18034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B52E3E1-4B2E-A2FC-B964-EA87CBF80588}"/>
              </a:ext>
            </a:extLst>
          </p:cNvPr>
          <p:cNvSpPr/>
          <p:nvPr/>
        </p:nvSpPr>
        <p:spPr>
          <a:xfrm>
            <a:off x="8051800" y="1346200"/>
            <a:ext cx="34925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26C611-6193-483E-086F-BEF7D76614D9}"/>
              </a:ext>
            </a:extLst>
          </p:cNvPr>
          <p:cNvSpPr txBox="1"/>
          <p:nvPr/>
        </p:nvSpPr>
        <p:spPr>
          <a:xfrm>
            <a:off x="8280400" y="1600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5B4B6E"/>
                </a:solidFill>
                <a:latin typeface="Times New Roman" panose="02020603050405020304" pitchFamily="18" charset="0"/>
              </a:rPr>
              <a:t>ADO.NET</a:t>
            </a:r>
            <a:endParaRPr lang="ru-RU" sz="20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0D44DF3-6850-B075-B052-3A62D11FDC4A}"/>
              </a:ext>
            </a:extLst>
          </p:cNvPr>
          <p:cNvSpPr txBox="1"/>
          <p:nvPr/>
        </p:nvSpPr>
        <p:spPr>
          <a:xfrm>
            <a:off x="8280400" y="2260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2B2233"/>
                </a:solidFill>
                <a:latin typeface="Times New Roman" panose="02020603050405020304" pitchFamily="18" charset="0"/>
              </a:rPr>
              <a:t>Доступ к данным через провайдер System.Data.SqlClient, параметризованные запросы и транзакции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DF0B16E4-EBF0-05B0-BE46-023AA0A7F264}"/>
              </a:ext>
            </a:extLst>
          </p:cNvPr>
          <p:cNvSpPr/>
          <p:nvPr/>
        </p:nvSpPr>
        <p:spPr>
          <a:xfrm>
            <a:off x="558800" y="3378200"/>
            <a:ext cx="3492500" cy="18034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CCA9B20E-236A-8F50-59F7-8F837A8A226C}"/>
              </a:ext>
            </a:extLst>
          </p:cNvPr>
          <p:cNvSpPr/>
          <p:nvPr/>
        </p:nvSpPr>
        <p:spPr>
          <a:xfrm>
            <a:off x="558800" y="3378200"/>
            <a:ext cx="34925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37C134-948A-2AE3-0E9E-D125594A5826}"/>
              </a:ext>
            </a:extLst>
          </p:cNvPr>
          <p:cNvSpPr txBox="1"/>
          <p:nvPr/>
        </p:nvSpPr>
        <p:spPr>
          <a:xfrm>
            <a:off x="787400" y="3632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5B4B6E"/>
                </a:solidFill>
                <a:latin typeface="Times New Roman" panose="02020603050405020304" pitchFamily="18" charset="0"/>
              </a:rPr>
              <a:t>Microsoft SQL Server</a:t>
            </a:r>
            <a:endParaRPr lang="ru-RU" sz="20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788BE18-E500-2937-2673-E07BF99C61FA}"/>
              </a:ext>
            </a:extLst>
          </p:cNvPr>
          <p:cNvSpPr txBox="1"/>
          <p:nvPr/>
        </p:nvSpPr>
        <p:spPr>
          <a:xfrm>
            <a:off x="787400" y="4292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2B2233"/>
                </a:solidFill>
                <a:latin typeface="Times New Roman" panose="02020603050405020304" pitchFamily="18" charset="0"/>
              </a:rPr>
              <a:t>Хранение данных: внешние ключи, ограничения CHECK, транзакции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177928AF-D39C-26FC-2FFD-607538B11F7B}"/>
              </a:ext>
            </a:extLst>
          </p:cNvPr>
          <p:cNvSpPr/>
          <p:nvPr/>
        </p:nvSpPr>
        <p:spPr>
          <a:xfrm>
            <a:off x="4305300" y="3378200"/>
            <a:ext cx="3492500" cy="18034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5F35C-EAD2-3435-1583-F3940198B220}"/>
              </a:ext>
            </a:extLst>
          </p:cNvPr>
          <p:cNvSpPr/>
          <p:nvPr/>
        </p:nvSpPr>
        <p:spPr>
          <a:xfrm>
            <a:off x="4305300" y="3378200"/>
            <a:ext cx="34925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A5E5759-F241-8C24-49D8-35F97CD36966}"/>
              </a:ext>
            </a:extLst>
          </p:cNvPr>
          <p:cNvSpPr txBox="1"/>
          <p:nvPr/>
        </p:nvSpPr>
        <p:spPr>
          <a:xfrm>
            <a:off x="4533900" y="3632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5B4B6E"/>
                </a:solidFill>
                <a:latin typeface="Times New Roman" panose="02020603050405020304" pitchFamily="18" charset="0"/>
              </a:rPr>
              <a:t>Microsoft Visual Studio 2019</a:t>
            </a:r>
            <a:endParaRPr lang="ru-RU" sz="16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705C8A-62B5-1047-C965-EB6671057C8D}"/>
              </a:ext>
            </a:extLst>
          </p:cNvPr>
          <p:cNvSpPr txBox="1"/>
          <p:nvPr/>
        </p:nvSpPr>
        <p:spPr>
          <a:xfrm>
            <a:off x="4533900" y="4292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2B2233"/>
                </a:solidFill>
                <a:latin typeface="Times New Roman" panose="02020603050405020304" pitchFamily="18" charset="0"/>
              </a:rPr>
              <a:t>Среда разработки и сопровождения программного продукта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B9B9D5B-8D88-EFB2-5775-7FBE2E2CA447}"/>
              </a:ext>
            </a:extLst>
          </p:cNvPr>
          <p:cNvSpPr/>
          <p:nvPr/>
        </p:nvSpPr>
        <p:spPr>
          <a:xfrm>
            <a:off x="8051800" y="3378200"/>
            <a:ext cx="3492500" cy="1803400"/>
          </a:xfrm>
          <a:prstGeom prst="rect">
            <a:avLst/>
          </a:prstGeom>
          <a:solidFill>
            <a:srgbClr val="EDE8F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CCDBD172-2149-4951-08AD-2A1D0F8D1750}"/>
              </a:ext>
            </a:extLst>
          </p:cNvPr>
          <p:cNvSpPr/>
          <p:nvPr/>
        </p:nvSpPr>
        <p:spPr>
          <a:xfrm>
            <a:off x="8051800" y="3378200"/>
            <a:ext cx="34925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D722E3-C260-B234-6D9B-B037A30F8157}"/>
              </a:ext>
            </a:extLst>
          </p:cNvPr>
          <p:cNvSpPr txBox="1"/>
          <p:nvPr/>
        </p:nvSpPr>
        <p:spPr>
          <a:xfrm>
            <a:off x="8280400" y="3632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5B4B6E"/>
                </a:solidFill>
                <a:latin typeface="Times New Roman" panose="02020603050405020304" pitchFamily="18" charset="0"/>
              </a:rPr>
              <a:t>PBKDF2-HMAC-SHA256</a:t>
            </a:r>
            <a:endParaRPr lang="ru-RU" sz="2000" b="1">
              <a:solidFill>
                <a:srgbClr val="5B4B6E"/>
              </a:solidFill>
              <a:latin typeface="Times New Roman" panose="02020603050405020304" pitchFamily="18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0217B3-4B35-0E05-6D65-52DEAC396084}"/>
              </a:ext>
            </a:extLst>
          </p:cNvPr>
          <p:cNvSpPr txBox="1"/>
          <p:nvPr/>
        </p:nvSpPr>
        <p:spPr>
          <a:xfrm>
            <a:off x="8280400" y="42926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300">
                <a:solidFill>
                  <a:srgbClr val="2B2233"/>
                </a:solidFill>
                <a:latin typeface="Times New Roman" panose="02020603050405020304" pitchFamily="18" charset="0"/>
              </a:rPr>
              <a:t>Хеширование паролей с индивидуальной солью, 100 000 итераций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2E2381B-4A96-40BC-B6E3-E3626A661F79}"/>
              </a:ext>
            </a:extLst>
          </p:cNvPr>
          <p:cNvSpPr txBox="1"/>
          <p:nvPr/>
        </p:nvSpPr>
        <p:spPr>
          <a:xfrm>
            <a:off x="558800" y="5486400"/>
            <a:ext cx="11074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500">
                <a:solidFill>
                  <a:srgbClr val="6B6472"/>
                </a:solidFill>
                <a:latin typeface="Times New Roman" panose="02020603050405020304" pitchFamily="18" charset="0"/>
              </a:rPr>
              <a:t>Архитектура приложения — трёхуровневая: уровень представления (окна WPF), уровень логики (обработчики событий), уровень данных (компоненты доступа к СУБД).</a:t>
            </a:r>
          </a:p>
        </p:txBody>
      </p:sp>
    </p:spTree>
    <p:extLst>
      <p:ext uri="{BB962C8B-B14F-4D97-AF65-F5344CB8AC3E}">
        <p14:creationId xmlns:p14="http://schemas.microsoft.com/office/powerpoint/2010/main" val="22355465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84653FB-08AC-D68D-2A1D-F18E6C91359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690472-A1C6-A8ED-2C6F-73614547E90E}"/>
              </a:ext>
            </a:extLst>
          </p:cNvPr>
          <p:cNvSpPr/>
          <p:nvPr/>
        </p:nvSpPr>
        <p:spPr>
          <a:xfrm>
            <a:off x="0" y="0"/>
            <a:ext cx="12192000" cy="9652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10CB32-E0B7-C920-76B8-A8BA9E41829F}"/>
              </a:ext>
            </a:extLst>
          </p:cNvPr>
          <p:cNvSpPr txBox="1"/>
          <p:nvPr/>
        </p:nvSpPr>
        <p:spPr>
          <a:xfrm>
            <a:off x="558800" y="2286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800" b="1">
                <a:solidFill>
                  <a:srgbClr val="FFFFFF"/>
                </a:solidFill>
                <a:latin typeface="Times New Roman" panose="02020603050405020304" pitchFamily="18" charset="0"/>
              </a:rPr>
              <a:t>Видео приложения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C9BBBD-89C2-B770-8B3A-B45EAC541C63}"/>
              </a:ext>
            </a:extLst>
          </p:cNvPr>
          <p:cNvSpPr txBox="1"/>
          <p:nvPr/>
        </p:nvSpPr>
        <p:spPr>
          <a:xfrm>
            <a:off x="10617200" y="304800"/>
            <a:ext cx="104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500">
                <a:solidFill>
                  <a:srgbClr val="C9BBDA"/>
                </a:solidFill>
                <a:latin typeface="Times New Roman" panose="02020603050405020304" pitchFamily="18" charset="0"/>
              </a:rPr>
              <a:t>8 / 9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061D382-1117-ABE7-14CA-55C406E65B53}"/>
              </a:ext>
            </a:extLst>
          </p:cNvPr>
          <p:cNvSpPr/>
          <p:nvPr/>
        </p:nvSpPr>
        <p:spPr>
          <a:xfrm>
            <a:off x="0" y="965200"/>
            <a:ext cx="12192000" cy="762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" name="Демонстрация приложения">
            <a:hlinkClick r:id="" action="ppaction://media"/>
            <a:extLst>
              <a:ext uri="{FF2B5EF4-FFF2-40B4-BE49-F238E27FC236}">
                <a16:creationId xmlns:a16="http://schemas.microsoft.com/office/drawing/2014/main" id="{28066A33-07CB-3959-36E0-93DE103D39FD}"/>
              </a:ext>
            </a:extLst>
          </p:cNvPr>
          <p:cNvPicPr>
            <a:picLocks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58800" y="1676400"/>
            <a:ext cx="7112000" cy="4000500"/>
          </a:xfrm>
          <a:prstGeom prst="rect">
            <a:avLst/>
          </a:prstGeom>
          <a:ln w="19050">
            <a:solidFill>
              <a:srgbClr val="5B4B6E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55F921-C462-4299-C059-6124DB2B7B2C}"/>
              </a:ext>
            </a:extLst>
          </p:cNvPr>
          <p:cNvSpPr txBox="1"/>
          <p:nvPr/>
        </p:nvSpPr>
        <p:spPr>
          <a:xfrm>
            <a:off x="558800" y="58166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6B6472"/>
                </a:solidFill>
                <a:latin typeface="Times New Roman" panose="02020603050405020304" pitchFamily="18" charset="0"/>
              </a:rPr>
              <a:t>Демонстрация занимает около 25 секунд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BF58C3-7CEB-4B86-2F7D-BAB82C5D9E86}"/>
              </a:ext>
            </a:extLst>
          </p:cNvPr>
          <p:cNvSpPr txBox="1"/>
          <p:nvPr/>
        </p:nvSpPr>
        <p:spPr>
          <a:xfrm>
            <a:off x="8001000" y="1727200"/>
            <a:ext cx="3632200" cy="369332"/>
          </a:xfrm>
          <a:prstGeom prst="rect">
            <a:avLst/>
          </a:prstGeom>
          <a:noFill/>
        </p:spPr>
        <p:txBody>
          <a:bodyPr vert="horz" wrap="square" lIns="0" rIns="0" rtlCol="0">
            <a:noAutofit/>
          </a:bodyPr>
          <a:lstStyle/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500">
                <a:solidFill>
                  <a:srgbClr val="2B2233"/>
                </a:solidFill>
                <a:latin typeface="Times New Roman" panose="02020603050405020304" pitchFamily="18" charset="0"/>
              </a:rPr>
              <a:t>Вход в систему под учётной записью ученика student1 (пароль 12345)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500">
                <a:solidFill>
                  <a:srgbClr val="2B2233"/>
                </a:solidFill>
                <a:latin typeface="Times New Roman" panose="02020603050405020304" pitchFamily="18" charset="0"/>
              </a:rPr>
              <a:t>Запись на курс, просмотр заданий, отправка работы преподавателю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500">
                <a:solidFill>
                  <a:srgbClr val="2B2233"/>
                </a:solidFill>
                <a:latin typeface="Times New Roman" panose="02020603050405020304" pitchFamily="18" charset="0"/>
              </a:rPr>
              <a:t>Проверка работы учителем, выставление балла и комментария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500">
                <a:solidFill>
                  <a:srgbClr val="2B2233"/>
                </a:solidFill>
                <a:latin typeface="Times New Roman" panose="02020603050405020304" pitchFamily="18" charset="0"/>
              </a:rPr>
              <a:t>Формирование ведомости успеваемости по курсу</a:t>
            </a:r>
          </a:p>
          <a:p>
            <a:pPr indent="330200">
              <a:spcAft>
                <a:spcPts val="1000"/>
              </a:spcAft>
              <a:buSzPct val="90000"/>
              <a:buFont typeface="+mj-lt"/>
              <a:buChar char="•"/>
            </a:pPr>
            <a:r>
              <a:rPr lang="ru-RU" sz="1500">
                <a:solidFill>
                  <a:srgbClr val="2B2233"/>
                </a:solidFill>
                <a:latin typeface="Times New Roman" panose="02020603050405020304" pitchFamily="18" charset="0"/>
              </a:rPr>
              <a:t>Просмотр полученной оценки в личном кабинете ученика</a:t>
            </a:r>
          </a:p>
          <a:p>
            <a:pPr marL="342900" indent="-342900">
              <a:spcAft>
                <a:spcPts val="1000"/>
              </a:spcAft>
              <a:buSzPct val="90000"/>
              <a:buFont typeface="+mj-lt"/>
              <a:buChar char="•"/>
            </a:pPr>
            <a:endParaRPr lang="ru-RU" sz="1500">
              <a:solidFill>
                <a:srgbClr val="2B2233"/>
              </a:solidFill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454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4123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showWhenStopped="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4B581C2-A3F7-4C04-53D3-8B4EC44B797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EF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8A70D2-4CA7-D8B1-7773-8BFCE3857996}"/>
              </a:ext>
            </a:extLst>
          </p:cNvPr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5B4B6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F95CDB-8F25-4779-1506-B31AF6AAC370}"/>
              </a:ext>
            </a:extLst>
          </p:cNvPr>
          <p:cNvSpPr txBox="1"/>
          <p:nvPr/>
        </p:nvSpPr>
        <p:spPr>
          <a:xfrm>
            <a:off x="762000" y="22352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600" b="1">
                <a:solidFill>
                  <a:srgbClr val="5B4B6E"/>
                </a:solidFill>
                <a:latin typeface="Times New Roman" panose="02020603050405020304" pitchFamily="18" charset="0"/>
              </a:rPr>
              <a:t>СПАСИБО ЗА ВНИМАНИЕ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B5E43CB9-9C88-8756-A1D5-7B8D10BE33EA}"/>
              </a:ext>
            </a:extLst>
          </p:cNvPr>
          <p:cNvSpPr/>
          <p:nvPr/>
        </p:nvSpPr>
        <p:spPr>
          <a:xfrm>
            <a:off x="762000" y="3048000"/>
            <a:ext cx="2540000" cy="50800"/>
          </a:xfrm>
          <a:prstGeom prst="rect">
            <a:avLst/>
          </a:prstGeom>
          <a:solidFill>
            <a:srgbClr val="7C907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F62E3F-7906-4A69-3325-0A9FE0D5BF81}"/>
              </a:ext>
            </a:extLst>
          </p:cNvPr>
          <p:cNvSpPr txBox="1"/>
          <p:nvPr/>
        </p:nvSpPr>
        <p:spPr>
          <a:xfrm>
            <a:off x="762000" y="33274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900">
                <a:solidFill>
                  <a:srgbClr val="2B2233"/>
                </a:solidFill>
                <a:latin typeface="Times New Roman" panose="02020603050405020304" pitchFamily="18" charset="0"/>
              </a:rPr>
              <a:t>Готов ответить на вопросы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7FC511-8701-9B3B-4D82-1D9563E6DD8E}"/>
              </a:ext>
            </a:extLst>
          </p:cNvPr>
          <p:cNvSpPr txBox="1"/>
          <p:nvPr/>
        </p:nvSpPr>
        <p:spPr>
          <a:xfrm>
            <a:off x="762000" y="41910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6B6472"/>
                </a:solidFill>
                <a:latin typeface="Times New Roman" panose="02020603050405020304" pitchFamily="18" charset="0"/>
              </a:rPr>
              <a:t>Тема: Разработка информационной системы «Учебные курсы» для удалённого обучения школьников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9AB1C-AA61-B9B1-C785-8AAC193A5BB5}"/>
              </a:ext>
            </a:extLst>
          </p:cNvPr>
          <p:cNvSpPr txBox="1"/>
          <p:nvPr/>
        </p:nvSpPr>
        <p:spPr>
          <a:xfrm>
            <a:off x="762000" y="45466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6B6472"/>
                </a:solidFill>
                <a:latin typeface="Times New Roman" panose="02020603050405020304" pitchFamily="18" charset="0"/>
              </a:rPr>
              <a:t>Выполнил: Матулов А. А., группа ИС1-45        Руководитель: Васильченко М. О.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D1FE78-C601-BE83-153D-5C17C7E0F865}"/>
              </a:ext>
            </a:extLst>
          </p:cNvPr>
          <p:cNvSpPr txBox="1"/>
          <p:nvPr/>
        </p:nvSpPr>
        <p:spPr>
          <a:xfrm>
            <a:off x="762000" y="5740400"/>
            <a:ext cx="1066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400">
                <a:solidFill>
                  <a:srgbClr val="6B6472"/>
                </a:solidFill>
                <a:latin typeface="Times New Roman" panose="02020603050405020304" pitchFamily="18" charset="0"/>
              </a:rPr>
              <a:t>Ярославль, 2026</a:t>
            </a:r>
          </a:p>
        </p:txBody>
      </p:sp>
    </p:spTree>
    <p:extLst>
      <p:ext uri="{BB962C8B-B14F-4D97-AF65-F5344CB8AC3E}">
        <p14:creationId xmlns:p14="http://schemas.microsoft.com/office/powerpoint/2010/main" val="201679437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693</Words>
  <Application>Microsoft Office PowerPoint</Application>
  <PresentationFormat>Широкоэкранный</PresentationFormat>
  <Paragraphs>88</Paragraphs>
  <Slides>9</Slides>
  <Notes>0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sashahikilrety@gmail.com</dc:creator>
  <cp:lastModifiedBy>sashahikilrety@gmail.com</cp:lastModifiedBy>
  <cp:revision>1</cp:revision>
  <dcterms:created xsi:type="dcterms:W3CDTF">2026-10-27T16:05:32Z</dcterms:created>
  <dcterms:modified xsi:type="dcterms:W3CDTF">2026-10-27T16:05:32Z</dcterms:modified>
</cp:coreProperties>
</file>